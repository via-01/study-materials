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368" autoAdjust="0"/>
    <p:restoredTop sz="95016" autoAdjust="0"/>
  </p:normalViewPr>
  <p:slideViewPr>
    <p:cSldViewPr>
      <p:cViewPr>
        <p:scale>
          <a:sx n="200" d="100"/>
          <a:sy n="200" d="100"/>
        </p:scale>
        <p:origin x="-2070" y="-1135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75803" y="1777676"/>
            <a:ext cx="11392664" cy="1583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latin typeface="DejaVu Sans"/>
                <a:cs typeface="DejaVu Sans"/>
              </a:rPr>
              <a:t>Data </a:t>
            </a:r>
            <a:r>
              <a:rPr sz="5050" b="1" spc="-135" dirty="0">
                <a:latin typeface="DejaVu Sans"/>
                <a:cs typeface="DejaVu Sans"/>
              </a:rPr>
              <a:t>Table</a:t>
            </a:r>
            <a:r>
              <a:rPr sz="5050" b="1" spc="124" dirty="0">
                <a:latin typeface="DejaVu Sans"/>
                <a:cs typeface="DejaVu Sans"/>
              </a:rPr>
              <a:t> </a:t>
            </a:r>
            <a:r>
              <a:rPr sz="5050" b="1" dirty="0">
                <a:latin typeface="DejaVu Sans"/>
                <a:cs typeface="DejaVu Sans"/>
              </a:rPr>
              <a:t>&amp;</a:t>
            </a:r>
            <a:r>
              <a:rPr sz="5050" b="1" spc="-12" dirty="0">
                <a:latin typeface="DejaVu Sans"/>
                <a:cs typeface="DejaVu Sans"/>
              </a:rPr>
              <a:t> </a:t>
            </a:r>
            <a:r>
              <a:rPr sz="5050" b="1" dirty="0">
                <a:latin typeface="DejaVu Sans"/>
                <a:cs typeface="DejaVu Sans"/>
              </a:rPr>
              <a:t>File Operations in</a:t>
            </a:r>
          </a:p>
          <a:p>
            <a:pPr marL="3617416" marR="0">
              <a:lnSpc>
                <a:spcPts val="5866"/>
              </a:lnSpc>
              <a:spcBef>
                <a:spcPts val="433"/>
              </a:spcBef>
              <a:spcAft>
                <a:spcPts val="0"/>
              </a:spcAft>
            </a:pPr>
            <a:r>
              <a:rPr sz="5050" b="1" spc="-28" dirty="0">
                <a:latin typeface="DejaVu Sans"/>
                <a:cs typeface="DejaVu Sans"/>
              </a:rPr>
              <a:t>U</a:t>
            </a:r>
            <a:r>
              <a:rPr lang="en-IN" sz="5050" b="1" spc="-28" dirty="0">
                <a:latin typeface="DejaVu Sans"/>
                <a:cs typeface="DejaVu Sans"/>
              </a:rPr>
              <a:t>I</a:t>
            </a:r>
            <a:r>
              <a:rPr sz="5050" b="1" spc="-28" dirty="0">
                <a:latin typeface="DejaVu Sans"/>
                <a:cs typeface="DejaVu Sans"/>
              </a:rPr>
              <a:t>Path</a:t>
            </a:r>
            <a:r>
              <a:rPr sz="5050" b="1" spc="17" dirty="0">
                <a:latin typeface="DejaVu Sans"/>
                <a:cs typeface="DejaVu Sans"/>
              </a:rPr>
              <a:t> </a:t>
            </a:r>
            <a:r>
              <a:rPr sz="5050" b="1" spc="-160" dirty="0">
                <a:latin typeface="DejaVu Sans"/>
                <a:cs typeface="DejaVu Sans"/>
              </a:rPr>
              <a:t>RPA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0999" y="346716"/>
            <a:ext cx="6069384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2" dirty="0">
                <a:latin typeface="DejaVu Sans"/>
                <a:cs typeface="DejaVu Sans"/>
              </a:rPr>
              <a:t>Introduction</a:t>
            </a:r>
            <a:r>
              <a:rPr sz="3000" b="1" spc="10" dirty="0">
                <a:latin typeface="DejaVu Sans"/>
                <a:cs typeface="DejaVu Sans"/>
              </a:rPr>
              <a:t> to</a:t>
            </a:r>
            <a:r>
              <a:rPr sz="3000" b="1" spc="12" dirty="0">
                <a:latin typeface="DejaVu Sans"/>
                <a:cs typeface="DejaVu Sans"/>
              </a:rPr>
              <a:t> </a:t>
            </a:r>
            <a:r>
              <a:rPr sz="3000" b="1" spc="15" dirty="0">
                <a:latin typeface="DejaVu Sans"/>
                <a:cs typeface="DejaVu Sans"/>
              </a:rPr>
              <a:t>Data</a:t>
            </a:r>
            <a:r>
              <a:rPr sz="3000" b="1" dirty="0">
                <a:latin typeface="DejaVu Sans"/>
                <a:cs typeface="DejaVu Sans"/>
              </a:rPr>
              <a:t> </a:t>
            </a:r>
            <a:r>
              <a:rPr sz="3000" b="1" spc="-52" dirty="0">
                <a:latin typeface="DejaVu Sans"/>
                <a:cs typeface="DejaVu Sans"/>
              </a:rPr>
              <a:t>Tables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1053919"/>
            <a:ext cx="4046651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5" dirty="0">
                <a:latin typeface="DejaVu Sans"/>
                <a:cs typeface="DejaVu Sans"/>
              </a:rPr>
              <a:t>What</a:t>
            </a:r>
            <a:r>
              <a:rPr sz="2500" b="1" dirty="0">
                <a:latin typeface="DejaVu Sans"/>
                <a:cs typeface="DejaVu Sans"/>
              </a:rPr>
              <a:t> is</a:t>
            </a:r>
            <a:r>
              <a:rPr sz="2500" b="1" spc="10" dirty="0">
                <a:latin typeface="DejaVu Sans"/>
                <a:cs typeface="DejaVu Sans"/>
              </a:rPr>
              <a:t> </a:t>
            </a:r>
            <a:r>
              <a:rPr sz="2500" b="1" dirty="0">
                <a:latin typeface="DejaVu Sans"/>
                <a:cs typeface="DejaVu Sans"/>
              </a:rPr>
              <a:t>a</a:t>
            </a:r>
            <a:r>
              <a:rPr sz="2500" b="1" spc="18" dirty="0">
                <a:latin typeface="DejaVu Sans"/>
                <a:cs typeface="DejaVu Sans"/>
              </a:rPr>
              <a:t> </a:t>
            </a:r>
            <a:r>
              <a:rPr sz="2500" b="1" spc="11" dirty="0">
                <a:latin typeface="DejaVu Sans"/>
                <a:cs typeface="DejaVu Sans"/>
              </a:rPr>
              <a:t>Data</a:t>
            </a:r>
            <a:r>
              <a:rPr sz="2500" b="1" dirty="0">
                <a:latin typeface="DejaVu Sans"/>
                <a:cs typeface="DejaVu Sans"/>
              </a:rPr>
              <a:t> </a:t>
            </a:r>
            <a:r>
              <a:rPr sz="2500" b="1" spc="-44" dirty="0">
                <a:latin typeface="DejaVu Sans"/>
                <a:cs typeface="DejaVu Sans"/>
              </a:rPr>
              <a:t>Table?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0999" y="1591757"/>
            <a:ext cx="6067033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8663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A</a:t>
            </a:r>
            <a:r>
              <a:rPr sz="1500" spc="11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Data </a:t>
            </a:r>
            <a:r>
              <a:rPr sz="1500" spc="-44" dirty="0">
                <a:latin typeface="DejaVu Sans"/>
                <a:cs typeface="DejaVu Sans"/>
              </a:rPr>
              <a:t>Table</a:t>
            </a:r>
            <a:r>
              <a:rPr sz="1500" spc="56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in </a:t>
            </a:r>
            <a:r>
              <a:rPr sz="1500" spc="-23" dirty="0">
                <a:latin typeface="DejaVu Sans"/>
                <a:cs typeface="DejaVu Sans"/>
              </a:rPr>
              <a:t>RPA,</a:t>
            </a:r>
            <a:r>
              <a:rPr sz="1500" spc="31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particularly in UiPath,</a:t>
            </a:r>
            <a:r>
              <a:rPr sz="1500" spc="11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is a</a:t>
            </a:r>
            <a:r>
              <a:rPr sz="1500" spc="10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powerful in-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memory representation</a:t>
            </a:r>
            <a:r>
              <a:rPr sz="1500" spc="10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of structured data.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9663" y="2277557"/>
            <a:ext cx="550278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It organizes information in a</a:t>
            </a:r>
            <a:r>
              <a:rPr sz="1500" spc="10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tabular format, similar to 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0999" y="2572832"/>
            <a:ext cx="6140137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spreadsheet or database table, comprising rows</a:t>
            </a:r>
            <a:r>
              <a:rPr sz="1500" spc="14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and columns.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377558" y="2608669"/>
            <a:ext cx="3258376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latin typeface="DejaVu Sans"/>
                <a:cs typeface="DejaVu Sans"/>
              </a:rPr>
              <a:t>Key</a:t>
            </a:r>
            <a:r>
              <a:rPr sz="2000" b="1" spc="21" dirty="0">
                <a:latin typeface="DejaVu Sans"/>
                <a:cs typeface="DejaVu Sans"/>
              </a:rPr>
              <a:t> </a:t>
            </a:r>
            <a:r>
              <a:rPr sz="2000" b="1" dirty="0">
                <a:latin typeface="DejaVu Sans"/>
                <a:cs typeface="DejaVu Sans"/>
              </a:rPr>
              <a:t>Characteristics &amp;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spc="10" dirty="0">
                <a:latin typeface="DejaVu Sans"/>
                <a:cs typeface="DejaVu Sans"/>
              </a:rPr>
              <a:t>Components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80999" y="2963357"/>
            <a:ext cx="6593050" cy="8521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8663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This structure allows for the eﬃcient storage, manipulation, and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processing of data sets within automation workﬂows without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keeping</a:t>
            </a:r>
            <a:r>
              <a:rPr sz="1500" spc="14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source</a:t>
            </a:r>
            <a:r>
              <a:rPr sz="1500" spc="10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ﬁles (like</a:t>
            </a:r>
            <a:r>
              <a:rPr sz="1500" spc="20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Excel) open.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633542" y="3699046"/>
            <a:ext cx="1754941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latin typeface="DejaVu Sans"/>
                <a:cs typeface="DejaVu Sans"/>
              </a:rPr>
              <a:t>STRUCTURED FORMAT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935467" y="3699046"/>
            <a:ext cx="16871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latin typeface="DejaVu Sans"/>
                <a:cs typeface="DejaVu Sans"/>
              </a:rPr>
              <a:t>DYNAMIC</a:t>
            </a:r>
            <a:r>
              <a:rPr sz="1000" b="1" spc="15" dirty="0">
                <a:latin typeface="DejaVu Sans"/>
                <a:cs typeface="DejaVu Sans"/>
              </a:rPr>
              <a:t> </a:t>
            </a:r>
            <a:r>
              <a:rPr sz="1000" b="1" dirty="0">
                <a:latin typeface="DejaVu Sans"/>
                <a:cs typeface="DejaVu Sans"/>
              </a:rPr>
              <a:t>&amp;</a:t>
            </a:r>
            <a:r>
              <a:rPr sz="1000" b="1" spc="10" dirty="0">
                <a:latin typeface="DejaVu Sans"/>
                <a:cs typeface="DejaVu Sans"/>
              </a:rPr>
              <a:t> </a:t>
            </a:r>
            <a:r>
              <a:rPr sz="1000" b="1" dirty="0">
                <a:latin typeface="DejaVu Sans"/>
                <a:cs typeface="DejaVu Sans"/>
              </a:rPr>
              <a:t>FLEXIBLE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505550" y="4012617"/>
            <a:ext cx="1919158" cy="1059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latin typeface="DejaVu Sans"/>
                <a:cs typeface="DejaVu Sans"/>
              </a:rPr>
              <a:t>Data</a:t>
            </a:r>
            <a:r>
              <a:rPr sz="1200" dirty="0">
                <a:latin typeface="DejaVu Sans"/>
                <a:cs typeface="DejaVu Sans"/>
              </a:rPr>
              <a:t> is</a:t>
            </a:r>
            <a:r>
              <a:rPr sz="1200" spc="-14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organized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0" dirty="0">
                <a:latin typeface="DejaVu Sans"/>
                <a:cs typeface="DejaVu Sans"/>
              </a:rPr>
              <a:t>into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23" dirty="0">
                <a:latin typeface="DejaVu Sans"/>
                <a:cs typeface="DejaVu Sans"/>
              </a:rPr>
              <a:t>rows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21" dirty="0">
                <a:latin typeface="DejaVu Sans"/>
                <a:cs typeface="DejaVu Sans"/>
              </a:rPr>
              <a:t>(DataRow)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and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latin typeface="DejaVu Sans"/>
                <a:cs typeface="DejaVu Sans"/>
              </a:rPr>
              <a:t>columns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4" dirty="0">
                <a:latin typeface="DejaVu Sans"/>
                <a:cs typeface="DejaVu Sans"/>
              </a:rPr>
              <a:t>(DataColumn),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2" dirty="0">
                <a:latin typeface="DejaVu Sans"/>
                <a:cs typeface="DejaVu Sans"/>
              </a:rPr>
              <a:t>ensuring</a:t>
            </a:r>
            <a:r>
              <a:rPr sz="1200" spc="-10" dirty="0">
                <a:latin typeface="DejaVu Sans"/>
                <a:cs typeface="DejaVu Sans"/>
              </a:rPr>
              <a:t> </a:t>
            </a:r>
            <a:r>
              <a:rPr sz="1200" spc="-12" dirty="0">
                <a:latin typeface="DejaVu Sans"/>
                <a:cs typeface="DejaVu Sans"/>
              </a:rPr>
              <a:t>consistency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latin typeface="DejaVu Sans"/>
                <a:cs typeface="DejaVu Sans"/>
              </a:rPr>
              <a:t>and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relational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27" dirty="0">
                <a:latin typeface="DejaVu Sans"/>
                <a:cs typeface="DejaVu Sans"/>
              </a:rPr>
              <a:t>integrity.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807475" y="4012617"/>
            <a:ext cx="1340277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latin typeface="DejaVu Sans"/>
                <a:cs typeface="DejaVu Sans"/>
              </a:rPr>
              <a:t>Can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be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7" dirty="0">
                <a:latin typeface="DejaVu Sans"/>
                <a:cs typeface="DejaVu Sans"/>
              </a:rPr>
              <a:t>created,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80999" y="4168594"/>
            <a:ext cx="5659412" cy="756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7" dirty="0">
                <a:latin typeface="DejaVu Sans"/>
                <a:cs typeface="DejaVu Sans"/>
              </a:rPr>
              <a:t>Why</a:t>
            </a:r>
            <a:r>
              <a:rPr sz="2500" b="1" dirty="0">
                <a:latin typeface="DejaVu Sans"/>
                <a:cs typeface="DejaVu Sans"/>
              </a:rPr>
              <a:t> </a:t>
            </a:r>
            <a:r>
              <a:rPr sz="2500" b="1" spc="10" dirty="0">
                <a:latin typeface="DejaVu Sans"/>
                <a:cs typeface="DejaVu Sans"/>
              </a:rPr>
              <a:t>are</a:t>
            </a:r>
            <a:r>
              <a:rPr sz="2500" b="1" dirty="0">
                <a:latin typeface="DejaVu Sans"/>
                <a:cs typeface="DejaVu Sans"/>
              </a:rPr>
              <a:t> </a:t>
            </a:r>
            <a:r>
              <a:rPr sz="2500" b="1" spc="11" dirty="0">
                <a:latin typeface="DejaVu Sans"/>
                <a:cs typeface="DejaVu Sans"/>
              </a:rPr>
              <a:t>Data</a:t>
            </a:r>
            <a:r>
              <a:rPr sz="2500" b="1" dirty="0">
                <a:latin typeface="DejaVu Sans"/>
                <a:cs typeface="DejaVu Sans"/>
              </a:rPr>
              <a:t> </a:t>
            </a:r>
            <a:r>
              <a:rPr sz="2500" b="1" spc="-44" dirty="0">
                <a:latin typeface="DejaVu Sans"/>
                <a:cs typeface="DejaVu Sans"/>
              </a:rPr>
              <a:t>Tables</a:t>
            </a:r>
            <a:r>
              <a:rPr sz="2500" b="1" spc="62" dirty="0">
                <a:latin typeface="DejaVu Sans"/>
                <a:cs typeface="DejaVu Sans"/>
              </a:rPr>
              <a:t> </a:t>
            </a:r>
            <a:r>
              <a:rPr sz="2500" b="1" spc="10" dirty="0">
                <a:latin typeface="DejaVu Sans"/>
                <a:cs typeface="DejaVu Sans"/>
              </a:rPr>
              <a:t>Crucial</a:t>
            </a:r>
            <a:r>
              <a:rPr sz="2500" b="1" dirty="0">
                <a:latin typeface="DejaVu Sans"/>
                <a:cs typeface="DejaVu Sans"/>
              </a:rPr>
              <a:t> in</a:t>
            </a:r>
          </a:p>
          <a:p>
            <a:pPr marL="0" marR="0">
              <a:lnSpc>
                <a:spcPts val="2932"/>
              </a:lnSpc>
              <a:spcBef>
                <a:spcPts val="67"/>
              </a:spcBef>
              <a:spcAft>
                <a:spcPts val="0"/>
              </a:spcAft>
            </a:pPr>
            <a:r>
              <a:rPr sz="2500" b="1" spc="-46" dirty="0">
                <a:latin typeface="DejaVu Sans"/>
                <a:cs typeface="DejaVu Sans"/>
              </a:rPr>
              <a:t>RPA?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807475" y="4222167"/>
            <a:ext cx="1989448" cy="1069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latin typeface="DejaVu Sans"/>
                <a:cs typeface="DejaVu Sans"/>
              </a:rPr>
              <a:t>modiﬁed,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and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7" dirty="0">
                <a:latin typeface="DejaVu Sans"/>
                <a:cs typeface="DejaVu Sans"/>
              </a:rPr>
              <a:t>processed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dirty="0">
                <a:latin typeface="DejaVu Sans"/>
                <a:cs typeface="DejaVu Sans"/>
              </a:rPr>
              <a:t>in</a:t>
            </a:r>
            <a:r>
              <a:rPr sz="1200" spc="-17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real-time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2" dirty="0">
                <a:latin typeface="DejaVu Sans"/>
                <a:cs typeface="DejaVu Sans"/>
              </a:rPr>
              <a:t>during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4" dirty="0">
                <a:latin typeface="DejaVu Sans"/>
                <a:cs typeface="DejaVu Sans"/>
              </a:rPr>
              <a:t>automation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20" dirty="0">
                <a:latin typeface="DejaVu Sans"/>
                <a:cs typeface="DejaVu Sans"/>
              </a:rPr>
              <a:t>execution,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2" dirty="0">
                <a:latin typeface="DejaVu Sans"/>
                <a:cs typeface="DejaVu Sans"/>
              </a:rPr>
              <a:t>adapting</a:t>
            </a:r>
            <a:r>
              <a:rPr sz="1200" spc="-10" dirty="0">
                <a:latin typeface="DejaVu Sans"/>
                <a:cs typeface="DejaVu Sans"/>
              </a:rPr>
              <a:t> to</a:t>
            </a:r>
            <a:r>
              <a:rPr sz="1200" spc="-12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workﬂow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latin typeface="DejaVu Sans"/>
                <a:cs typeface="DejaVu Sans"/>
              </a:rPr>
              <a:t>needs.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80999" y="5096957"/>
            <a:ext cx="6562106" cy="8521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8663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They </a:t>
            </a:r>
            <a:r>
              <a:rPr sz="1500" spc="-10" dirty="0">
                <a:latin typeface="DejaVu Sans"/>
                <a:cs typeface="DejaVu Sans"/>
              </a:rPr>
              <a:t>are</a:t>
            </a:r>
            <a:r>
              <a:rPr sz="1500" spc="21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fundamental for handling large</a:t>
            </a:r>
            <a:r>
              <a:rPr sz="1500" spc="11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volumes of dynamic or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extracted information, acting as a</a:t>
            </a:r>
            <a:r>
              <a:rPr sz="1500" spc="10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universal container for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structured data.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633542" y="5756446"/>
            <a:ext cx="148833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-46" dirty="0">
                <a:latin typeface="DejaVu Sans"/>
                <a:cs typeface="DejaVu Sans"/>
              </a:rPr>
              <a:t>DATA</a:t>
            </a:r>
            <a:r>
              <a:rPr sz="1000" b="1" spc="55" dirty="0">
                <a:latin typeface="DejaVu Sans"/>
                <a:cs typeface="DejaVu Sans"/>
              </a:rPr>
              <a:t> </a:t>
            </a:r>
            <a:r>
              <a:rPr sz="1000" b="1" dirty="0">
                <a:latin typeface="DejaVu Sans"/>
                <a:cs typeface="DejaVu Sans"/>
              </a:rPr>
              <a:t>TYPE </a:t>
            </a:r>
            <a:r>
              <a:rPr sz="1000" b="1" spc="-15" dirty="0">
                <a:latin typeface="DejaVu Sans"/>
                <a:cs typeface="DejaVu Sans"/>
              </a:rPr>
              <a:t>AWARE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935467" y="5756446"/>
            <a:ext cx="165788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latin typeface="DejaVu Sans"/>
                <a:cs typeface="DejaVu Sans"/>
              </a:rPr>
              <a:t>HEADERS &amp;</a:t>
            </a:r>
            <a:r>
              <a:rPr sz="1000" b="1" spc="10" dirty="0">
                <a:latin typeface="DejaVu Sans"/>
                <a:cs typeface="DejaVu Sans"/>
              </a:rPr>
              <a:t> </a:t>
            </a:r>
            <a:r>
              <a:rPr sz="1000" b="1" dirty="0">
                <a:latin typeface="DejaVu Sans"/>
                <a:cs typeface="DejaVu Sans"/>
              </a:rPr>
              <a:t>INDEXES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80999" y="6078032"/>
            <a:ext cx="6623577" cy="852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8663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Data </a:t>
            </a:r>
            <a:r>
              <a:rPr sz="1500" spc="-36" dirty="0">
                <a:latin typeface="DejaVu Sans"/>
                <a:cs typeface="DejaVu Sans"/>
              </a:rPr>
              <a:t>Tables</a:t>
            </a:r>
            <a:r>
              <a:rPr sz="1500" spc="46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provide</a:t>
            </a:r>
            <a:r>
              <a:rPr sz="1500" spc="10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a</a:t>
            </a:r>
            <a:r>
              <a:rPr sz="1500" spc="10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standardized way to interact with diverse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data sources, such as Excel sheets, databases, web tables, and API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responses.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505550" y="6060492"/>
            <a:ext cx="1848839" cy="127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latin typeface="DejaVu Sans"/>
                <a:cs typeface="DejaVu Sans"/>
              </a:rPr>
              <a:t>Each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column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4" dirty="0">
                <a:latin typeface="DejaVu Sans"/>
                <a:cs typeface="DejaVu Sans"/>
              </a:rPr>
              <a:t>can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7" dirty="0">
                <a:latin typeface="DejaVu Sans"/>
                <a:cs typeface="DejaVu Sans"/>
              </a:rPr>
              <a:t>enforce</a:t>
            </a:r>
            <a:r>
              <a:rPr sz="1200" dirty="0">
                <a:latin typeface="DejaVu Sans"/>
                <a:cs typeface="DejaVu Sans"/>
              </a:rPr>
              <a:t> a</a:t>
            </a:r>
            <a:r>
              <a:rPr sz="1200" spc="-23" dirty="0">
                <a:latin typeface="DejaVu Sans"/>
                <a:cs typeface="DejaVu Sans"/>
              </a:rPr>
              <a:t> </a:t>
            </a:r>
            <a:r>
              <a:rPr sz="1200" spc="-12" dirty="0">
                <a:latin typeface="DejaVu Sans"/>
                <a:cs typeface="DejaVu Sans"/>
              </a:rPr>
              <a:t>speciﬁc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2" dirty="0">
                <a:latin typeface="DejaVu Sans"/>
                <a:cs typeface="DejaVu Sans"/>
              </a:rPr>
              <a:t>data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2" dirty="0">
                <a:latin typeface="DejaVu Sans"/>
                <a:cs typeface="DejaVu Sans"/>
              </a:rPr>
              <a:t>type</a:t>
            </a:r>
            <a:r>
              <a:rPr sz="1200" spc="-10" dirty="0">
                <a:latin typeface="DejaVu Sans"/>
                <a:cs typeface="DejaVu Sans"/>
              </a:rPr>
              <a:t> (e.g.,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1" dirty="0">
                <a:latin typeface="DejaVu Sans"/>
                <a:cs typeface="DejaVu Sans"/>
              </a:rPr>
              <a:t>String,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2" dirty="0">
                <a:latin typeface="DejaVu Sans"/>
                <a:cs typeface="DejaVu Sans"/>
              </a:rPr>
              <a:t>Integer,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4" dirty="0">
                <a:latin typeface="DejaVu Sans"/>
                <a:cs typeface="DejaVu Sans"/>
              </a:rPr>
              <a:t>Boolean,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8" dirty="0">
                <a:latin typeface="DejaVu Sans"/>
                <a:cs typeface="DejaVu Sans"/>
              </a:rPr>
              <a:t>DateTime),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2" dirty="0">
                <a:latin typeface="DejaVu Sans"/>
                <a:cs typeface="DejaVu Sans"/>
              </a:rPr>
              <a:t>ensuring</a:t>
            </a:r>
          </a:p>
          <a:p>
            <a:pPr marL="0" marR="0">
              <a:lnSpc>
                <a:spcPts val="1368"/>
              </a:lnSpc>
              <a:spcBef>
                <a:spcPts val="356"/>
              </a:spcBef>
              <a:spcAft>
                <a:spcPts val="0"/>
              </a:spcAft>
            </a:pPr>
            <a:r>
              <a:rPr sz="1200" spc="-12" dirty="0">
                <a:latin typeface="DejaVu Sans"/>
                <a:cs typeface="DejaVu Sans"/>
              </a:rPr>
              <a:t>data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31" dirty="0">
                <a:latin typeface="DejaVu Sans"/>
                <a:cs typeface="DejaVu Sans"/>
              </a:rPr>
              <a:t>quality.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807475" y="6060492"/>
            <a:ext cx="1774932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latin typeface="DejaVu Sans"/>
                <a:cs typeface="DejaVu Sans"/>
              </a:rPr>
              <a:t>Columns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have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4" dirty="0">
                <a:latin typeface="DejaVu Sans"/>
                <a:cs typeface="DejaVu Sans"/>
              </a:rPr>
              <a:t>unique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4" dirty="0">
                <a:latin typeface="DejaVu Sans"/>
                <a:cs typeface="DejaVu Sans"/>
              </a:rPr>
              <a:t>headers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and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2" dirty="0">
                <a:latin typeface="DejaVu Sans"/>
                <a:cs typeface="DejaVu Sans"/>
              </a:rPr>
              <a:t>both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9807475" y="6489117"/>
            <a:ext cx="1902245" cy="60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latin typeface="DejaVu Sans"/>
                <a:cs typeface="DejaVu Sans"/>
              </a:rPr>
              <a:t>rows/columns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25" dirty="0">
                <a:latin typeface="DejaVu Sans"/>
                <a:cs typeface="DejaVu Sans"/>
              </a:rPr>
              <a:t>are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4" dirty="0">
                <a:latin typeface="DejaVu Sans"/>
                <a:cs typeface="DejaVu Sans"/>
              </a:rPr>
              <a:t>zero-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21" dirty="0">
                <a:latin typeface="DejaVu Sans"/>
                <a:cs typeface="DejaVu Sans"/>
              </a:rPr>
              <a:t>indexed,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1" dirty="0">
                <a:latin typeface="DejaVu Sans"/>
                <a:cs typeface="DejaVu Sans"/>
              </a:rPr>
              <a:t>allowing</a:t>
            </a:r>
            <a:r>
              <a:rPr sz="1200" spc="-10" dirty="0">
                <a:latin typeface="DejaVu Sans"/>
                <a:cs typeface="DejaVu Sans"/>
              </a:rPr>
              <a:t> </a:t>
            </a:r>
            <a:r>
              <a:rPr sz="1200" spc="-11" dirty="0">
                <a:latin typeface="DejaVu Sans"/>
                <a:cs typeface="DejaVu Sans"/>
              </a:rPr>
              <a:t>for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4" dirty="0">
                <a:latin typeface="DejaVu Sans"/>
                <a:cs typeface="DejaVu Sans"/>
              </a:rPr>
              <a:t>easy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and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7" dirty="0">
                <a:latin typeface="DejaVu Sans"/>
                <a:cs typeface="DejaVu Sans"/>
              </a:rPr>
              <a:t>direct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4" dirty="0">
                <a:latin typeface="DejaVu Sans"/>
                <a:cs typeface="DejaVu Sans"/>
              </a:rPr>
              <a:t>access.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80999" y="7059107"/>
            <a:ext cx="5804637" cy="86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8663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Their crucial role</a:t>
            </a:r>
            <a:r>
              <a:rPr sz="1500" spc="17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lies in enabling sophisticated data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manipulation, transformation, and integration, forming the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backbone of complex data-driven automation.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548115" y="8068003"/>
            <a:ext cx="3948201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7" dirty="0">
                <a:latin typeface="DejaVu Sans"/>
                <a:cs typeface="DejaVu Sans"/>
              </a:rPr>
              <a:t>Common</a:t>
            </a:r>
            <a:r>
              <a:rPr sz="1700" b="1" dirty="0">
                <a:latin typeface="DejaVu Sans"/>
                <a:cs typeface="DejaVu Sans"/>
              </a:rPr>
              <a:t> </a:t>
            </a:r>
            <a:r>
              <a:rPr sz="1700" b="1" spc="-14" dirty="0">
                <a:latin typeface="DejaVu Sans"/>
                <a:cs typeface="DejaVu Sans"/>
              </a:rPr>
              <a:t>Data</a:t>
            </a:r>
            <a:r>
              <a:rPr sz="1700" b="1" dirty="0">
                <a:latin typeface="DejaVu Sans"/>
                <a:cs typeface="DejaVu Sans"/>
              </a:rPr>
              <a:t> </a:t>
            </a:r>
            <a:r>
              <a:rPr sz="1700" b="1" spc="-52" dirty="0">
                <a:latin typeface="DejaVu Sans"/>
                <a:cs typeface="DejaVu Sans"/>
              </a:rPr>
              <a:t>Table</a:t>
            </a:r>
            <a:r>
              <a:rPr sz="1700" b="1" spc="31" dirty="0">
                <a:latin typeface="DejaVu Sans"/>
                <a:cs typeface="DejaVu Sans"/>
              </a:rPr>
              <a:t> </a:t>
            </a:r>
            <a:r>
              <a:rPr sz="1700" b="1" spc="-12" dirty="0">
                <a:latin typeface="DejaVu Sans"/>
                <a:cs typeface="DejaVu Sans"/>
              </a:rPr>
              <a:t>Operations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548115" y="8451267"/>
            <a:ext cx="4128976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424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latin typeface="DejaVu Sans"/>
                <a:cs typeface="DejaVu Sans"/>
              </a:rPr>
              <a:t>Building</a:t>
            </a:r>
            <a:r>
              <a:rPr sz="1200" b="1" spc="-11" dirty="0">
                <a:latin typeface="DejaVu Sans"/>
                <a:cs typeface="DejaVu Sans"/>
              </a:rPr>
              <a:t> </a:t>
            </a:r>
            <a:r>
              <a:rPr sz="1200" b="1" dirty="0">
                <a:latin typeface="DejaVu Sans"/>
                <a:cs typeface="DejaVu Sans"/>
              </a:rPr>
              <a:t>&amp;</a:t>
            </a:r>
            <a:r>
              <a:rPr sz="1200" b="1" spc="-30" dirty="0">
                <a:latin typeface="DejaVu Sans"/>
                <a:cs typeface="DejaVu Sans"/>
              </a:rPr>
              <a:t> </a:t>
            </a:r>
            <a:r>
              <a:rPr sz="1200" b="1" spc="-15" dirty="0">
                <a:latin typeface="DejaVu Sans"/>
                <a:cs typeface="DejaVu Sans"/>
              </a:rPr>
              <a:t>Populating:</a:t>
            </a:r>
            <a:r>
              <a:rPr sz="1200" b="1" spc="-37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Creating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new</a:t>
            </a:r>
            <a:r>
              <a:rPr sz="1200" spc="-12" dirty="0">
                <a:latin typeface="DejaVu Sans"/>
                <a:cs typeface="DejaVu Sans"/>
              </a:rPr>
              <a:t> </a:t>
            </a:r>
            <a:r>
              <a:rPr sz="1200" spc="-11" dirty="0">
                <a:latin typeface="DejaVu Sans"/>
                <a:cs typeface="DejaVu Sans"/>
              </a:rPr>
              <a:t>tables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and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4" dirty="0">
                <a:latin typeface="DejaVu Sans"/>
                <a:cs typeface="DejaVu Sans"/>
              </a:rPr>
              <a:t>adding</a:t>
            </a:r>
            <a:r>
              <a:rPr sz="1200" spc="-10" dirty="0">
                <a:latin typeface="DejaVu Sans"/>
                <a:cs typeface="DejaVu Sans"/>
              </a:rPr>
              <a:t> </a:t>
            </a:r>
            <a:r>
              <a:rPr sz="1200" spc="-12" dirty="0">
                <a:latin typeface="DejaVu Sans"/>
                <a:cs typeface="DejaVu Sans"/>
              </a:rPr>
              <a:t>data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20" dirty="0">
                <a:latin typeface="DejaVu Sans"/>
                <a:cs typeface="DejaVu Sans"/>
              </a:rPr>
              <a:t>rows.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548115" y="8917992"/>
            <a:ext cx="4231928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424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2" dirty="0">
                <a:latin typeface="DejaVu Sans"/>
                <a:cs typeface="DejaVu Sans"/>
              </a:rPr>
              <a:t>Filtering</a:t>
            </a:r>
            <a:r>
              <a:rPr sz="1200" b="1" spc="-14" dirty="0">
                <a:latin typeface="DejaVu Sans"/>
                <a:cs typeface="DejaVu Sans"/>
              </a:rPr>
              <a:t> </a:t>
            </a:r>
            <a:r>
              <a:rPr sz="1200" b="1" dirty="0">
                <a:latin typeface="DejaVu Sans"/>
                <a:cs typeface="DejaVu Sans"/>
              </a:rPr>
              <a:t>&amp;</a:t>
            </a:r>
            <a:r>
              <a:rPr sz="1200" b="1" spc="-30" dirty="0">
                <a:latin typeface="DejaVu Sans"/>
                <a:cs typeface="DejaVu Sans"/>
              </a:rPr>
              <a:t> </a:t>
            </a:r>
            <a:r>
              <a:rPr sz="1200" b="1" spc="-15" dirty="0">
                <a:latin typeface="DejaVu Sans"/>
                <a:cs typeface="DejaVu Sans"/>
              </a:rPr>
              <a:t>Sorting:</a:t>
            </a:r>
            <a:r>
              <a:rPr sz="1200" b="1" spc="-38" dirty="0">
                <a:latin typeface="DejaVu Sans"/>
                <a:cs typeface="DejaVu Sans"/>
              </a:rPr>
              <a:t> </a:t>
            </a:r>
            <a:r>
              <a:rPr sz="1200" spc="-11" dirty="0">
                <a:latin typeface="DejaVu Sans"/>
                <a:cs typeface="DejaVu Sans"/>
              </a:rPr>
              <a:t>Selecting</a:t>
            </a:r>
            <a:r>
              <a:rPr sz="1200" spc="-10" dirty="0">
                <a:latin typeface="DejaVu Sans"/>
                <a:cs typeface="DejaVu Sans"/>
              </a:rPr>
              <a:t> </a:t>
            </a:r>
            <a:r>
              <a:rPr sz="1200" spc="-12" dirty="0">
                <a:latin typeface="DejaVu Sans"/>
                <a:cs typeface="DejaVu Sans"/>
              </a:rPr>
              <a:t>speciﬁc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23" dirty="0">
                <a:latin typeface="DejaVu Sans"/>
                <a:cs typeface="DejaVu Sans"/>
              </a:rPr>
              <a:t>rows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based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latin typeface="DejaVu Sans"/>
                <a:cs typeface="DejaVu Sans"/>
              </a:rPr>
              <a:t>on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0" dirty="0">
                <a:latin typeface="DejaVu Sans"/>
                <a:cs typeface="DejaVu Sans"/>
              </a:rPr>
              <a:t>criteria</a:t>
            </a:r>
            <a:r>
              <a:rPr sz="1200" spc="-12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and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ordering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4" dirty="0">
                <a:latin typeface="DejaVu Sans"/>
                <a:cs typeface="DejaVu Sans"/>
              </a:rPr>
              <a:t>data.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754539" y="9384717"/>
            <a:ext cx="386879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2" dirty="0">
                <a:latin typeface="DejaVu Sans"/>
                <a:cs typeface="DejaVu Sans"/>
              </a:rPr>
              <a:t>Joining </a:t>
            </a:r>
            <a:r>
              <a:rPr sz="1200" b="1" dirty="0">
                <a:latin typeface="DejaVu Sans"/>
                <a:cs typeface="DejaVu Sans"/>
              </a:rPr>
              <a:t>&amp;</a:t>
            </a:r>
            <a:r>
              <a:rPr sz="1200" b="1" spc="-30" dirty="0">
                <a:latin typeface="DejaVu Sans"/>
                <a:cs typeface="DejaVu Sans"/>
              </a:rPr>
              <a:t> </a:t>
            </a:r>
            <a:r>
              <a:rPr sz="1200" b="1" spc="-15" dirty="0">
                <a:latin typeface="DejaVu Sans"/>
                <a:cs typeface="DejaVu Sans"/>
              </a:rPr>
              <a:t>Merging:</a:t>
            </a:r>
            <a:r>
              <a:rPr sz="1200" b="1" spc="-37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Combining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2" dirty="0">
                <a:latin typeface="DejaVu Sans"/>
                <a:cs typeface="DejaVu Sans"/>
              </a:rPr>
              <a:t>data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20" dirty="0">
                <a:latin typeface="DejaVu Sans"/>
                <a:cs typeface="DejaVu Sans"/>
              </a:rPr>
              <a:t>from</a:t>
            </a:r>
            <a:r>
              <a:rPr sz="1200" spc="-11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two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or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548115" y="9603792"/>
            <a:ext cx="10898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5" dirty="0">
                <a:latin typeface="DejaVu Sans"/>
                <a:cs typeface="DejaVu Sans"/>
              </a:rPr>
              <a:t>more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2" dirty="0">
                <a:latin typeface="DejaVu Sans"/>
                <a:cs typeface="DejaVu Sans"/>
              </a:rPr>
              <a:t>tables.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7548115" y="9860967"/>
            <a:ext cx="3921416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424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2" dirty="0">
                <a:latin typeface="DejaVu Sans"/>
                <a:cs typeface="DejaVu Sans"/>
              </a:rPr>
              <a:t>Iteration:</a:t>
            </a:r>
            <a:r>
              <a:rPr sz="1200" b="1" spc="-40" dirty="0">
                <a:latin typeface="DejaVu Sans"/>
                <a:cs typeface="DejaVu Sans"/>
              </a:rPr>
              <a:t> </a:t>
            </a:r>
            <a:r>
              <a:rPr sz="1200" spc="-17" dirty="0">
                <a:latin typeface="DejaVu Sans"/>
                <a:cs typeface="DejaVu Sans"/>
              </a:rPr>
              <a:t>Looping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8" dirty="0">
                <a:latin typeface="DejaVu Sans"/>
                <a:cs typeface="DejaVu Sans"/>
              </a:rPr>
              <a:t>through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each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25" dirty="0">
                <a:latin typeface="DejaVu Sans"/>
                <a:cs typeface="DejaVu Sans"/>
              </a:rPr>
              <a:t>row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2" dirty="0">
                <a:latin typeface="DejaVu Sans"/>
                <a:cs typeface="DejaVu Sans"/>
              </a:rPr>
              <a:t>using</a:t>
            </a:r>
            <a:r>
              <a:rPr sz="1200" spc="-10" dirty="0">
                <a:latin typeface="DejaVu Sans"/>
                <a:cs typeface="DejaVu Sans"/>
              </a:rPr>
              <a:t> </a:t>
            </a:r>
            <a:r>
              <a:rPr sz="1200" spc="-25" dirty="0">
                <a:latin typeface="DejaVu Sans"/>
                <a:cs typeface="DejaVu Sans"/>
              </a:rPr>
              <a:t>'For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latin typeface="DejaVu Sans"/>
                <a:cs typeface="DejaVu Sans"/>
              </a:rPr>
              <a:t>Each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41" dirty="0">
                <a:latin typeface="DejaVu Sans"/>
                <a:cs typeface="DejaVu Sans"/>
              </a:rPr>
              <a:t>Row</a:t>
            </a:r>
            <a:r>
              <a:rPr sz="1200" spc="15" dirty="0">
                <a:latin typeface="DejaVu Sans"/>
                <a:cs typeface="DejaVu Sans"/>
              </a:rPr>
              <a:t> </a:t>
            </a:r>
            <a:r>
              <a:rPr sz="1200" dirty="0">
                <a:latin typeface="DejaVu Sans"/>
                <a:cs typeface="DejaVu Sans"/>
              </a:rPr>
              <a:t>in</a:t>
            </a:r>
            <a:r>
              <a:rPr sz="1200" spc="-17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Data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37" dirty="0">
                <a:latin typeface="DejaVu Sans"/>
                <a:cs typeface="DejaVu Sans"/>
              </a:rPr>
              <a:t>Table'.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7548115" y="10327692"/>
            <a:ext cx="3849709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424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latin typeface="DejaVu Sans"/>
                <a:cs typeface="DejaVu Sans"/>
              </a:rPr>
              <a:t>Manipulation:</a:t>
            </a:r>
            <a:r>
              <a:rPr sz="1200" b="1" spc="-38" dirty="0">
                <a:latin typeface="DejaVu Sans"/>
                <a:cs typeface="DejaVu Sans"/>
              </a:rPr>
              <a:t> </a:t>
            </a:r>
            <a:r>
              <a:rPr sz="1200" spc="-18" dirty="0">
                <a:latin typeface="DejaVu Sans"/>
                <a:cs typeface="DejaVu Sans"/>
              </a:rPr>
              <a:t>Adding,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8" dirty="0">
                <a:latin typeface="DejaVu Sans"/>
                <a:cs typeface="DejaVu Sans"/>
              </a:rPr>
              <a:t>removing,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or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2" dirty="0">
                <a:latin typeface="DejaVu Sans"/>
                <a:cs typeface="DejaVu Sans"/>
              </a:rPr>
              <a:t>updating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latin typeface="DejaVu Sans"/>
                <a:cs typeface="DejaVu Sans"/>
              </a:rPr>
              <a:t>columns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15" dirty="0">
                <a:latin typeface="DejaVu Sans"/>
                <a:cs typeface="DejaVu Sans"/>
              </a:rPr>
              <a:t>and</a:t>
            </a:r>
            <a:r>
              <a:rPr sz="1200" dirty="0">
                <a:latin typeface="DejaVu Sans"/>
                <a:cs typeface="DejaVu Sans"/>
              </a:rPr>
              <a:t> </a:t>
            </a:r>
            <a:r>
              <a:rPr sz="1200" spc="-20" dirty="0">
                <a:latin typeface="DejaVu Sans"/>
                <a:cs typeface="DejaVu Sans"/>
              </a:rPr>
              <a:t>rows.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1218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8592" y="384816"/>
            <a:ext cx="6621350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20" dirty="0">
                <a:solidFill>
                  <a:srgbClr val="ECF0F1"/>
                </a:solidFill>
                <a:latin typeface="DejaVu Sans"/>
                <a:cs typeface="DejaVu Sans"/>
              </a:rPr>
              <a:t>Common</a:t>
            </a:r>
            <a:r>
              <a:rPr sz="30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30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3000" b="1" spc="-67" dirty="0">
                <a:solidFill>
                  <a:srgbClr val="ECF0F1"/>
                </a:solidFill>
                <a:latin typeface="DejaVu Sans"/>
                <a:cs typeface="DejaVu Sans"/>
              </a:rPr>
              <a:t>Table</a:t>
            </a:r>
            <a:r>
              <a:rPr sz="3000" b="1" spc="9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3000" b="1" spc="11" dirty="0">
                <a:solidFill>
                  <a:srgbClr val="ECF0F1"/>
                </a:solidFill>
                <a:latin typeface="DejaVu Sans"/>
                <a:cs typeface="DejaVu Sans"/>
              </a:rPr>
              <a:t>Activities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3899" y="1370419"/>
            <a:ext cx="2506032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ECF0F1"/>
                </a:solidFill>
                <a:latin typeface="DejaVu Sans"/>
                <a:cs typeface="DejaVu Sans"/>
              </a:rPr>
              <a:t>Build </a:t>
            </a:r>
            <a:r>
              <a:rPr sz="2000" b="1" spc="10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20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2000" b="1" spc="-43" dirty="0">
                <a:solidFill>
                  <a:srgbClr val="ECF0F1"/>
                </a:solidFill>
                <a:latin typeface="DejaVu Sans"/>
                <a:cs typeface="DejaVu Sans"/>
              </a:rPr>
              <a:t>Table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20209" y="1370419"/>
            <a:ext cx="2185070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ECF0F1"/>
                </a:solidFill>
                <a:latin typeface="DejaVu Sans"/>
                <a:cs typeface="DejaVu Sans"/>
              </a:rPr>
              <a:t>Add</a:t>
            </a:r>
            <a:r>
              <a:rPr sz="20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20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ECF0F1"/>
                </a:solidFill>
                <a:latin typeface="DejaVu Sans"/>
                <a:cs typeface="DejaVu Sans"/>
              </a:rPr>
              <a:t>Row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0185" y="1879017"/>
            <a:ext cx="5003626" cy="214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Purpose:</a:t>
            </a:r>
            <a:r>
              <a:rPr sz="1200" b="1" spc="63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Initializes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an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empty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table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structure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with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deﬁned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96496" y="1879017"/>
            <a:ext cx="4933192" cy="214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Purpose:</a:t>
            </a:r>
            <a:r>
              <a:rPr sz="1200" b="1" spc="63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Appends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new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rows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of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an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existing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table.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4906" y="2088567"/>
            <a:ext cx="82747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columns.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96496" y="2174292"/>
            <a:ext cx="4855207" cy="214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8" dirty="0">
                <a:solidFill>
                  <a:srgbClr val="FFFFFF"/>
                </a:solidFill>
                <a:latin typeface="DejaVu Sans"/>
                <a:cs typeface="DejaVu Sans"/>
              </a:rPr>
              <a:t>Key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Use:</a:t>
            </a:r>
            <a:r>
              <a:rPr sz="1200" b="1" spc="63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Populating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tables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from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sources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like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scraped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70185" y="2386074"/>
            <a:ext cx="5011868" cy="2192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8" dirty="0">
                <a:solidFill>
                  <a:srgbClr val="FFFFFF"/>
                </a:solidFill>
                <a:latin typeface="DejaVu Sans"/>
                <a:cs typeface="DejaVu Sans"/>
              </a:rPr>
              <a:t>Key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Use:</a:t>
            </a:r>
            <a:r>
              <a:rPr sz="1200" b="1" spc="63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A</a:t>
            </a:r>
            <a:r>
              <a:rPr sz="1200" spc="-25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starting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point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creating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dynamic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sets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within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11217" y="2393367"/>
            <a:ext cx="88019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variables.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4906" y="2602917"/>
            <a:ext cx="129217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an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automation.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496496" y="2688642"/>
            <a:ext cx="3428504" cy="214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rgbClr val="FFFFFF"/>
                </a:solidFill>
                <a:latin typeface="DejaVu Sans"/>
                <a:cs typeface="DejaVu Sans"/>
              </a:rPr>
              <a:t>UiPath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rgbClr val="FFFFFF"/>
                </a:solidFill>
                <a:latin typeface="DejaVu Sans"/>
                <a:cs typeface="DejaVu Sans"/>
              </a:rPr>
              <a:t>Activity:</a:t>
            </a:r>
            <a:r>
              <a:rPr sz="1200" b="1" spc="6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1" dirty="0">
                <a:solidFill>
                  <a:srgbClr val="ECF0F1"/>
                </a:solidFill>
                <a:latin typeface="DejaVu Sans"/>
                <a:cs typeface="DejaVu Sans"/>
              </a:rPr>
              <a:t>`Add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34" dirty="0">
                <a:solidFill>
                  <a:srgbClr val="ECF0F1"/>
                </a:solidFill>
                <a:latin typeface="DejaVu Sans"/>
                <a:cs typeface="DejaVu Sans"/>
              </a:rPr>
              <a:t>Row`</a:t>
            </a:r>
            <a:r>
              <a:rPr sz="1200" spc="15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31" dirty="0">
                <a:solidFill>
                  <a:srgbClr val="ECF0F1"/>
                </a:solidFill>
                <a:latin typeface="DejaVu Sans"/>
                <a:cs typeface="DejaVu Sans"/>
              </a:rPr>
              <a:t>Activity.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70185" y="2898192"/>
            <a:ext cx="3589797" cy="214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rgbClr val="FFFFFF"/>
                </a:solidFill>
                <a:latin typeface="DejaVu Sans"/>
                <a:cs typeface="DejaVu Sans"/>
              </a:rPr>
              <a:t>UiPath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rgbClr val="FFFFFF"/>
                </a:solidFill>
                <a:latin typeface="DejaVu Sans"/>
                <a:cs typeface="DejaVu Sans"/>
              </a:rPr>
              <a:t>Activity:</a:t>
            </a:r>
            <a:r>
              <a:rPr sz="1200" b="1" spc="6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`Build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43" dirty="0">
                <a:solidFill>
                  <a:srgbClr val="ECF0F1"/>
                </a:solidFill>
                <a:latin typeface="DejaVu Sans"/>
                <a:cs typeface="DejaVu Sans"/>
              </a:rPr>
              <a:t>Table`</a:t>
            </a:r>
            <a:r>
              <a:rPr sz="1200" spc="2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31" dirty="0">
                <a:solidFill>
                  <a:srgbClr val="ECF0F1"/>
                </a:solidFill>
                <a:latin typeface="DejaVu Sans"/>
                <a:cs typeface="DejaVu Sans"/>
              </a:rPr>
              <a:t>Activity.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93899" y="5037544"/>
            <a:ext cx="4360787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ECF0F1"/>
                </a:solidFill>
                <a:latin typeface="DejaVu Sans"/>
                <a:cs typeface="DejaVu Sans"/>
              </a:rPr>
              <a:t>Reading</a:t>
            </a:r>
            <a:r>
              <a:rPr sz="20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20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2000" b="1" spc="-18" dirty="0">
                <a:solidFill>
                  <a:srgbClr val="ECF0F1"/>
                </a:solidFill>
                <a:latin typeface="DejaVu Sans"/>
                <a:cs typeface="DejaVu Sans"/>
              </a:rPr>
              <a:t>(For</a:t>
            </a:r>
            <a:r>
              <a:rPr sz="2000" b="1" spc="3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ECF0F1"/>
                </a:solidFill>
                <a:latin typeface="DejaVu Sans"/>
                <a:cs typeface="DejaVu Sans"/>
              </a:rPr>
              <a:t>Each</a:t>
            </a:r>
            <a:r>
              <a:rPr sz="20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ECF0F1"/>
                </a:solidFill>
                <a:latin typeface="DejaVu Sans"/>
                <a:cs typeface="DejaVu Sans"/>
              </a:rPr>
              <a:t>Row)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920209" y="5037544"/>
            <a:ext cx="2147685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ECF0F1"/>
                </a:solidFill>
                <a:latin typeface="DejaVu Sans"/>
                <a:cs typeface="DejaVu Sans"/>
              </a:rPr>
              <a:t>Filtering </a:t>
            </a:r>
            <a:r>
              <a:rPr sz="2000" b="1" spc="10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70185" y="5546142"/>
            <a:ext cx="4473065" cy="214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Purpose:</a:t>
            </a:r>
            <a:r>
              <a:rPr sz="1200" b="1" spc="63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Iterates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through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each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5" dirty="0">
                <a:solidFill>
                  <a:srgbClr val="ECF0F1"/>
                </a:solidFill>
                <a:latin typeface="DejaVu Sans"/>
                <a:cs typeface="DejaVu Sans"/>
              </a:rPr>
              <a:t>row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of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a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table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access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496496" y="5546142"/>
            <a:ext cx="4916160" cy="214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Purpose:</a:t>
            </a:r>
            <a:r>
              <a:rPr sz="1200" b="1" spc="63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Selects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a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subset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of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rows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from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a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table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based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84906" y="5755692"/>
            <a:ext cx="148919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individual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entries.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411217" y="5755692"/>
            <a:ext cx="72975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criteria.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70185" y="6060492"/>
            <a:ext cx="5176934" cy="214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8" dirty="0">
                <a:solidFill>
                  <a:srgbClr val="FFFFFF"/>
                </a:solidFill>
                <a:latin typeface="DejaVu Sans"/>
                <a:cs typeface="DejaVu Sans"/>
              </a:rPr>
              <a:t>Key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Use:</a:t>
            </a:r>
            <a:r>
              <a:rPr sz="1200" b="1" spc="63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Performing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operations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on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each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record,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like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validation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or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496496" y="6060492"/>
            <a:ext cx="5118425" cy="214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8" dirty="0">
                <a:solidFill>
                  <a:srgbClr val="FFFFFF"/>
                </a:solidFill>
                <a:latin typeface="DejaVu Sans"/>
                <a:cs typeface="DejaVu Sans"/>
              </a:rPr>
              <a:t>Key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Use:</a:t>
            </a:r>
            <a:r>
              <a:rPr sz="1200" b="1" spc="63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Extracting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relevant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info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isolating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records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based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84906" y="6270042"/>
            <a:ext cx="131228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transformation.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411217" y="6270042"/>
            <a:ext cx="126498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business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rules.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70185" y="6567549"/>
            <a:ext cx="4399649" cy="2192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rgbClr val="FFFFFF"/>
                </a:solidFill>
                <a:latin typeface="DejaVu Sans"/>
                <a:cs typeface="DejaVu Sans"/>
              </a:rPr>
              <a:t>UiPath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rgbClr val="FFFFFF"/>
                </a:solidFill>
                <a:latin typeface="DejaVu Sans"/>
                <a:cs typeface="DejaVu Sans"/>
              </a:rPr>
              <a:t>Activity:</a:t>
            </a:r>
            <a:r>
              <a:rPr sz="1200" b="1" spc="6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8" dirty="0">
                <a:solidFill>
                  <a:srgbClr val="ECF0F1"/>
                </a:solidFill>
                <a:latin typeface="DejaVu Sans"/>
                <a:cs typeface="DejaVu Sans"/>
              </a:rPr>
              <a:t>`For</a:t>
            </a:r>
            <a:r>
              <a:rPr sz="12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Each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41" dirty="0">
                <a:solidFill>
                  <a:srgbClr val="ECF0F1"/>
                </a:solidFill>
                <a:latin typeface="DejaVu Sans"/>
                <a:cs typeface="DejaVu Sans"/>
              </a:rPr>
              <a:t>Row</a:t>
            </a:r>
            <a:r>
              <a:rPr sz="1200" spc="15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in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43" dirty="0">
                <a:solidFill>
                  <a:srgbClr val="ECF0F1"/>
                </a:solidFill>
                <a:latin typeface="DejaVu Sans"/>
                <a:cs typeface="DejaVu Sans"/>
              </a:rPr>
              <a:t>Table`</a:t>
            </a:r>
            <a:r>
              <a:rPr sz="1200" spc="2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31" dirty="0">
                <a:solidFill>
                  <a:srgbClr val="ECF0F1"/>
                </a:solidFill>
                <a:latin typeface="DejaVu Sans"/>
                <a:cs typeface="DejaVu Sans"/>
              </a:rPr>
              <a:t>Activity.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496496" y="6567549"/>
            <a:ext cx="3584759" cy="2192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rgbClr val="FFFFFF"/>
                </a:solidFill>
                <a:latin typeface="DejaVu Sans"/>
                <a:cs typeface="DejaVu Sans"/>
              </a:rPr>
              <a:t>UiPath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rgbClr val="FFFFFF"/>
                </a:solidFill>
                <a:latin typeface="DejaVu Sans"/>
                <a:cs typeface="DejaVu Sans"/>
              </a:rPr>
              <a:t>Activity:</a:t>
            </a:r>
            <a:r>
              <a:rPr sz="1200" b="1" spc="6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5" dirty="0">
                <a:solidFill>
                  <a:srgbClr val="ECF0F1"/>
                </a:solidFill>
                <a:latin typeface="DejaVu Sans"/>
                <a:cs typeface="DejaVu Sans"/>
              </a:rPr>
              <a:t>`Filter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43" dirty="0">
                <a:solidFill>
                  <a:srgbClr val="ECF0F1"/>
                </a:solidFill>
                <a:latin typeface="DejaVu Sans"/>
                <a:cs typeface="DejaVu Sans"/>
              </a:rPr>
              <a:t>Table`</a:t>
            </a:r>
            <a:r>
              <a:rPr sz="1200" spc="2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31" dirty="0">
                <a:solidFill>
                  <a:srgbClr val="ECF0F1"/>
                </a:solidFill>
                <a:latin typeface="DejaVu Sans"/>
                <a:cs typeface="DejaVu Sans"/>
              </a:rPr>
              <a:t>Activity.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535239" y="8868103"/>
            <a:ext cx="3525529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38" dirty="0">
                <a:solidFill>
                  <a:schemeClr val="bg1"/>
                </a:solidFill>
                <a:latin typeface="DejaVu Sans"/>
                <a:cs typeface="DejaVu Sans"/>
              </a:rPr>
              <a:t>Typical</a:t>
            </a:r>
            <a:r>
              <a:rPr sz="1700" b="1" spc="25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chemeClr val="bg1"/>
                </a:solidFill>
                <a:latin typeface="DejaVu Sans"/>
                <a:cs typeface="DejaVu Sans"/>
              </a:rPr>
              <a:t>Data</a:t>
            </a:r>
            <a:r>
              <a:rPr sz="17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700" b="1" spc="-52" dirty="0">
                <a:solidFill>
                  <a:schemeClr val="bg1"/>
                </a:solidFill>
                <a:latin typeface="DejaVu Sans"/>
                <a:cs typeface="DejaVu Sans"/>
              </a:rPr>
              <a:t>Table</a:t>
            </a:r>
            <a:r>
              <a:rPr sz="1700" b="1" spc="3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700" b="1" spc="-25" dirty="0">
                <a:solidFill>
                  <a:schemeClr val="bg1"/>
                </a:solidFill>
                <a:latin typeface="DejaVu Sans"/>
                <a:cs typeface="DejaVu Sans"/>
              </a:rPr>
              <a:t>Workﬂow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535239" y="9241842"/>
            <a:ext cx="477606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tables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5" dirty="0">
                <a:solidFill>
                  <a:srgbClr val="ECF0F1"/>
                </a:solidFill>
                <a:latin typeface="DejaVu Sans"/>
                <a:cs typeface="DejaVu Sans"/>
              </a:rPr>
              <a:t>are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integral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47" dirty="0">
                <a:solidFill>
                  <a:srgbClr val="ECF0F1"/>
                </a:solidFill>
                <a:latin typeface="DejaVu Sans"/>
                <a:cs typeface="DejaVu Sans"/>
              </a:rPr>
              <a:t>RPA.</a:t>
            </a:r>
            <a:r>
              <a:rPr sz="1200" spc="3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A</a:t>
            </a:r>
            <a:r>
              <a:rPr sz="1200" spc="-25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common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workﬂow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involves: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535239" y="9546642"/>
            <a:ext cx="6306143" cy="973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E67E22"/>
                </a:solidFill>
                <a:latin typeface="DejaVu Sans"/>
                <a:cs typeface="DejaVu Sans"/>
              </a:rPr>
              <a:t>&gt;</a:t>
            </a:r>
            <a:r>
              <a:rPr sz="1200" b="1" spc="-28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chemeClr val="bg1"/>
                </a:solidFill>
                <a:latin typeface="DejaVu Sans"/>
                <a:cs typeface="DejaVu Sans"/>
              </a:rPr>
              <a:t>Acquisition</a:t>
            </a:r>
            <a:r>
              <a:rPr sz="1200" b="1" spc="-14" dirty="0">
                <a:solidFill>
                  <a:srgbClr val="E67E22"/>
                </a:solidFill>
                <a:latin typeface="DejaVu Sans"/>
                <a:cs typeface="DejaVu Sans"/>
              </a:rPr>
              <a:t>:</a:t>
            </a:r>
            <a:r>
              <a:rPr sz="1200" b="1" spc="-38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Extracting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from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Excel,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web,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databases.</a:t>
            </a:r>
          </a:p>
          <a:p>
            <a:pPr marL="0" marR="0">
              <a:lnSpc>
                <a:spcPts val="1368"/>
              </a:lnSpc>
              <a:spcBef>
                <a:spcPts val="606"/>
              </a:spcBef>
              <a:spcAft>
                <a:spcPts val="0"/>
              </a:spcAft>
            </a:pPr>
            <a:r>
              <a:rPr sz="1200" b="1" dirty="0">
                <a:solidFill>
                  <a:srgbClr val="E67E22"/>
                </a:solidFill>
                <a:latin typeface="DejaVu Sans"/>
                <a:cs typeface="DejaVu Sans"/>
              </a:rPr>
              <a:t>&gt;</a:t>
            </a:r>
            <a:r>
              <a:rPr sz="1200" b="1" spc="-28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chemeClr val="bg1"/>
                </a:solidFill>
                <a:latin typeface="DejaVu Sans"/>
                <a:cs typeface="DejaVu Sans"/>
              </a:rPr>
              <a:t>Preparation:</a:t>
            </a:r>
            <a:r>
              <a:rPr sz="1200" b="1" spc="-37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chemeClr val="bg1"/>
                </a:solidFill>
                <a:latin typeface="DejaVu Sans"/>
                <a:cs typeface="DejaVu Sans"/>
              </a:rPr>
              <a:t>Using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chemeClr val="bg1"/>
                </a:solidFill>
                <a:latin typeface="DejaVu Sans"/>
                <a:cs typeface="DejaVu Sans"/>
              </a:rPr>
              <a:t>Build </a:t>
            </a:r>
            <a:r>
              <a:rPr sz="1200" b="1" spc="-15" dirty="0">
                <a:solidFill>
                  <a:schemeClr val="bg1"/>
                </a:solidFill>
                <a:latin typeface="DejaVu Sans"/>
                <a:cs typeface="DejaVu Sans"/>
              </a:rPr>
              <a:t>Data</a:t>
            </a:r>
            <a:r>
              <a:rPr sz="12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b="1" spc="-41" dirty="0">
                <a:solidFill>
                  <a:schemeClr val="bg1"/>
                </a:solidFill>
                <a:latin typeface="DejaVu Sans"/>
                <a:cs typeface="DejaVu Sans"/>
              </a:rPr>
              <a:t>Table</a:t>
            </a:r>
            <a:r>
              <a:rPr sz="1200" b="1" spc="-18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chemeClr val="bg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chemeClr val="bg1"/>
                </a:solidFill>
                <a:latin typeface="DejaVu Sans"/>
                <a:cs typeface="DejaVu Sans"/>
              </a:rPr>
              <a:t>Add</a:t>
            </a:r>
            <a:r>
              <a:rPr sz="12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chemeClr val="bg1"/>
                </a:solidFill>
                <a:latin typeface="DejaVu Sans"/>
                <a:cs typeface="DejaVu Sans"/>
              </a:rPr>
              <a:t>Data</a:t>
            </a:r>
            <a:r>
              <a:rPr sz="12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chemeClr val="bg1"/>
                </a:solidFill>
                <a:latin typeface="DejaVu Sans"/>
                <a:cs typeface="DejaVu Sans"/>
              </a:rPr>
              <a:t>Rows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.</a:t>
            </a:r>
          </a:p>
          <a:p>
            <a:pPr marL="0" marR="0">
              <a:lnSpc>
                <a:spcPts val="1368"/>
              </a:lnSpc>
              <a:spcBef>
                <a:spcPts val="606"/>
              </a:spcBef>
              <a:spcAft>
                <a:spcPts val="0"/>
              </a:spcAft>
            </a:pPr>
            <a:r>
              <a:rPr sz="1200" b="1" dirty="0">
                <a:solidFill>
                  <a:schemeClr val="bg1"/>
                </a:solidFill>
                <a:latin typeface="DejaVu Sans"/>
                <a:cs typeface="DejaVu Sans"/>
              </a:rPr>
              <a:t>&gt;</a:t>
            </a:r>
            <a:r>
              <a:rPr sz="1200" b="1" spc="-28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chemeClr val="bg1"/>
                </a:solidFill>
                <a:latin typeface="DejaVu Sans"/>
                <a:cs typeface="DejaVu Sans"/>
              </a:rPr>
              <a:t>Processing:</a:t>
            </a:r>
            <a:r>
              <a:rPr sz="1200" b="1" spc="-37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chemeClr val="bg1"/>
                </a:solidFill>
                <a:latin typeface="DejaVu Sans"/>
                <a:cs typeface="DejaVu Sans"/>
              </a:rPr>
              <a:t>Iterating</a:t>
            </a:r>
            <a:r>
              <a:rPr sz="1200" spc="-11" dirty="0">
                <a:solidFill>
                  <a:schemeClr val="bg1"/>
                </a:solidFill>
                <a:latin typeface="DejaVu Sans"/>
                <a:cs typeface="DejaVu Sans"/>
              </a:rPr>
              <a:t> with</a:t>
            </a:r>
            <a:r>
              <a:rPr sz="1200" spc="-1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b="1" spc="-40" dirty="0">
                <a:solidFill>
                  <a:schemeClr val="bg1"/>
                </a:solidFill>
                <a:latin typeface="DejaVu Sans"/>
                <a:cs typeface="DejaVu Sans"/>
              </a:rPr>
              <a:t>For</a:t>
            </a:r>
            <a:r>
              <a:rPr sz="1200" b="1" spc="2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chemeClr val="bg1"/>
                </a:solidFill>
                <a:latin typeface="DejaVu Sans"/>
                <a:cs typeface="DejaVu Sans"/>
              </a:rPr>
              <a:t>Each</a:t>
            </a:r>
            <a:r>
              <a:rPr sz="1200" b="1" spc="-1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chemeClr val="bg1"/>
                </a:solidFill>
                <a:latin typeface="DejaVu Sans"/>
                <a:cs typeface="DejaVu Sans"/>
              </a:rPr>
              <a:t>Row</a:t>
            </a:r>
            <a:r>
              <a:rPr sz="1200" b="1" spc="-47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chemeClr val="bg1"/>
                </a:solidFill>
                <a:latin typeface="DejaVu Sans"/>
                <a:cs typeface="DejaVu Sans"/>
              </a:rPr>
              <a:t>or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chemeClr val="bg1"/>
                </a:solidFill>
                <a:latin typeface="DejaVu Sans"/>
                <a:cs typeface="DejaVu Sans"/>
              </a:rPr>
              <a:t>selecting</a:t>
            </a:r>
            <a:r>
              <a:rPr sz="1200" spc="-1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chemeClr val="bg1"/>
                </a:solidFill>
                <a:latin typeface="DejaVu Sans"/>
                <a:cs typeface="DejaVu Sans"/>
              </a:rPr>
              <a:t>with</a:t>
            </a:r>
            <a:r>
              <a:rPr sz="1200" spc="-1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b="1" spc="-11" dirty="0">
                <a:solidFill>
                  <a:schemeClr val="bg1"/>
                </a:solidFill>
                <a:latin typeface="DejaVu Sans"/>
                <a:cs typeface="DejaVu Sans"/>
              </a:rPr>
              <a:t>Filter</a:t>
            </a:r>
            <a:r>
              <a:rPr sz="12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chemeClr val="bg1"/>
                </a:solidFill>
                <a:latin typeface="DejaVu Sans"/>
                <a:cs typeface="DejaVu Sans"/>
              </a:rPr>
              <a:t>Data</a:t>
            </a:r>
            <a:r>
              <a:rPr sz="12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b="1" spc="-41" dirty="0">
                <a:solidFill>
                  <a:schemeClr val="bg1"/>
                </a:solidFill>
                <a:latin typeface="DejaVu Sans"/>
                <a:cs typeface="DejaVu Sans"/>
              </a:rPr>
              <a:t>Table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.</a:t>
            </a:r>
          </a:p>
          <a:p>
            <a:pPr marL="0" marR="0">
              <a:lnSpc>
                <a:spcPts val="1368"/>
              </a:lnSpc>
              <a:spcBef>
                <a:spcPts val="581"/>
              </a:spcBef>
              <a:spcAft>
                <a:spcPts val="0"/>
              </a:spcAft>
            </a:pPr>
            <a:r>
              <a:rPr sz="1200" b="1" dirty="0">
                <a:solidFill>
                  <a:schemeClr val="bg1"/>
                </a:solidFill>
                <a:latin typeface="DejaVu Sans"/>
                <a:cs typeface="DejaVu Sans"/>
              </a:rPr>
              <a:t>&gt;</a:t>
            </a:r>
            <a:r>
              <a:rPr sz="1200" b="1" spc="-28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chemeClr val="bg1"/>
                </a:solidFill>
                <a:latin typeface="DejaVu Sans"/>
                <a:cs typeface="DejaVu Sans"/>
              </a:rPr>
              <a:t>Output:</a:t>
            </a:r>
            <a:r>
              <a:rPr sz="1200" b="1" spc="-37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chemeClr val="bg1"/>
                </a:solidFill>
                <a:latin typeface="DejaVu Sans"/>
                <a:cs typeface="DejaVu Sans"/>
              </a:rPr>
              <a:t>Writing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chemeClr val="bg1"/>
                </a:solidFill>
                <a:latin typeface="DejaVu Sans"/>
                <a:cs typeface="DejaVu Sans"/>
              </a:rPr>
              <a:t>processed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chemeClr val="bg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chemeClr val="bg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chemeClr val="bg1"/>
                </a:solidFill>
                <a:latin typeface="DejaVu Sans"/>
                <a:cs typeface="DejaVu Sans"/>
              </a:rPr>
              <a:t>new</a:t>
            </a:r>
            <a:r>
              <a:rPr sz="1200" spc="-12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chemeClr val="bg1"/>
                </a:solidFill>
                <a:latin typeface="DejaVu Sans"/>
                <a:cs typeface="DejaVu Sans"/>
              </a:rPr>
              <a:t>ﬁles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chemeClr val="bg1"/>
                </a:solidFill>
                <a:latin typeface="DejaVu Sans"/>
                <a:cs typeface="DejaVu Sans"/>
              </a:rPr>
              <a:t>or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chemeClr val="bg1"/>
                </a:solidFill>
                <a:latin typeface="DejaVu Sans"/>
                <a:cs typeface="DejaVu Sans"/>
              </a:rPr>
              <a:t>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550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6249" y="356369"/>
            <a:ext cx="10148196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5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30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3000" b="1" spc="-67" dirty="0">
                <a:solidFill>
                  <a:srgbClr val="ECF0F1"/>
                </a:solidFill>
                <a:latin typeface="DejaVu Sans"/>
                <a:cs typeface="DejaVu Sans"/>
              </a:rPr>
              <a:t>Table</a:t>
            </a:r>
            <a:r>
              <a:rPr sz="3000" b="1" spc="9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ECF0F1"/>
                </a:solidFill>
                <a:latin typeface="DejaVu Sans"/>
                <a:cs typeface="DejaVu Sans"/>
              </a:rPr>
              <a:t>Usage</a:t>
            </a:r>
            <a:r>
              <a:rPr sz="30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ECF0F1"/>
                </a:solidFill>
                <a:latin typeface="DejaVu Sans"/>
                <a:cs typeface="DejaVu Sans"/>
              </a:rPr>
              <a:t>Example:</a:t>
            </a:r>
            <a:r>
              <a:rPr sz="30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ECF0F1"/>
                </a:solidFill>
                <a:latin typeface="DejaVu Sans"/>
                <a:cs typeface="DejaVu Sans"/>
              </a:rPr>
              <a:t>Employee</a:t>
            </a:r>
            <a:r>
              <a:rPr sz="30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ECF0F1"/>
                </a:solidFill>
                <a:latin typeface="DejaVu Sans"/>
                <a:cs typeface="DejaVu Sans"/>
              </a:rPr>
              <a:t>Records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6249" y="951446"/>
            <a:ext cx="8233689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chemeClr val="bg1"/>
                </a:solidFill>
                <a:latin typeface="DejaVu Sans"/>
                <a:cs typeface="DejaVu Sans"/>
              </a:rPr>
              <a:t>Scenario:</a:t>
            </a:r>
            <a:r>
              <a:rPr sz="20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chemeClr val="bg1"/>
                </a:solidFill>
                <a:latin typeface="DejaVu Sans"/>
                <a:cs typeface="DejaVu Sans"/>
              </a:rPr>
              <a:t>Automating</a:t>
            </a:r>
            <a:r>
              <a:rPr sz="20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chemeClr val="bg1"/>
                </a:solidFill>
                <a:latin typeface="DejaVu Sans"/>
                <a:cs typeface="DejaVu Sans"/>
              </a:rPr>
              <a:t>Employee</a:t>
            </a:r>
            <a:r>
              <a:rPr sz="2000" b="1" dirty="0">
                <a:solidFill>
                  <a:schemeClr val="bg1"/>
                </a:solidFill>
                <a:latin typeface="DejaVu Sans"/>
                <a:cs typeface="DejaVu Sans"/>
              </a:rPr>
              <a:t> Information Processing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dirty="0">
                <a:solidFill>
                  <a:schemeClr val="bg1"/>
                </a:solidFill>
                <a:latin typeface="DejaVu Sans"/>
                <a:cs typeface="DejaVu Sans"/>
              </a:rPr>
              <a:t>from</a:t>
            </a:r>
            <a:r>
              <a:rPr sz="2000" b="1" spc="12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2000" b="1" spc="30" dirty="0">
                <a:solidFill>
                  <a:schemeClr val="bg1"/>
                </a:solidFill>
                <a:latin typeface="DejaVu Sans"/>
                <a:cs typeface="DejaVu Sans"/>
              </a:rPr>
              <a:t>CSV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76249" y="1725989"/>
            <a:ext cx="8217298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A common business challenge involves processing new or updated employee data </a:t>
            </a:r>
            <a:r>
              <a:rPr sz="1350" spc="-12" dirty="0">
                <a:solidFill>
                  <a:srgbClr val="ECF0F1"/>
                </a:solidFill>
                <a:latin typeface="DejaVu Sans"/>
                <a:cs typeface="DejaVu Sans"/>
              </a:rPr>
              <a:t>from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a CSV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ﬁle. Manually handling these </a:t>
            </a:r>
            <a:r>
              <a:rPr sz="1350" spc="-12" dirty="0">
                <a:solidFill>
                  <a:srgbClr val="ECF0F1"/>
                </a:solidFill>
                <a:latin typeface="DejaVu Sans"/>
                <a:cs typeface="DejaVu Sans"/>
              </a:rPr>
              <a:t>records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is ineﬃcient and </a:t>
            </a: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prone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to </a:t>
            </a:r>
            <a:r>
              <a:rPr sz="1350" spc="-11" dirty="0">
                <a:solidFill>
                  <a:srgbClr val="ECF0F1"/>
                </a:solidFill>
                <a:latin typeface="DejaVu Sans"/>
                <a:cs typeface="DejaVu Sans"/>
              </a:rPr>
              <a:t>errors.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6249" y="2326064"/>
            <a:ext cx="8119764" cy="741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4" dirty="0">
                <a:solidFill>
                  <a:srgbClr val="ECF0F1"/>
                </a:solidFill>
                <a:latin typeface="DejaVu Sans"/>
                <a:cs typeface="DejaVu Sans"/>
              </a:rPr>
              <a:t>UiPath,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leveraging Data </a:t>
            </a:r>
            <a:r>
              <a:rPr sz="1350" spc="-34" dirty="0">
                <a:solidFill>
                  <a:srgbClr val="ECF0F1"/>
                </a:solidFill>
                <a:latin typeface="DejaVu Sans"/>
                <a:cs typeface="DejaVu Sans"/>
              </a:rPr>
              <a:t>Tables,</a:t>
            </a:r>
            <a:r>
              <a:rPr sz="1350" spc="3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oﬀers a </a:t>
            </a: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robust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solution for automating this process. This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example outlines a workﬂow to </a:t>
            </a:r>
            <a:r>
              <a:rPr sz="1350" spc="-14" dirty="0">
                <a:solidFill>
                  <a:srgbClr val="ECF0F1"/>
                </a:solidFill>
                <a:latin typeface="DejaVu Sans"/>
                <a:cs typeface="DejaVu Sans"/>
              </a:rPr>
              <a:t>read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employee information, display it, and then perform data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enrichment.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6249" y="3438980"/>
            <a:ext cx="4326770" cy="551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chemeClr val="bg1"/>
                </a:solidFill>
                <a:latin typeface="DejaVu Sans"/>
                <a:cs typeface="DejaVu Sans"/>
              </a:rPr>
              <a:t>Step-by-Step</a:t>
            </a:r>
            <a:r>
              <a:rPr sz="17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700" b="1" spc="-23" dirty="0">
                <a:solidFill>
                  <a:schemeClr val="bg1"/>
                </a:solidFill>
                <a:latin typeface="DejaVu Sans"/>
                <a:cs typeface="DejaVu Sans"/>
              </a:rPr>
              <a:t>Workﬂow:</a:t>
            </a:r>
            <a:r>
              <a:rPr sz="17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chemeClr val="bg1"/>
                </a:solidFill>
                <a:latin typeface="DejaVu Sans"/>
                <a:cs typeface="DejaVu Sans"/>
              </a:rPr>
              <a:t>Reading</a:t>
            </a:r>
            <a:r>
              <a:rPr sz="1700" b="1" dirty="0">
                <a:solidFill>
                  <a:schemeClr val="bg1"/>
                </a:solidFill>
                <a:latin typeface="DejaVu Sans"/>
                <a:cs typeface="DejaVu Sans"/>
              </a:rPr>
              <a:t> &amp;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8" dirty="0">
                <a:solidFill>
                  <a:schemeClr val="bg1"/>
                </a:solidFill>
                <a:latin typeface="DejaVu Sans"/>
                <a:cs typeface="DejaVu Sans"/>
              </a:rPr>
              <a:t>Displaying</a:t>
            </a:r>
            <a:r>
              <a:rPr sz="17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chemeClr val="bg1"/>
                </a:solidFill>
                <a:latin typeface="DejaVu Sans"/>
                <a:cs typeface="DejaVu Sans"/>
              </a:rPr>
              <a:t>Data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66556" y="3438980"/>
            <a:ext cx="4092230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chemeClr val="bg1"/>
                </a:solidFill>
                <a:latin typeface="DejaVu Sans"/>
                <a:cs typeface="DejaVu Sans"/>
              </a:rPr>
              <a:t>Conceptual</a:t>
            </a:r>
            <a:r>
              <a:rPr sz="17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chemeClr val="bg1"/>
                </a:solidFill>
                <a:latin typeface="DejaVu Sans"/>
                <a:cs typeface="DejaVu Sans"/>
              </a:rPr>
              <a:t>Employee</a:t>
            </a:r>
            <a:r>
              <a:rPr sz="17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chemeClr val="bg1"/>
                </a:solidFill>
                <a:latin typeface="DejaVu Sans"/>
                <a:cs typeface="DejaVu Sans"/>
              </a:rPr>
              <a:t>Data</a:t>
            </a:r>
            <a:r>
              <a:rPr sz="17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700" b="1" spc="-52" dirty="0">
                <a:solidFill>
                  <a:schemeClr val="bg1"/>
                </a:solidFill>
                <a:latin typeface="DejaVu Sans"/>
                <a:cs typeface="DejaVu Sans"/>
              </a:rPr>
              <a:t>Table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266556" y="3860344"/>
            <a:ext cx="228373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Initial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loaded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from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49" dirty="0">
                <a:solidFill>
                  <a:srgbClr val="ECF0F1"/>
                </a:solidFill>
                <a:latin typeface="DejaVu Sans"/>
                <a:cs typeface="DejaVu Sans"/>
              </a:rPr>
              <a:t>CSV: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28092" y="4173160"/>
            <a:ext cx="1928784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1. Read </a:t>
            </a:r>
            <a:r>
              <a:rPr sz="1500" b="1" spc="23" dirty="0">
                <a:solidFill>
                  <a:srgbClr val="ECF0F1"/>
                </a:solidFill>
                <a:latin typeface="DejaVu Sans"/>
                <a:cs typeface="DejaVu Sans"/>
              </a:rPr>
              <a:t>CSV</a:t>
            </a: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 File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94548" y="4295025"/>
            <a:ext cx="2199493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Employee ID | Name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260368" y="4295025"/>
            <a:ext cx="2301843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Department | Salary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28092" y="4460419"/>
            <a:ext cx="5136886" cy="859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Utilize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the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Read </a:t>
            </a:r>
            <a:r>
              <a:rPr sz="1200" spc="-10" dirty="0">
                <a:solidFill>
                  <a:srgbClr val="ECF0F1"/>
                </a:solidFill>
                <a:latin typeface="Liberation Mono"/>
                <a:cs typeface="Liberation Mono"/>
              </a:rPr>
              <a:t>CSV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activity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import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structured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employee</a:t>
            </a:r>
          </a:p>
          <a:p>
            <a:pPr marL="0" marR="0">
              <a:lnSpc>
                <a:spcPts val="1368"/>
              </a:lnSpc>
              <a:spcBef>
                <a:spcPts val="230"/>
              </a:spcBef>
              <a:spcAft>
                <a:spcPts val="0"/>
              </a:spcAft>
            </a:pP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directly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into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a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 UiPath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49" dirty="0">
                <a:solidFill>
                  <a:srgbClr val="ECF0F1"/>
                </a:solidFill>
                <a:latin typeface="DejaVu Sans"/>
                <a:cs typeface="DejaVu Sans"/>
              </a:rPr>
              <a:t>Table</a:t>
            </a:r>
            <a:r>
              <a:rPr sz="1200" spc="25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variable.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This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activity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eﬃciently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parses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CSV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content,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automatically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creating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columns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rows.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394548" y="4533150"/>
            <a:ext cx="254829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94548" y="4771275"/>
            <a:ext cx="5273870" cy="469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|-------------|-------------|------------|--------</a:t>
            </a:r>
          </a:p>
          <a:p>
            <a:pPr marL="0" marR="0">
              <a:lnSpc>
                <a:spcPts val="1522"/>
              </a:lnSpc>
              <a:spcBef>
                <a:spcPts val="352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--|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394548" y="5247525"/>
            <a:ext cx="766583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1001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827458" y="5247525"/>
            <a:ext cx="2301843" cy="11839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Alice Smith | HR</a:t>
            </a:r>
          </a:p>
          <a:p>
            <a:pPr marL="0" marR="0">
              <a:lnSpc>
                <a:spcPts val="1522"/>
              </a:lnSpc>
              <a:spcBef>
                <a:spcPts val="2277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Bob Johnson | IT</a:t>
            </a:r>
          </a:p>
          <a:p>
            <a:pPr marL="0" marR="0">
              <a:lnSpc>
                <a:spcPts val="1522"/>
              </a:lnSpc>
              <a:spcBef>
                <a:spcPts val="2227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Carol White | Sales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590927" y="5247525"/>
            <a:ext cx="971284" cy="16602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60,000</a:t>
            </a:r>
          </a:p>
          <a:p>
            <a:pPr marL="0" marR="0">
              <a:lnSpc>
                <a:spcPts val="1522"/>
              </a:lnSpc>
              <a:spcBef>
                <a:spcPts val="2277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75,000</a:t>
            </a:r>
          </a:p>
          <a:p>
            <a:pPr marL="0" marR="0">
              <a:lnSpc>
                <a:spcPts val="1522"/>
              </a:lnSpc>
              <a:spcBef>
                <a:spcPts val="2227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65,000</a:t>
            </a:r>
          </a:p>
          <a:p>
            <a:pPr marL="0" marR="0">
              <a:lnSpc>
                <a:spcPts val="1522"/>
              </a:lnSpc>
              <a:spcBef>
                <a:spcPts val="2277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...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28092" y="5468560"/>
            <a:ext cx="297159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2. Process Data with Loop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394548" y="5485650"/>
            <a:ext cx="254829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394548" y="5723775"/>
            <a:ext cx="766583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1002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928092" y="5746294"/>
            <a:ext cx="4931054" cy="650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Employ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For Each Row in Data </a:t>
            </a:r>
            <a:r>
              <a:rPr sz="1200" spc="-11" dirty="0">
                <a:solidFill>
                  <a:srgbClr val="ECF0F1"/>
                </a:solidFill>
                <a:latin typeface="Liberation Mono"/>
                <a:cs typeface="Liberation Mono"/>
              </a:rPr>
              <a:t>Table</a:t>
            </a:r>
            <a:r>
              <a:rPr sz="1200" spc="-28" dirty="0">
                <a:solidFill>
                  <a:srgbClr val="ECF0F1"/>
                </a:solidFill>
                <a:latin typeface="DejaVu Sans"/>
                <a:cs typeface="DejaVu Sans"/>
              </a:rPr>
              <a:t>activity.</a:t>
            </a:r>
            <a:r>
              <a:rPr sz="1200" spc="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This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crucial</a:t>
            </a:r>
          </a:p>
          <a:p>
            <a:pPr marL="0" marR="0">
              <a:lnSpc>
                <a:spcPts val="1368"/>
              </a:lnSpc>
              <a:spcBef>
                <a:spcPts val="230"/>
              </a:spcBef>
              <a:spcAft>
                <a:spcPts val="0"/>
              </a:spcAft>
            </a:pP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step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iterates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through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each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individual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employee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record,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allowing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granular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processing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of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each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38" dirty="0">
                <a:solidFill>
                  <a:srgbClr val="ECF0F1"/>
                </a:solidFill>
                <a:latin typeface="DejaVu Sans"/>
                <a:cs typeface="DejaVu Sans"/>
              </a:rPr>
              <a:t>entry.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394548" y="5961900"/>
            <a:ext cx="254829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394548" y="6200025"/>
            <a:ext cx="766583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1003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394548" y="6438150"/>
            <a:ext cx="254829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928092" y="6544885"/>
            <a:ext cx="2558089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3. Display</a:t>
            </a:r>
            <a:r>
              <a:rPr sz="1500" b="1" spc="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Information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394548" y="6676274"/>
            <a:ext cx="664231" cy="469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...</a:t>
            </a:r>
          </a:p>
          <a:p>
            <a:pPr marL="0" marR="0">
              <a:lnSpc>
                <a:spcPts val="1522"/>
              </a:lnSpc>
              <a:spcBef>
                <a:spcPts val="352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827458" y="6676274"/>
            <a:ext cx="664232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...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9260368" y="6676274"/>
            <a:ext cx="664232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...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928092" y="6822619"/>
            <a:ext cx="5139243" cy="440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Within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loop,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use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activities 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like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Write </a:t>
            </a:r>
            <a:r>
              <a:rPr sz="1200" spc="-10" dirty="0">
                <a:solidFill>
                  <a:srgbClr val="ECF0F1"/>
                </a:solidFill>
                <a:latin typeface="Liberation Mono"/>
                <a:cs typeface="Liberation Mono"/>
              </a:rPr>
              <a:t>Line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(for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console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output)</a:t>
            </a:r>
          </a:p>
          <a:p>
            <a:pPr marL="0" marR="0">
              <a:lnSpc>
                <a:spcPts val="1368"/>
              </a:lnSpc>
              <a:spcBef>
                <a:spcPts val="23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Message </a:t>
            </a:r>
            <a:r>
              <a:rPr sz="1200" spc="-10" dirty="0">
                <a:solidFill>
                  <a:srgbClr val="ECF0F1"/>
                </a:solidFill>
                <a:latin typeface="Liberation Mono"/>
                <a:cs typeface="Liberation Mono"/>
              </a:rPr>
              <a:t>Box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showcase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selected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employee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details.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6266556" y="7451269"/>
            <a:ext cx="527981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table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after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manipulation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(Bonus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column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added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populated):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76249" y="7534730"/>
            <a:ext cx="5515993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chemeClr val="bg1"/>
                </a:solidFill>
                <a:latin typeface="DejaVu Sans"/>
                <a:cs typeface="DejaVu Sans"/>
              </a:rPr>
              <a:t>Data</a:t>
            </a:r>
            <a:r>
              <a:rPr sz="17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chemeClr val="bg1"/>
                </a:solidFill>
                <a:latin typeface="DejaVu Sans"/>
                <a:cs typeface="DejaVu Sans"/>
              </a:rPr>
              <a:t>Manipulation:</a:t>
            </a:r>
            <a:r>
              <a:rPr sz="17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chemeClr val="bg1"/>
                </a:solidFill>
                <a:latin typeface="DejaVu Sans"/>
                <a:cs typeface="DejaVu Sans"/>
              </a:rPr>
              <a:t>Adding</a:t>
            </a:r>
            <a:r>
              <a:rPr sz="1700" b="1" dirty="0">
                <a:solidFill>
                  <a:schemeClr val="bg1"/>
                </a:solidFill>
                <a:latin typeface="DejaVu Sans"/>
                <a:cs typeface="DejaVu Sans"/>
              </a:rPr>
              <a:t> a</a:t>
            </a:r>
            <a:r>
              <a:rPr sz="1700" b="1" spc="-2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chemeClr val="bg1"/>
                </a:solidFill>
                <a:latin typeface="DejaVu Sans"/>
                <a:cs typeface="DejaVu Sans"/>
              </a:rPr>
              <a:t>'Bonus'</a:t>
            </a:r>
            <a:r>
              <a:rPr sz="17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chemeClr val="bg1"/>
                </a:solidFill>
                <a:latin typeface="DejaVu Sans"/>
                <a:cs typeface="DejaVu Sans"/>
              </a:rPr>
              <a:t>Column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6394548" y="7885949"/>
            <a:ext cx="2199493" cy="469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Employee ID | Name</a:t>
            </a:r>
          </a:p>
          <a:p>
            <a:pPr marL="0" marR="0">
              <a:lnSpc>
                <a:spcPts val="1522"/>
              </a:lnSpc>
              <a:spcBef>
                <a:spcPts val="352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Bonus</a:t>
            </a:r>
            <a:r>
              <a:rPr sz="1350" spc="1607" dirty="0">
                <a:solidFill>
                  <a:srgbClr val="2C3E50"/>
                </a:solidFill>
                <a:latin typeface="Liberation Mono"/>
                <a:cs typeface="Liberation Mono"/>
              </a:rPr>
              <a:t> </a:t>
            </a: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9260368" y="7885949"/>
            <a:ext cx="2301843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Department | Salary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928092" y="7964110"/>
            <a:ext cx="2840261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1. Add New Data Column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928092" y="8251369"/>
            <a:ext cx="5056785" cy="43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Use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Add Data </a:t>
            </a:r>
            <a:r>
              <a:rPr sz="1200" spc="-11" dirty="0">
                <a:solidFill>
                  <a:srgbClr val="ECF0F1"/>
                </a:solidFill>
                <a:latin typeface="Liberation Mono"/>
                <a:cs typeface="Liberation Mono"/>
              </a:rPr>
              <a:t>Column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activity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introduce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a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new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column,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</a:p>
          <a:p>
            <a:pPr marL="0" marR="0">
              <a:lnSpc>
                <a:spcPts val="1368"/>
              </a:lnSpc>
              <a:spcBef>
                <a:spcPts val="230"/>
              </a:spcBef>
              <a:spcAft>
                <a:spcPts val="0"/>
              </a:spcAft>
            </a:pP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instance,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'Bonus',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the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existing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43" dirty="0">
                <a:solidFill>
                  <a:srgbClr val="ECF0F1"/>
                </a:solidFill>
                <a:latin typeface="DejaVu Sans"/>
                <a:cs typeface="DejaVu Sans"/>
              </a:rPr>
              <a:t>Table.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6394548" y="8362199"/>
            <a:ext cx="5273870" cy="469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|-------------|-------------|------------|--------</a:t>
            </a:r>
          </a:p>
          <a:p>
            <a:pPr marL="0" marR="0">
              <a:lnSpc>
                <a:spcPts val="1522"/>
              </a:lnSpc>
              <a:spcBef>
                <a:spcPts val="352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--|---------|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928092" y="8830885"/>
            <a:ext cx="3585240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2. Populate New Column Values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6394548" y="8838449"/>
            <a:ext cx="766583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1001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7827458" y="8838449"/>
            <a:ext cx="2301843" cy="11839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Alice Smith | HR</a:t>
            </a:r>
          </a:p>
          <a:p>
            <a:pPr marL="0" marR="0">
              <a:lnSpc>
                <a:spcPts val="1522"/>
              </a:lnSpc>
              <a:spcBef>
                <a:spcPts val="2277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Bob Johnson | IT</a:t>
            </a:r>
          </a:p>
          <a:p>
            <a:pPr marL="0" marR="0">
              <a:lnSpc>
                <a:spcPts val="1522"/>
              </a:lnSpc>
              <a:spcBef>
                <a:spcPts val="2227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Carol White | Sales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10590927" y="8838449"/>
            <a:ext cx="971284" cy="16602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60,000</a:t>
            </a:r>
          </a:p>
          <a:p>
            <a:pPr marL="0" marR="0">
              <a:lnSpc>
                <a:spcPts val="1522"/>
              </a:lnSpc>
              <a:spcBef>
                <a:spcPts val="2277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75,000</a:t>
            </a:r>
          </a:p>
          <a:p>
            <a:pPr marL="0" marR="0">
              <a:lnSpc>
                <a:spcPts val="1522"/>
              </a:lnSpc>
              <a:spcBef>
                <a:spcPts val="2227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65,000</a:t>
            </a:r>
          </a:p>
          <a:p>
            <a:pPr marL="0" marR="0">
              <a:lnSpc>
                <a:spcPts val="1522"/>
              </a:lnSpc>
              <a:spcBef>
                <a:spcPts val="2277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...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6394548" y="9076574"/>
            <a:ext cx="1278336" cy="469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6,000</a:t>
            </a:r>
            <a:r>
              <a:rPr sz="1350" spc="1607" dirty="0">
                <a:solidFill>
                  <a:srgbClr val="2C3E50"/>
                </a:solidFill>
                <a:latin typeface="Liberation Mono"/>
                <a:cs typeface="Liberation Mono"/>
              </a:rPr>
              <a:t> </a:t>
            </a: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</a:t>
            </a:r>
          </a:p>
          <a:p>
            <a:pPr marL="0" marR="0">
              <a:lnSpc>
                <a:spcPts val="1522"/>
              </a:lnSpc>
              <a:spcBef>
                <a:spcPts val="352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1002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928092" y="9108619"/>
            <a:ext cx="4787808" cy="640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Iterate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through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49" dirty="0">
                <a:solidFill>
                  <a:srgbClr val="ECF0F1"/>
                </a:solidFill>
                <a:latin typeface="DejaVu Sans"/>
                <a:cs typeface="DejaVu Sans"/>
              </a:rPr>
              <a:t>Table</a:t>
            </a:r>
            <a:r>
              <a:rPr sz="1200" spc="25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again.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36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1200" spc="1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each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employee,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calculate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their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bonus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assign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this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value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the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new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'Bonus'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column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that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speciﬁc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60" dirty="0">
                <a:solidFill>
                  <a:srgbClr val="ECF0F1"/>
                </a:solidFill>
                <a:latin typeface="DejaVu Sans"/>
                <a:cs typeface="DejaVu Sans"/>
              </a:rPr>
              <a:t>row.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6394548" y="9552824"/>
            <a:ext cx="1278336" cy="469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7,500</a:t>
            </a:r>
            <a:r>
              <a:rPr sz="1350" spc="1607" dirty="0">
                <a:solidFill>
                  <a:srgbClr val="2C3E50"/>
                </a:solidFill>
                <a:latin typeface="Liberation Mono"/>
                <a:cs typeface="Liberation Mono"/>
              </a:rPr>
              <a:t> </a:t>
            </a: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</a:t>
            </a:r>
          </a:p>
          <a:p>
            <a:pPr marL="0" marR="0">
              <a:lnSpc>
                <a:spcPts val="1522"/>
              </a:lnSpc>
              <a:spcBef>
                <a:spcPts val="352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1003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6394548" y="10029074"/>
            <a:ext cx="1278336" cy="469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6,500</a:t>
            </a:r>
            <a:r>
              <a:rPr sz="1350" spc="1607" dirty="0">
                <a:solidFill>
                  <a:srgbClr val="2C3E50"/>
                </a:solidFill>
                <a:latin typeface="Liberation Mono"/>
                <a:cs typeface="Liberation Mono"/>
              </a:rPr>
              <a:t> </a:t>
            </a: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</a:t>
            </a:r>
          </a:p>
          <a:p>
            <a:pPr marL="0" marR="0">
              <a:lnSpc>
                <a:spcPts val="1522"/>
              </a:lnSpc>
              <a:spcBef>
                <a:spcPts val="352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...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7827458" y="10267199"/>
            <a:ext cx="664232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...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9260368" y="10267199"/>
            <a:ext cx="664232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...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6394548" y="10514849"/>
            <a:ext cx="664231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 ...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7418055" y="10514849"/>
            <a:ext cx="254829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2C3E50"/>
                </a:solidFill>
                <a:latin typeface="Liberation Mono"/>
                <a:cs typeface="Liberation Mono"/>
              </a:rPr>
              <a:t>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1710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69283"/>
            <a:ext cx="5899703" cy="421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16"/>
              </a:lnSpc>
              <a:spcBef>
                <a:spcPts val="0"/>
              </a:spcBef>
              <a:spcAft>
                <a:spcPts val="0"/>
              </a:spcAft>
            </a:pPr>
            <a:r>
              <a:rPr sz="2600" b="1" dirty="0">
                <a:solidFill>
                  <a:srgbClr val="ECF0F1"/>
                </a:solidFill>
                <a:latin typeface="DejaVu Sans"/>
                <a:cs typeface="DejaVu Sans"/>
              </a:rPr>
              <a:t>Introduction to File Operations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909197"/>
            <a:ext cx="5053421" cy="293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1"/>
              </a:lnSpc>
              <a:spcBef>
                <a:spcPts val="0"/>
              </a:spcBef>
              <a:spcAft>
                <a:spcPts val="0"/>
              </a:spcAft>
            </a:pPr>
            <a:r>
              <a:rPr sz="1750" b="1" spc="-15" dirty="0">
                <a:solidFill>
                  <a:srgbClr val="E67E22"/>
                </a:solidFill>
                <a:latin typeface="DejaVu Sans"/>
                <a:cs typeface="DejaVu Sans"/>
              </a:rPr>
              <a:t>The</a:t>
            </a:r>
            <a:r>
              <a:rPr sz="1750" b="1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1750" b="1" spc="-12" dirty="0">
                <a:solidFill>
                  <a:srgbClr val="E67E22"/>
                </a:solidFill>
                <a:latin typeface="DejaVu Sans"/>
                <a:cs typeface="DejaVu Sans"/>
              </a:rPr>
              <a:t>Crucial</a:t>
            </a:r>
            <a:r>
              <a:rPr sz="1750" b="1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1750" b="1" spc="-14" dirty="0">
                <a:solidFill>
                  <a:srgbClr val="E67E22"/>
                </a:solidFill>
                <a:latin typeface="DejaVu Sans"/>
                <a:cs typeface="DejaVu Sans"/>
              </a:rPr>
              <a:t>Role</a:t>
            </a:r>
            <a:r>
              <a:rPr sz="1750" b="1" spc="-10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1750" b="1" spc="-15" dirty="0">
                <a:solidFill>
                  <a:srgbClr val="E67E22"/>
                </a:solidFill>
                <a:latin typeface="DejaVu Sans"/>
                <a:cs typeface="DejaVu Sans"/>
              </a:rPr>
              <a:t>of</a:t>
            </a:r>
            <a:r>
              <a:rPr sz="1750" b="1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1750" b="1" spc="-10" dirty="0">
                <a:solidFill>
                  <a:srgbClr val="E67E22"/>
                </a:solidFill>
                <a:latin typeface="DejaVu Sans"/>
                <a:cs typeface="DejaVu Sans"/>
              </a:rPr>
              <a:t>File</a:t>
            </a:r>
            <a:r>
              <a:rPr sz="1750" b="1" spc="-12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1750" b="1" spc="-14" dirty="0">
                <a:solidFill>
                  <a:srgbClr val="E67E22"/>
                </a:solidFill>
                <a:latin typeface="DejaVu Sans"/>
                <a:cs typeface="DejaVu Sans"/>
              </a:rPr>
              <a:t>Handling</a:t>
            </a:r>
            <a:r>
              <a:rPr sz="1750" b="1" spc="-10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1750" b="1" dirty="0">
                <a:solidFill>
                  <a:srgbClr val="E67E22"/>
                </a:solidFill>
                <a:latin typeface="DejaVu Sans"/>
                <a:cs typeface="DejaVu Sans"/>
              </a:rPr>
              <a:t>in</a:t>
            </a:r>
            <a:r>
              <a:rPr sz="1750" b="1" spc="-15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1750" b="1" spc="-63" dirty="0">
                <a:solidFill>
                  <a:srgbClr val="E67E22"/>
                </a:solidFill>
                <a:latin typeface="DejaVu Sans"/>
                <a:cs typeface="DejaVu Sans"/>
              </a:rPr>
              <a:t>RPA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0999" y="1310473"/>
            <a:ext cx="5582005" cy="64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ECF0F1"/>
                </a:solidFill>
                <a:latin typeface="DejaVu Sans"/>
                <a:cs typeface="DejaVu Sans"/>
              </a:rPr>
              <a:t>In Robotic Process Automation </a:t>
            </a:r>
            <a:r>
              <a:rPr sz="1150" spc="-14" dirty="0">
                <a:solidFill>
                  <a:srgbClr val="ECF0F1"/>
                </a:solidFill>
                <a:latin typeface="DejaVu Sans"/>
                <a:cs typeface="DejaVu Sans"/>
              </a:rPr>
              <a:t>(RPA),</a:t>
            </a:r>
            <a:r>
              <a:rPr sz="1150" spc="15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150" dirty="0">
                <a:solidFill>
                  <a:srgbClr val="ECF0F1"/>
                </a:solidFill>
                <a:latin typeface="DejaVu Sans"/>
                <a:cs typeface="DejaVu Sans"/>
              </a:rPr>
              <a:t>bots frequently interact with various</a:t>
            </a:r>
          </a:p>
          <a:p>
            <a:pPr marL="0" marR="0">
              <a:lnSpc>
                <a:spcPts val="1340"/>
              </a:lnSpc>
              <a:spcBef>
                <a:spcPts val="434"/>
              </a:spcBef>
              <a:spcAft>
                <a:spcPts val="0"/>
              </a:spcAft>
            </a:pPr>
            <a:r>
              <a:rPr sz="1150" dirty="0">
                <a:solidFill>
                  <a:srgbClr val="ECF0F1"/>
                </a:solidFill>
                <a:latin typeface="DejaVu Sans"/>
                <a:cs typeface="DejaVu Sans"/>
              </a:rPr>
              <a:t>ﬁle types to perform core business processes. Eﬀective ﬁle handling is</a:t>
            </a:r>
          </a:p>
          <a:p>
            <a:pPr marL="0" marR="0">
              <a:lnSpc>
                <a:spcPts val="1340"/>
              </a:lnSpc>
              <a:spcBef>
                <a:spcPts val="383"/>
              </a:spcBef>
              <a:spcAft>
                <a:spcPts val="0"/>
              </a:spcAft>
            </a:pPr>
            <a:r>
              <a:rPr sz="1150" dirty="0">
                <a:solidFill>
                  <a:srgbClr val="ECF0F1"/>
                </a:solidFill>
                <a:latin typeface="DejaVu Sans"/>
                <a:cs typeface="DejaVu Sans"/>
              </a:rPr>
              <a:t>paramount for seamless automation.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5999" y="2112666"/>
            <a:ext cx="472538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ECF0F1"/>
                </a:solidFill>
                <a:latin typeface="DejaVu Sans"/>
                <a:cs typeface="DejaVu Sans"/>
              </a:rPr>
              <a:t>Data Exchange and Persistence:</a:t>
            </a:r>
            <a:r>
              <a:rPr sz="1000" b="1" spc="-2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000" spc="-15" dirty="0">
                <a:solidFill>
                  <a:srgbClr val="ECF0F1"/>
                </a:solidFill>
                <a:latin typeface="DejaVu Sans"/>
                <a:cs typeface="DejaVu Sans"/>
              </a:rPr>
              <a:t>Files</a:t>
            </a:r>
            <a:r>
              <a:rPr sz="1000" spc="2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ECF0F1"/>
                </a:solidFill>
                <a:latin typeface="DejaVu Sans"/>
                <a:cs typeface="DejaVu Sans"/>
              </a:rPr>
              <a:t>serve as primary conduits for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0999" y="2337098"/>
            <a:ext cx="5212729" cy="549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CF0F1"/>
                </a:solidFill>
                <a:latin typeface="DejaVu Sans"/>
                <a:cs typeface="DejaVu Sans"/>
              </a:rPr>
              <a:t>exchanging data between systems (e.g., exporting data via CSV, or processing</a:t>
            </a:r>
          </a:p>
          <a:p>
            <a:pPr marL="0" marR="0">
              <a:lnSpc>
                <a:spcPts val="1173"/>
              </a:lnSpc>
              <a:spcBef>
                <a:spcPts val="201"/>
              </a:spcBef>
              <a:spcAft>
                <a:spcPts val="0"/>
              </a:spcAft>
            </a:pPr>
            <a:r>
              <a:rPr sz="1000" dirty="0">
                <a:solidFill>
                  <a:srgbClr val="ECF0F1"/>
                </a:solidFill>
                <a:latin typeface="DejaVu Sans"/>
                <a:cs typeface="DejaVu Sans"/>
              </a:rPr>
              <a:t>incoming invoices in PDF format). They also ensure information is stored and</a:t>
            </a:r>
          </a:p>
          <a:p>
            <a:pPr marL="0" marR="0">
              <a:lnSpc>
                <a:spcPts val="1173"/>
              </a:lnSpc>
              <a:spcBef>
                <a:spcPts val="201"/>
              </a:spcBef>
              <a:spcAft>
                <a:spcPts val="0"/>
              </a:spcAft>
            </a:pPr>
            <a:r>
              <a:rPr sz="1000" dirty="0">
                <a:solidFill>
                  <a:srgbClr val="ECF0F1"/>
                </a:solidFill>
                <a:latin typeface="DejaVu Sans"/>
                <a:cs typeface="DejaVu Sans"/>
              </a:rPr>
              <a:t>accessible across workﬂow stages.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15999" y="2988966"/>
            <a:ext cx="518000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ECF0F1"/>
                </a:solidFill>
                <a:latin typeface="DejaVu Sans"/>
                <a:cs typeface="DejaVu Sans"/>
              </a:rPr>
              <a:t>Workﬂow</a:t>
            </a:r>
            <a:r>
              <a:rPr sz="1000" b="1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ECF0F1"/>
                </a:solidFill>
                <a:latin typeface="DejaVu Sans"/>
                <a:cs typeface="DejaVu Sans"/>
              </a:rPr>
              <a:t>Integration and Compliance:</a:t>
            </a:r>
            <a:r>
              <a:rPr sz="1000" b="1" spc="-2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ECF0F1"/>
                </a:solidFill>
                <a:latin typeface="DejaVu Sans"/>
                <a:cs typeface="DejaVu Sans"/>
              </a:rPr>
              <a:t>Automation often involves reading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80999" y="3213398"/>
            <a:ext cx="5323906" cy="549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CF0F1"/>
                </a:solidFill>
                <a:latin typeface="DejaVu Sans"/>
                <a:cs typeface="DejaVu Sans"/>
              </a:rPr>
              <a:t>conﬁgurations from</a:t>
            </a:r>
            <a:r>
              <a:rPr sz="1000" spc="14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ECF0F1"/>
                </a:solidFill>
                <a:latin typeface="DejaVu Sans"/>
                <a:cs typeface="DejaVu Sans"/>
              </a:rPr>
              <a:t>text ﬁles or archiving reports as PDFs. Robust</a:t>
            </a:r>
            <a:r>
              <a:rPr sz="10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ECF0F1"/>
                </a:solidFill>
                <a:latin typeface="DejaVu Sans"/>
                <a:cs typeface="DejaVu Sans"/>
              </a:rPr>
              <a:t>ﬁle operations</a:t>
            </a:r>
          </a:p>
          <a:p>
            <a:pPr marL="0" marR="0">
              <a:lnSpc>
                <a:spcPts val="1173"/>
              </a:lnSpc>
              <a:spcBef>
                <a:spcPts val="201"/>
              </a:spcBef>
              <a:spcAft>
                <a:spcPts val="0"/>
              </a:spcAft>
            </a:pPr>
            <a:r>
              <a:rPr sz="1000" dirty="0">
                <a:solidFill>
                  <a:srgbClr val="ECF0F1"/>
                </a:solidFill>
                <a:latin typeface="DejaVu Sans"/>
                <a:cs typeface="DejaVu Sans"/>
              </a:rPr>
              <a:t>ensure data integrity, facilitate audit trails, and manage document lifecycles for</a:t>
            </a:r>
          </a:p>
          <a:p>
            <a:pPr marL="0" marR="0">
              <a:lnSpc>
                <a:spcPts val="1173"/>
              </a:lnSpc>
              <a:spcBef>
                <a:spcPts val="201"/>
              </a:spcBef>
              <a:spcAft>
                <a:spcPts val="0"/>
              </a:spcAft>
            </a:pPr>
            <a:r>
              <a:rPr sz="1000" dirty="0">
                <a:solidFill>
                  <a:srgbClr val="ECF0F1"/>
                </a:solidFill>
                <a:latin typeface="DejaVu Sans"/>
                <a:cs typeface="DejaVu Sans"/>
              </a:rPr>
              <a:t>compliance.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80999" y="4052447"/>
            <a:ext cx="4241260" cy="293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1"/>
              </a:lnSpc>
              <a:spcBef>
                <a:spcPts val="0"/>
              </a:spcBef>
              <a:spcAft>
                <a:spcPts val="0"/>
              </a:spcAft>
            </a:pPr>
            <a:r>
              <a:rPr sz="1750" b="1" spc="-31" dirty="0">
                <a:solidFill>
                  <a:srgbClr val="E67E22"/>
                </a:solidFill>
                <a:latin typeface="DejaVu Sans"/>
                <a:cs typeface="DejaVu Sans"/>
              </a:rPr>
              <a:t>Key</a:t>
            </a:r>
            <a:r>
              <a:rPr sz="1750" b="1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1750" b="1" spc="-10" dirty="0">
                <a:solidFill>
                  <a:srgbClr val="E67E22"/>
                </a:solidFill>
                <a:latin typeface="DejaVu Sans"/>
                <a:cs typeface="DejaVu Sans"/>
              </a:rPr>
              <a:t>File</a:t>
            </a:r>
            <a:r>
              <a:rPr sz="1750" b="1" spc="-12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1750" b="1" spc="-52" dirty="0">
                <a:solidFill>
                  <a:srgbClr val="E67E22"/>
                </a:solidFill>
                <a:latin typeface="DejaVu Sans"/>
                <a:cs typeface="DejaVu Sans"/>
              </a:rPr>
              <a:t>Types</a:t>
            </a:r>
            <a:r>
              <a:rPr sz="1750" b="1" spc="31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1750" b="1" dirty="0">
                <a:solidFill>
                  <a:srgbClr val="E67E22"/>
                </a:solidFill>
                <a:latin typeface="DejaVu Sans"/>
                <a:cs typeface="DejaVu Sans"/>
              </a:rPr>
              <a:t>&amp;</a:t>
            </a:r>
            <a:r>
              <a:rPr sz="1750" b="1" spc="-28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1750" b="1" spc="-14" dirty="0">
                <a:solidFill>
                  <a:srgbClr val="E67E22"/>
                </a:solidFill>
                <a:latin typeface="DejaVu Sans"/>
                <a:cs typeface="DejaVu Sans"/>
              </a:rPr>
              <a:t>Their</a:t>
            </a:r>
            <a:r>
              <a:rPr sz="1750" b="1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1750" b="1" spc="-14" dirty="0">
                <a:solidFill>
                  <a:srgbClr val="E67E22"/>
                </a:solidFill>
                <a:latin typeface="DejaVu Sans"/>
                <a:cs typeface="DejaVu Sans"/>
              </a:rPr>
              <a:t>Relevance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242297" y="4052447"/>
            <a:ext cx="3924632" cy="293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1"/>
              </a:lnSpc>
              <a:spcBef>
                <a:spcPts val="0"/>
              </a:spcBef>
              <a:spcAft>
                <a:spcPts val="0"/>
              </a:spcAft>
            </a:pPr>
            <a:r>
              <a:rPr sz="1750" b="1" spc="-12" dirty="0">
                <a:solidFill>
                  <a:srgbClr val="E67E22"/>
                </a:solidFill>
                <a:latin typeface="DejaVu Sans"/>
                <a:cs typeface="DejaVu Sans"/>
              </a:rPr>
              <a:t>Essential</a:t>
            </a:r>
            <a:r>
              <a:rPr sz="1750" b="1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1750" b="1" spc="-23" dirty="0">
                <a:solidFill>
                  <a:srgbClr val="E67E22"/>
                </a:solidFill>
                <a:latin typeface="DejaVu Sans"/>
                <a:cs typeface="DejaVu Sans"/>
              </a:rPr>
              <a:t>UiPath</a:t>
            </a:r>
            <a:r>
              <a:rPr sz="1750" b="1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1750" b="1" spc="-10" dirty="0">
                <a:solidFill>
                  <a:srgbClr val="E67E22"/>
                </a:solidFill>
                <a:latin typeface="DejaVu Sans"/>
                <a:cs typeface="DejaVu Sans"/>
              </a:rPr>
              <a:t>File</a:t>
            </a:r>
            <a:r>
              <a:rPr sz="1750" b="1" spc="-12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1750" b="1" spc="-11" dirty="0">
                <a:solidFill>
                  <a:srgbClr val="E67E22"/>
                </a:solidFill>
                <a:latin typeface="DejaVu Sans"/>
                <a:cs typeface="DejaVu Sans"/>
              </a:rPr>
              <a:t>Activities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11118" y="4606123"/>
            <a:ext cx="1816615" cy="2084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ECF0F1"/>
                </a:solidFill>
                <a:latin typeface="DejaVu Sans"/>
                <a:cs typeface="DejaVu Sans"/>
              </a:rPr>
              <a:t>Read/Write </a:t>
            </a:r>
            <a:r>
              <a:rPr sz="1150" b="1" spc="-37" dirty="0">
                <a:solidFill>
                  <a:srgbClr val="ECF0F1"/>
                </a:solidFill>
                <a:latin typeface="DejaVu Sans"/>
                <a:cs typeface="DejaVu Sans"/>
              </a:rPr>
              <a:t>Text</a:t>
            </a:r>
            <a:r>
              <a:rPr sz="1150" b="1" spc="3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150" b="1" dirty="0">
                <a:solidFill>
                  <a:srgbClr val="ECF0F1"/>
                </a:solidFill>
                <a:latin typeface="DejaVu Sans"/>
                <a:cs typeface="DejaVu Sans"/>
              </a:rPr>
              <a:t>File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76597" y="4653748"/>
            <a:ext cx="1148987" cy="2084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ECF0F1"/>
                </a:solidFill>
                <a:latin typeface="DejaVu Sans"/>
                <a:cs typeface="DejaVu Sans"/>
              </a:rPr>
              <a:t>Excel (.xlsx)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715791" y="4653748"/>
            <a:ext cx="990474" cy="2084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1" dirty="0">
                <a:solidFill>
                  <a:srgbClr val="ECF0F1"/>
                </a:solidFill>
                <a:latin typeface="DejaVu Sans"/>
                <a:cs typeface="DejaVu Sans"/>
              </a:rPr>
              <a:t>CSV</a:t>
            </a:r>
            <a:r>
              <a:rPr sz="1150" b="1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150" b="1" dirty="0">
                <a:solidFill>
                  <a:srgbClr val="ECF0F1"/>
                </a:solidFill>
                <a:latin typeface="DejaVu Sans"/>
                <a:cs typeface="DejaVu Sans"/>
              </a:rPr>
              <a:t>(.csv)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811118" y="4811524"/>
            <a:ext cx="2969069" cy="165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Read</a:t>
            </a:r>
            <a:r>
              <a:rPr sz="850" spc="1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content from</a:t>
            </a:r>
            <a:r>
              <a:rPr sz="850" spc="1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or write data to simple .txt ﬁles.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27297" y="4992499"/>
            <a:ext cx="2550095" cy="461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Ubiquitous for structured data, reports, and</a:t>
            </a:r>
          </a:p>
          <a:p>
            <a:pPr marL="0" marR="0">
              <a:lnSpc>
                <a:spcPts val="1005"/>
              </a:lnSpc>
              <a:spcBef>
                <a:spcPts val="119"/>
              </a:spcBef>
              <a:spcAft>
                <a:spcPts val="0"/>
              </a:spcAft>
            </a:pP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calculations. UiPath</a:t>
            </a:r>
            <a:r>
              <a:rPr sz="850" spc="14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has extensive activities</a:t>
            </a:r>
          </a:p>
          <a:p>
            <a:pPr marL="0" marR="0">
              <a:lnSpc>
                <a:spcPts val="1005"/>
              </a:lnSpc>
              <a:spcBef>
                <a:spcPts val="194"/>
              </a:spcBef>
              <a:spcAft>
                <a:spcPts val="0"/>
              </a:spcAft>
            </a:pP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for manipulation.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366491" y="4992499"/>
            <a:ext cx="2466648" cy="461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Lightweight, delimited text ﬁles ideal for</a:t>
            </a:r>
          </a:p>
          <a:p>
            <a:pPr marL="0" marR="0">
              <a:lnSpc>
                <a:spcPts val="1005"/>
              </a:lnSpc>
              <a:spcBef>
                <a:spcPts val="119"/>
              </a:spcBef>
              <a:spcAft>
                <a:spcPts val="0"/>
              </a:spcAft>
            </a:pP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bulk data import/export between diﬀerent</a:t>
            </a:r>
          </a:p>
          <a:p>
            <a:pPr marL="0" marR="0">
              <a:lnSpc>
                <a:spcPts val="1005"/>
              </a:lnSpc>
              <a:spcBef>
                <a:spcPts val="194"/>
              </a:spcBef>
              <a:spcAft>
                <a:spcPts val="0"/>
              </a:spcAft>
            </a:pP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systems.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811118" y="5368123"/>
            <a:ext cx="1451016" cy="2084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ECF0F1"/>
                </a:solidFill>
                <a:latin typeface="DejaVu Sans"/>
                <a:cs typeface="DejaVu Sans"/>
              </a:rPr>
              <a:t>Read/Write </a:t>
            </a:r>
            <a:r>
              <a:rPr sz="1150" b="1" spc="11" dirty="0">
                <a:solidFill>
                  <a:srgbClr val="ECF0F1"/>
                </a:solidFill>
                <a:latin typeface="DejaVu Sans"/>
                <a:cs typeface="DejaVu Sans"/>
              </a:rPr>
              <a:t>CSV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00372" y="5553581"/>
            <a:ext cx="1148281" cy="165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FFFFFF"/>
                </a:solidFill>
                <a:latin typeface="DejaVu Sans"/>
                <a:cs typeface="DejaVu Sans"/>
              </a:rPr>
              <a:t>Structured Data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439566" y="5553581"/>
            <a:ext cx="1075924" cy="165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FFFFFF"/>
                </a:solidFill>
                <a:latin typeface="DejaVu Sans"/>
                <a:cs typeface="DejaVu Sans"/>
              </a:rPr>
              <a:t>Data Exchange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811118" y="5573524"/>
            <a:ext cx="3562911" cy="165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Read/write</a:t>
            </a:r>
            <a:r>
              <a:rPr sz="85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structured data between CSV ﬁles and DataTables.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811118" y="6139648"/>
            <a:ext cx="1579666" cy="2084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ECF0F1"/>
                </a:solidFill>
                <a:latin typeface="DejaVu Sans"/>
                <a:cs typeface="DejaVu Sans"/>
              </a:rPr>
              <a:t>File Management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76597" y="6196798"/>
            <a:ext cx="970757" cy="2084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-37" dirty="0">
                <a:solidFill>
                  <a:srgbClr val="ECF0F1"/>
                </a:solidFill>
                <a:latin typeface="DejaVu Sans"/>
                <a:cs typeface="DejaVu Sans"/>
              </a:rPr>
              <a:t>Text</a:t>
            </a:r>
            <a:r>
              <a:rPr sz="1150" b="1" spc="3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150" b="1" dirty="0">
                <a:solidFill>
                  <a:srgbClr val="ECF0F1"/>
                </a:solidFill>
                <a:latin typeface="DejaVu Sans"/>
                <a:cs typeface="DejaVu Sans"/>
              </a:rPr>
              <a:t>(.txt)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715791" y="6196798"/>
            <a:ext cx="994331" cy="2084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ECF0F1"/>
                </a:solidFill>
                <a:latin typeface="DejaVu Sans"/>
                <a:cs typeface="DejaVu Sans"/>
              </a:rPr>
              <a:t>PDF (.pdf)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811118" y="6345049"/>
            <a:ext cx="3336748" cy="165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Core</a:t>
            </a:r>
            <a:r>
              <a:rPr sz="85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actions: Copy, Move, Delete, and Path</a:t>
            </a:r>
            <a:r>
              <a:rPr sz="850" spc="1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Exists checks.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27297" y="6526024"/>
            <a:ext cx="2327715" cy="461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Used for logs, conﬁguration ﬁles, and</a:t>
            </a:r>
          </a:p>
          <a:p>
            <a:pPr marL="0" marR="0">
              <a:lnSpc>
                <a:spcPts val="1005"/>
              </a:lnSpc>
              <a:spcBef>
                <a:spcPts val="119"/>
              </a:spcBef>
              <a:spcAft>
                <a:spcPts val="0"/>
              </a:spcAft>
            </a:pP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simple unstructured data. Easy to read,</a:t>
            </a:r>
          </a:p>
          <a:p>
            <a:pPr marL="0" marR="0">
              <a:lnSpc>
                <a:spcPts val="1005"/>
              </a:lnSpc>
              <a:spcBef>
                <a:spcPts val="194"/>
              </a:spcBef>
              <a:spcAft>
                <a:spcPts val="0"/>
              </a:spcAft>
            </a:pP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write, and append.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366491" y="6526024"/>
            <a:ext cx="2490441" cy="461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850" spc="1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invoices, reports, and oﬃcial</a:t>
            </a:r>
          </a:p>
          <a:p>
            <a:pPr marL="0" marR="0">
              <a:lnSpc>
                <a:spcPts val="1005"/>
              </a:lnSpc>
              <a:spcBef>
                <a:spcPts val="119"/>
              </a:spcBef>
              <a:spcAft>
                <a:spcPts val="0"/>
              </a:spcAft>
            </a:pP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documents. Bots can read</a:t>
            </a:r>
            <a:r>
              <a:rPr sz="850" spc="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text or use </a:t>
            </a:r>
            <a:r>
              <a:rPr sz="850" spc="10" dirty="0">
                <a:solidFill>
                  <a:srgbClr val="ECF0F1"/>
                </a:solidFill>
                <a:latin typeface="DejaVu Sans"/>
                <a:cs typeface="DejaVu Sans"/>
              </a:rPr>
              <a:t>OCR</a:t>
            </a:r>
          </a:p>
          <a:p>
            <a:pPr marL="0" marR="0">
              <a:lnSpc>
                <a:spcPts val="1005"/>
              </a:lnSpc>
              <a:spcBef>
                <a:spcPts val="194"/>
              </a:spcBef>
              <a:spcAft>
                <a:spcPts val="0"/>
              </a:spcAft>
            </a:pP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for scanned versions.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811118" y="6901648"/>
            <a:ext cx="1800970" cy="2084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ECF0F1"/>
                </a:solidFill>
                <a:latin typeface="DejaVu Sans"/>
                <a:cs typeface="DejaVu Sans"/>
              </a:rPr>
              <a:t>Folder</a:t>
            </a:r>
            <a:r>
              <a:rPr sz="1150" b="1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150" b="1" dirty="0">
                <a:solidFill>
                  <a:srgbClr val="ECF0F1"/>
                </a:solidFill>
                <a:latin typeface="DejaVu Sans"/>
                <a:cs typeface="DejaVu Sans"/>
              </a:rPr>
              <a:t>Management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00372" y="7087106"/>
            <a:ext cx="1072547" cy="165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FFFFFF"/>
                </a:solidFill>
                <a:latin typeface="DejaVu Sans"/>
                <a:cs typeface="DejaVu Sans"/>
              </a:rPr>
              <a:t>Logs &amp;</a:t>
            </a:r>
            <a:r>
              <a:rPr sz="850" b="1" spc="17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850" b="1" spc="10" dirty="0">
                <a:solidFill>
                  <a:srgbClr val="FFFFFF"/>
                </a:solidFill>
                <a:latin typeface="DejaVu Sans"/>
                <a:cs typeface="DejaVu Sans"/>
              </a:rPr>
              <a:t>Conﬁgs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3439566" y="7087106"/>
            <a:ext cx="766083" cy="165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FFFFFF"/>
                </a:solidFill>
                <a:latin typeface="DejaVu Sans"/>
                <a:cs typeface="DejaVu Sans"/>
              </a:rPr>
              <a:t>Reporting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6811118" y="7116574"/>
            <a:ext cx="3382859" cy="165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ECF0F1"/>
                </a:solidFill>
                <a:latin typeface="DejaVu Sans"/>
                <a:cs typeface="DejaVu Sans"/>
              </a:rPr>
              <a:t>Activities to Create, Delete, and Enumerate ﬁles in folders.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27720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33300"/>
            <a:ext cx="10831803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ECF0F1"/>
                </a:solidFill>
                <a:latin typeface="DejaVu Sans"/>
                <a:cs typeface="DejaVu Sans"/>
              </a:rPr>
              <a:t>Essential</a:t>
            </a:r>
            <a:r>
              <a:rPr sz="4050" b="1" dirty="0">
                <a:solidFill>
                  <a:srgbClr val="ECF0F1"/>
                </a:solidFill>
                <a:latin typeface="DejaVu Sans"/>
                <a:cs typeface="DejaVu Sans"/>
              </a:rPr>
              <a:t> File</a:t>
            </a:r>
            <a:r>
              <a:rPr sz="4050" b="1" spc="-10" dirty="0">
                <a:solidFill>
                  <a:srgbClr val="ECF0F1"/>
                </a:solidFill>
                <a:latin typeface="DejaVu Sans"/>
                <a:cs typeface="DejaVu Sans"/>
              </a:rPr>
              <a:t> Manipulation</a:t>
            </a:r>
            <a:r>
              <a:rPr sz="405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ECF0F1"/>
                </a:solidFill>
                <a:latin typeface="DejaVu Sans"/>
                <a:cs typeface="DejaVu Sans"/>
              </a:rPr>
              <a:t>Activities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5501" y="1437729"/>
            <a:ext cx="3013009" cy="669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ECF0F1"/>
                </a:solidFill>
                <a:latin typeface="DejaVu Sans"/>
                <a:cs typeface="DejaVu Sans"/>
              </a:rPr>
              <a:t>Creating &amp;</a:t>
            </a:r>
            <a:r>
              <a:rPr sz="2000" b="1" spc="1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ECF0F1"/>
                </a:solidFill>
                <a:latin typeface="DejaVu Sans"/>
                <a:cs typeface="DejaVu Sans"/>
              </a:rPr>
              <a:t>Deleting</a:t>
            </a:r>
          </a:p>
          <a:p>
            <a:pPr marL="0" marR="0">
              <a:lnSpc>
                <a:spcPts val="2346"/>
              </a:lnSpc>
              <a:spcBef>
                <a:spcPts val="328"/>
              </a:spcBef>
              <a:spcAft>
                <a:spcPts val="0"/>
              </a:spcAft>
            </a:pPr>
            <a:r>
              <a:rPr sz="2000" b="1" dirty="0">
                <a:solidFill>
                  <a:srgbClr val="ECF0F1"/>
                </a:solidFill>
                <a:latin typeface="DejaVu Sans"/>
                <a:cs typeface="DejaVu Sans"/>
              </a:rPr>
              <a:t>Files/Folders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98492" y="1475829"/>
            <a:ext cx="353709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ECF0F1"/>
                </a:solidFill>
                <a:latin typeface="DejaVu Sans"/>
                <a:cs typeface="DejaVu Sans"/>
              </a:rPr>
              <a:t>Moving</a:t>
            </a:r>
            <a:r>
              <a:rPr sz="2000" b="1" dirty="0">
                <a:solidFill>
                  <a:srgbClr val="ECF0F1"/>
                </a:solidFill>
                <a:latin typeface="DejaVu Sans"/>
                <a:cs typeface="DejaVu Sans"/>
              </a:rPr>
              <a:t> &amp;</a:t>
            </a:r>
            <a:r>
              <a:rPr sz="2000" b="1" spc="1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ECF0F1"/>
                </a:solidFill>
                <a:latin typeface="DejaVu Sans"/>
                <a:cs typeface="DejaVu Sans"/>
              </a:rPr>
              <a:t>Copying</a:t>
            </a:r>
            <a:r>
              <a:rPr sz="2000" b="1" dirty="0">
                <a:solidFill>
                  <a:srgbClr val="ECF0F1"/>
                </a:solidFill>
                <a:latin typeface="DejaVu Sans"/>
                <a:cs typeface="DejaVu Sans"/>
              </a:rPr>
              <a:t> Files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489501" y="1993198"/>
            <a:ext cx="4755139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CBD5E1"/>
                </a:solidFill>
                <a:latin typeface="DejaVu Sans"/>
                <a:cs typeface="DejaVu Sans"/>
              </a:rPr>
              <a:t>Purpose:</a:t>
            </a:r>
            <a:r>
              <a:rPr sz="1350" b="1" spc="-40" dirty="0">
                <a:solidFill>
                  <a:srgbClr val="CBD5E1"/>
                </a:solidFill>
                <a:latin typeface="DejaVu Sans"/>
                <a:cs typeface="DejaVu Sans"/>
              </a:rPr>
              <a:t> </a:t>
            </a:r>
            <a:r>
              <a:rPr sz="1350" spc="-14" dirty="0">
                <a:solidFill>
                  <a:srgbClr val="CBD5E1"/>
                </a:solidFill>
                <a:latin typeface="DejaVu Sans"/>
                <a:cs typeface="DejaVu Sans"/>
              </a:rPr>
              <a:t>Facilitating</a:t>
            </a: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 data transfer and organization.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Crucial for managing data ﬂow, </a:t>
            </a:r>
            <a:r>
              <a:rPr sz="1350" spc="-10" dirty="0">
                <a:solidFill>
                  <a:srgbClr val="CBD5E1"/>
                </a:solidFill>
                <a:latin typeface="DejaVu Sans"/>
                <a:cs typeface="DejaVu Sans"/>
              </a:rPr>
              <a:t>backups,</a:t>
            </a: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 and archival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processes.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6509" y="2250373"/>
            <a:ext cx="5156335" cy="741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CBD5E1"/>
                </a:solidFill>
                <a:latin typeface="DejaVu Sans"/>
                <a:cs typeface="DejaVu Sans"/>
              </a:rPr>
              <a:t>Purpose:</a:t>
            </a:r>
            <a:r>
              <a:rPr sz="1350" b="1" spc="-40" dirty="0">
                <a:solidFill>
                  <a:srgbClr val="CBD5E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Automating the lifecycle of ﬁles and directories.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spc="-11" dirty="0">
                <a:solidFill>
                  <a:srgbClr val="CBD5E1"/>
                </a:solidFill>
                <a:latin typeface="DejaVu Sans"/>
                <a:cs typeface="DejaVu Sans"/>
              </a:rPr>
              <a:t>Fundamental</a:t>
            </a: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 for setting up environments, handling temp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data, and ensuring data hygiene.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89501" y="2888548"/>
            <a:ext cx="4216086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spc="-10" dirty="0">
                <a:solidFill>
                  <a:schemeClr val="bg1"/>
                </a:solidFill>
                <a:latin typeface="DejaVu Sans"/>
                <a:cs typeface="DejaVu Sans"/>
              </a:rPr>
              <a:t>UiPath</a:t>
            </a:r>
            <a:r>
              <a:rPr sz="1350" b="1" dirty="0">
                <a:solidFill>
                  <a:schemeClr val="bg1"/>
                </a:solidFill>
                <a:latin typeface="DejaVu Sans"/>
                <a:cs typeface="DejaVu Sans"/>
              </a:rPr>
              <a:t> Activities:</a:t>
            </a:r>
            <a:r>
              <a:rPr sz="1350" b="1" spc="63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chemeClr val="bg1"/>
                </a:solidFill>
                <a:latin typeface="Liberation Mono"/>
                <a:cs typeface="Liberation Mono"/>
              </a:rPr>
              <a:t>Copy File</a:t>
            </a:r>
            <a:r>
              <a:rPr sz="1350" spc="-137" dirty="0">
                <a:solidFill>
                  <a:schemeClr val="bg1"/>
                </a:solidFill>
                <a:latin typeface="Liberation Mono"/>
                <a:cs typeface="Liberation Mono"/>
              </a:rPr>
              <a:t> </a:t>
            </a:r>
            <a:r>
              <a:rPr sz="1350" dirty="0">
                <a:solidFill>
                  <a:schemeClr val="bg1"/>
                </a:solidFill>
                <a:latin typeface="DejaVu Sans"/>
                <a:cs typeface="DejaVu Sans"/>
              </a:rPr>
              <a:t>,</a:t>
            </a:r>
            <a:r>
              <a:rPr sz="1350" spc="667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chemeClr val="bg1"/>
                </a:solidFill>
                <a:latin typeface="Liberation Mono"/>
                <a:cs typeface="Liberation Mono"/>
              </a:rPr>
              <a:t>Move File</a:t>
            </a:r>
            <a:r>
              <a:rPr sz="1350" spc="-137" dirty="0">
                <a:solidFill>
                  <a:schemeClr val="bg1"/>
                </a:solidFill>
                <a:latin typeface="Liberation Mono"/>
                <a:cs typeface="Liberation Mono"/>
              </a:rPr>
              <a:t> </a:t>
            </a:r>
            <a:r>
              <a:rPr sz="1350" dirty="0">
                <a:solidFill>
                  <a:schemeClr val="bg1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6509" y="3145723"/>
            <a:ext cx="4830150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spc="-10" dirty="0">
                <a:solidFill>
                  <a:schemeClr val="bg1"/>
                </a:solidFill>
                <a:latin typeface="DejaVu Sans"/>
                <a:cs typeface="DejaVu Sans"/>
              </a:rPr>
              <a:t>UiPath</a:t>
            </a:r>
            <a:r>
              <a:rPr sz="1350" b="1" dirty="0">
                <a:solidFill>
                  <a:schemeClr val="bg1"/>
                </a:solidFill>
                <a:latin typeface="DejaVu Sans"/>
                <a:cs typeface="DejaVu Sans"/>
              </a:rPr>
              <a:t> Activities:</a:t>
            </a:r>
            <a:r>
              <a:rPr sz="1350" b="1" spc="63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chemeClr val="bg1"/>
                </a:solidFill>
                <a:latin typeface="Liberation Mono"/>
                <a:cs typeface="Liberation Mono"/>
              </a:rPr>
              <a:t>Create Folder</a:t>
            </a:r>
            <a:r>
              <a:rPr sz="1350" spc="-137" dirty="0">
                <a:solidFill>
                  <a:schemeClr val="bg1"/>
                </a:solidFill>
                <a:latin typeface="Liberation Mono"/>
                <a:cs typeface="Liberation Mono"/>
              </a:rPr>
              <a:t> </a:t>
            </a:r>
            <a:r>
              <a:rPr sz="1350" dirty="0">
                <a:solidFill>
                  <a:schemeClr val="bg1"/>
                </a:solidFill>
                <a:latin typeface="DejaVu Sans"/>
                <a:cs typeface="DejaVu Sans"/>
              </a:rPr>
              <a:t>,</a:t>
            </a:r>
            <a:r>
              <a:rPr sz="1350" spc="667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chemeClr val="bg1"/>
                </a:solidFill>
                <a:latin typeface="Liberation Mono"/>
                <a:cs typeface="Liberation Mono"/>
              </a:rPr>
              <a:t>Delete File</a:t>
            </a:r>
            <a:r>
              <a:rPr sz="1350" spc="-137" dirty="0">
                <a:solidFill>
                  <a:schemeClr val="bg1"/>
                </a:solidFill>
                <a:latin typeface="Liberation Mono"/>
                <a:cs typeface="Liberation Mono"/>
              </a:rPr>
              <a:t> </a:t>
            </a:r>
            <a:r>
              <a:rPr sz="1350" dirty="0">
                <a:solidFill>
                  <a:schemeClr val="bg1"/>
                </a:solidFill>
                <a:latin typeface="DejaVu Sans"/>
                <a:cs typeface="DejaVu Sans"/>
              </a:rPr>
              <a:t>,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89501" y="3279073"/>
            <a:ext cx="505680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CBD5E1"/>
                </a:solidFill>
                <a:latin typeface="DejaVu Sans"/>
                <a:cs typeface="DejaVu Sans"/>
              </a:rPr>
              <a:t>Use Cases:</a:t>
            </a:r>
            <a:r>
              <a:rPr sz="1350" b="1" spc="-40" dirty="0">
                <a:solidFill>
                  <a:srgbClr val="CBD5E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Archiving processed documents, distributing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31787" y="3412423"/>
            <a:ext cx="1622607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chemeClr val="bg1"/>
                </a:solidFill>
                <a:latin typeface="Liberation Mono"/>
                <a:cs typeface="Liberation Mono"/>
              </a:rPr>
              <a:t>Delete Folder</a:t>
            </a:r>
            <a:r>
              <a:rPr sz="1350" spc="-137" dirty="0">
                <a:solidFill>
                  <a:schemeClr val="bg1"/>
                </a:solidFill>
                <a:latin typeface="Liberation Mono"/>
                <a:cs typeface="Liberation Mono"/>
              </a:rPr>
              <a:t> </a:t>
            </a:r>
            <a:r>
              <a:rPr sz="1350" dirty="0">
                <a:solidFill>
                  <a:schemeClr val="bg1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89501" y="3536248"/>
            <a:ext cx="459390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reports to network shares, creating </a:t>
            </a:r>
            <a:r>
              <a:rPr sz="1350" spc="-10" dirty="0">
                <a:solidFill>
                  <a:srgbClr val="CBD5E1"/>
                </a:solidFill>
                <a:latin typeface="DejaVu Sans"/>
                <a:cs typeface="DejaVu Sans"/>
              </a:rPr>
              <a:t>secure</a:t>
            </a: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 </a:t>
            </a:r>
            <a:r>
              <a:rPr sz="1350" spc="-10" dirty="0">
                <a:solidFill>
                  <a:srgbClr val="CBD5E1"/>
                </a:solidFill>
                <a:latin typeface="DejaVu Sans"/>
                <a:cs typeface="DejaVu Sans"/>
              </a:rPr>
              <a:t>backups.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46509" y="3802948"/>
            <a:ext cx="514366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CBD5E1"/>
                </a:solidFill>
                <a:latin typeface="DejaVu Sans"/>
                <a:cs typeface="DejaVu Sans"/>
              </a:rPr>
              <a:t>Use Cases:</a:t>
            </a:r>
            <a:r>
              <a:rPr sz="1350" b="1" spc="-40" dirty="0">
                <a:solidFill>
                  <a:srgbClr val="CBD5E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Setting up project output directories, clearing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46509" y="4060123"/>
            <a:ext cx="441036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temporary folders, managing structured archives.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74501" y="4509307"/>
            <a:ext cx="177287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Lifecycle Management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736353" y="4509307"/>
            <a:ext cx="112791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Data Hygiene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053184" y="4509307"/>
            <a:ext cx="146302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Automation Setup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617492" y="4509307"/>
            <a:ext cx="113278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Data </a:t>
            </a:r>
            <a:r>
              <a:rPr sz="1000" b="1" spc="-10" dirty="0">
                <a:solidFill>
                  <a:srgbClr val="FFFFFF"/>
                </a:solidFill>
                <a:latin typeface="DejaVu Sans"/>
                <a:cs typeface="DejaVu Sans"/>
              </a:rPr>
              <a:t>Transfer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939235" y="4509307"/>
            <a:ext cx="73922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Archival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867327" y="4509307"/>
            <a:ext cx="108245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Organization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0138617" y="4509307"/>
            <a:ext cx="68015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Backup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155501" y="5571580"/>
            <a:ext cx="355722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ECF0F1"/>
                </a:solidFill>
                <a:latin typeface="DejaVu Sans"/>
                <a:cs typeface="DejaVu Sans"/>
              </a:rPr>
              <a:t>Checking</a:t>
            </a:r>
            <a:r>
              <a:rPr sz="2000" b="1" dirty="0">
                <a:solidFill>
                  <a:srgbClr val="ECF0F1"/>
                </a:solidFill>
                <a:latin typeface="DejaVu Sans"/>
                <a:cs typeface="DejaVu Sans"/>
              </a:rPr>
              <a:t> File Existence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998492" y="5571580"/>
            <a:ext cx="4257545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ECF0F1"/>
                </a:solidFill>
                <a:latin typeface="DejaVu Sans"/>
                <a:cs typeface="DejaVu Sans"/>
              </a:rPr>
              <a:t>Reading</a:t>
            </a:r>
            <a:r>
              <a:rPr sz="2000" b="1" dirty="0">
                <a:solidFill>
                  <a:srgbClr val="ECF0F1"/>
                </a:solidFill>
                <a:latin typeface="DejaVu Sans"/>
                <a:cs typeface="DejaVu Sans"/>
              </a:rPr>
              <a:t> &amp;</a:t>
            </a:r>
            <a:r>
              <a:rPr sz="2000" b="1" spc="1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ECF0F1"/>
                </a:solidFill>
                <a:latin typeface="DejaVu Sans"/>
                <a:cs typeface="DejaVu Sans"/>
              </a:rPr>
              <a:t>Writing</a:t>
            </a:r>
            <a:r>
              <a:rPr sz="2000" b="1" spc="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2000" b="1" spc="-58" dirty="0">
                <a:solidFill>
                  <a:srgbClr val="ECF0F1"/>
                </a:solidFill>
                <a:latin typeface="DejaVu Sans"/>
                <a:cs typeface="DejaVu Sans"/>
              </a:rPr>
              <a:t>Text</a:t>
            </a:r>
            <a:r>
              <a:rPr sz="2000" b="1" spc="7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ECF0F1"/>
                </a:solidFill>
                <a:latin typeface="DejaVu Sans"/>
                <a:cs typeface="DejaVu Sans"/>
              </a:rPr>
              <a:t>Files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46509" y="6079423"/>
            <a:ext cx="5050511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CBD5E1"/>
                </a:solidFill>
                <a:latin typeface="DejaVu Sans"/>
                <a:cs typeface="DejaVu Sans"/>
              </a:rPr>
              <a:t>Purpose:</a:t>
            </a:r>
            <a:r>
              <a:rPr sz="1350" b="1" spc="-40" dirty="0">
                <a:solidFill>
                  <a:srgbClr val="CBD5E1"/>
                </a:solidFill>
                <a:latin typeface="DejaVu Sans"/>
                <a:cs typeface="DejaVu Sans"/>
              </a:rPr>
              <a:t> </a:t>
            </a:r>
            <a:r>
              <a:rPr sz="1350" spc="-18" dirty="0">
                <a:solidFill>
                  <a:srgbClr val="CBD5E1"/>
                </a:solidFill>
                <a:latin typeface="DejaVu Sans"/>
                <a:cs typeface="DejaVu Sans"/>
              </a:rPr>
              <a:t>Verifying</a:t>
            </a:r>
            <a:r>
              <a:rPr sz="1350" spc="12" dirty="0">
                <a:solidFill>
                  <a:srgbClr val="CBD5E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the presence of a ﬁle or folder </a:t>
            </a:r>
            <a:r>
              <a:rPr sz="1350" spc="-10" dirty="0">
                <a:solidFill>
                  <a:srgbClr val="CBD5E1"/>
                </a:solidFill>
                <a:latin typeface="DejaVu Sans"/>
                <a:cs typeface="DejaVu Sans"/>
              </a:rPr>
              <a:t>before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acting on it. Critical for building robust, </a:t>
            </a:r>
            <a:r>
              <a:rPr sz="1350" spc="-15" dirty="0">
                <a:solidFill>
                  <a:srgbClr val="CBD5E1"/>
                </a:solidFill>
                <a:latin typeface="DejaVu Sans"/>
                <a:cs typeface="DejaVu Sans"/>
              </a:rPr>
              <a:t>error-resistant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workﬂows via conditional logic.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489501" y="6079423"/>
            <a:ext cx="4490189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CBD5E1"/>
                </a:solidFill>
                <a:latin typeface="DejaVu Sans"/>
                <a:cs typeface="DejaVu Sans"/>
              </a:rPr>
              <a:t>Purpose:</a:t>
            </a:r>
            <a:r>
              <a:rPr sz="1350" b="1" spc="-40" dirty="0">
                <a:solidFill>
                  <a:srgbClr val="CBD5E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Interacting with plain </a:t>
            </a:r>
            <a:r>
              <a:rPr sz="1350" spc="-11" dirty="0">
                <a:solidFill>
                  <a:srgbClr val="CBD5E1"/>
                </a:solidFill>
                <a:latin typeface="DejaVu Sans"/>
                <a:cs typeface="DejaVu Sans"/>
              </a:rPr>
              <a:t>text</a:t>
            </a: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 for managing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conﬁgurations, logging information, or simple data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spc="-10" dirty="0">
                <a:solidFill>
                  <a:srgbClr val="CBD5E1"/>
                </a:solidFill>
                <a:latin typeface="DejaVu Sans"/>
                <a:cs typeface="DejaVu Sans"/>
              </a:rPr>
              <a:t>exchange.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46509" y="6974772"/>
            <a:ext cx="165090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spc="-10" dirty="0">
                <a:solidFill>
                  <a:srgbClr val="CBD5E1"/>
                </a:solidFill>
                <a:latin typeface="DejaVu Sans"/>
                <a:cs typeface="DejaVu Sans"/>
              </a:rPr>
              <a:t>UiPath</a:t>
            </a:r>
            <a:r>
              <a:rPr sz="1350" b="1" dirty="0">
                <a:solidFill>
                  <a:srgbClr val="CBD5E1"/>
                </a:solidFill>
                <a:latin typeface="DejaVu Sans"/>
                <a:cs typeface="DejaVu Sans"/>
              </a:rPr>
              <a:t> Activity: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550038" y="6974772"/>
            <a:ext cx="188311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1" dirty="0">
                <a:solidFill>
                  <a:srgbClr val="CBD5E1"/>
                </a:solidFill>
                <a:latin typeface="DejaVu Sans"/>
                <a:cs typeface="DejaVu Sans"/>
              </a:rPr>
              <a:t>returns</a:t>
            </a: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 a boolean to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489501" y="6974772"/>
            <a:ext cx="181538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spc="-10" dirty="0">
                <a:solidFill>
                  <a:srgbClr val="CBD5E1"/>
                </a:solidFill>
                <a:latin typeface="DejaVu Sans"/>
                <a:cs typeface="DejaVu Sans"/>
              </a:rPr>
              <a:t>UiPath</a:t>
            </a:r>
            <a:r>
              <a:rPr sz="1350" b="1" dirty="0">
                <a:solidFill>
                  <a:srgbClr val="CBD5E1"/>
                </a:solidFill>
                <a:latin typeface="DejaVu Sans"/>
                <a:cs typeface="DejaVu Sans"/>
              </a:rPr>
              <a:t> Activities: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9810302" y="6974772"/>
            <a:ext cx="20665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,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284660" y="6995572"/>
            <a:ext cx="1278337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chemeClr val="bg1"/>
                </a:solidFill>
                <a:latin typeface="Liberation Mono"/>
                <a:cs typeface="Liberation Mono"/>
              </a:rPr>
              <a:t>Path Exists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292107" y="6995572"/>
            <a:ext cx="2887955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chemeClr val="bg1"/>
                </a:solidFill>
                <a:latin typeface="Liberation Mono"/>
                <a:cs typeface="Liberation Mono"/>
              </a:rPr>
              <a:t>Read Text File</a:t>
            </a:r>
            <a:r>
              <a:rPr sz="1350" spc="1386" dirty="0">
                <a:solidFill>
                  <a:schemeClr val="bg1"/>
                </a:solidFill>
                <a:latin typeface="Liberation Mono"/>
                <a:cs typeface="Liberation Mono"/>
              </a:rPr>
              <a:t> </a:t>
            </a:r>
            <a:r>
              <a:rPr sz="1350" dirty="0">
                <a:solidFill>
                  <a:schemeClr val="bg1"/>
                </a:solidFill>
                <a:latin typeface="Liberation Mono"/>
                <a:cs typeface="Liberation Mono"/>
              </a:rPr>
              <a:t>Write Text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646509" y="7241472"/>
            <a:ext cx="214091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drive If/Else conditions.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6984205" y="7241472"/>
            <a:ext cx="20665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,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8389142" y="7241472"/>
            <a:ext cx="20665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6489501" y="7262272"/>
            <a:ext cx="1966815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chemeClr val="bg1"/>
                </a:solidFill>
                <a:latin typeface="Liberation Mono"/>
                <a:cs typeface="Liberation Mono"/>
              </a:rPr>
              <a:t>File</a:t>
            </a:r>
            <a:r>
              <a:rPr sz="1350" spc="1386" dirty="0">
                <a:solidFill>
                  <a:schemeClr val="bg1"/>
                </a:solidFill>
                <a:latin typeface="Liberation Mono"/>
                <a:cs typeface="Liberation Mono"/>
              </a:rPr>
              <a:t> </a:t>
            </a:r>
            <a:r>
              <a:rPr sz="1350" dirty="0">
                <a:solidFill>
                  <a:schemeClr val="bg1"/>
                </a:solidFill>
                <a:latin typeface="Liberation Mono"/>
                <a:cs typeface="Liberation Mono"/>
              </a:rPr>
              <a:t>Append Line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646509" y="7631997"/>
            <a:ext cx="5185640" cy="741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CBD5E1"/>
                </a:solidFill>
                <a:latin typeface="DejaVu Sans"/>
                <a:cs typeface="DejaVu Sans"/>
              </a:rPr>
              <a:t>Use Cases:</a:t>
            </a:r>
            <a:r>
              <a:rPr sz="1350" b="1" spc="-40" dirty="0">
                <a:solidFill>
                  <a:srgbClr val="CBD5E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Ensuring input ﬁles </a:t>
            </a:r>
            <a:r>
              <a:rPr sz="1350" spc="-18" dirty="0">
                <a:solidFill>
                  <a:srgbClr val="CBD5E1"/>
                </a:solidFill>
                <a:latin typeface="DejaVu Sans"/>
                <a:cs typeface="DejaVu Sans"/>
              </a:rPr>
              <a:t>are</a:t>
            </a:r>
            <a:r>
              <a:rPr sz="1350" spc="11" dirty="0">
                <a:solidFill>
                  <a:srgbClr val="CBD5E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available, preventing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accidental overwrites, </a:t>
            </a:r>
            <a:r>
              <a:rPr sz="1350" spc="-11" dirty="0">
                <a:solidFill>
                  <a:srgbClr val="CBD5E1"/>
                </a:solidFill>
                <a:latin typeface="DejaVu Sans"/>
                <a:cs typeface="DejaVu Sans"/>
              </a:rPr>
              <a:t>executing</a:t>
            </a: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 alternative logic if a ﬁle is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missing.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774501" y="8681256"/>
            <a:ext cx="135090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Error Prevention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2314277" y="8681256"/>
            <a:ext cx="140065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Conditional Logic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3903910" y="8681256"/>
            <a:ext cx="98944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Robustness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6617492" y="8681256"/>
            <a:ext cx="73184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Logging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7538143" y="8681256"/>
            <a:ext cx="113677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Conﬁguration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8863607" y="8681256"/>
            <a:ext cx="123003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Data Exchange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646509" y="10154614"/>
            <a:ext cx="5445178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7" dirty="0">
                <a:solidFill>
                  <a:srgbClr val="FFFFFF"/>
                </a:solidFill>
                <a:latin typeface="DejaVu Sans"/>
                <a:cs typeface="DejaVu Sans"/>
              </a:rPr>
              <a:t>Common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File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Manipulation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Scenarios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in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62" dirty="0">
                <a:solidFill>
                  <a:srgbClr val="FFFFFF"/>
                </a:solidFill>
                <a:latin typeface="DejaVu Sans"/>
                <a:cs typeface="DejaVu Sans"/>
              </a:rPr>
              <a:t>RPA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646509" y="10528352"/>
            <a:ext cx="702758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chemeClr val="bg1"/>
                </a:solidFill>
                <a:latin typeface="DejaVu Sans"/>
                <a:cs typeface="DejaVu Sans"/>
              </a:rPr>
              <a:t>Report</a:t>
            </a:r>
            <a:r>
              <a:rPr sz="12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chemeClr val="bg1"/>
                </a:solidFill>
                <a:latin typeface="DejaVu Sans"/>
                <a:cs typeface="DejaVu Sans"/>
              </a:rPr>
              <a:t>Generation:</a:t>
            </a:r>
            <a:r>
              <a:rPr sz="1200" b="1" spc="-37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chemeClr val="bg1"/>
                </a:solidFill>
                <a:latin typeface="DejaVu Sans"/>
                <a:cs typeface="DejaVu Sans"/>
              </a:rPr>
              <a:t>Bots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chemeClr val="bg1"/>
                </a:solidFill>
                <a:latin typeface="DejaVu Sans"/>
                <a:cs typeface="DejaVu Sans"/>
              </a:rPr>
              <a:t>generate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chemeClr val="bg1"/>
                </a:solidFill>
                <a:latin typeface="DejaVu Sans"/>
                <a:cs typeface="DejaVu Sans"/>
              </a:rPr>
              <a:t>reports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chemeClr val="bg1"/>
                </a:solidFill>
                <a:latin typeface="DejaVu Sans"/>
                <a:cs typeface="DejaVu Sans"/>
              </a:rPr>
              <a:t>(CSV,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chemeClr val="bg1"/>
                </a:solidFill>
                <a:latin typeface="DejaVu Sans"/>
                <a:cs typeface="DejaVu Sans"/>
              </a:rPr>
              <a:t>TXT)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chemeClr val="bg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chemeClr val="bg1"/>
                </a:solidFill>
                <a:latin typeface="DejaVu Sans"/>
                <a:cs typeface="DejaVu Sans"/>
              </a:rPr>
              <a:t>use</a:t>
            </a:r>
            <a:r>
              <a:rPr sz="1200" spc="326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chemeClr val="bg1"/>
                </a:solidFill>
                <a:latin typeface="Liberation Mono"/>
                <a:cs typeface="Liberation Mono"/>
              </a:rPr>
              <a:t>Move File</a:t>
            </a:r>
            <a:r>
              <a:rPr sz="1000" spc="109" dirty="0">
                <a:solidFill>
                  <a:schemeClr val="bg1"/>
                </a:solidFill>
                <a:latin typeface="Liberation Mono"/>
                <a:cs typeface="Liberation Mono"/>
              </a:rPr>
              <a:t> </a:t>
            </a:r>
            <a:r>
              <a:rPr sz="1200" spc="-10" dirty="0">
                <a:solidFill>
                  <a:schemeClr val="bg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chemeClr val="bg1"/>
                </a:solidFill>
                <a:latin typeface="DejaVu Sans"/>
                <a:cs typeface="DejaVu Sans"/>
              </a:rPr>
              <a:t> place</a:t>
            </a:r>
            <a:r>
              <a:rPr sz="1200" spc="-1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chemeClr val="bg1"/>
                </a:solidFill>
                <a:latin typeface="DejaVu Sans"/>
                <a:cs typeface="DejaVu Sans"/>
              </a:rPr>
              <a:t>them</a:t>
            </a:r>
            <a:r>
              <a:rPr sz="1200" spc="-18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in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646509" y="10747427"/>
            <a:ext cx="157067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CBD5E1"/>
                </a:solidFill>
                <a:latin typeface="DejaVu Sans"/>
                <a:cs typeface="DejaVu Sans"/>
              </a:rPr>
              <a:t>designated</a:t>
            </a:r>
            <a:r>
              <a:rPr sz="1200" spc="-10" dirty="0">
                <a:solidFill>
                  <a:srgbClr val="CBD5E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CBD5E1"/>
                </a:solidFill>
                <a:latin typeface="DejaVu Sans"/>
                <a:cs typeface="DejaVu Sans"/>
              </a:rPr>
              <a:t>shares.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646509" y="11042702"/>
            <a:ext cx="71832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chemeClr val="bg1"/>
                </a:solidFill>
                <a:latin typeface="DejaVu Sans"/>
                <a:cs typeface="DejaVu Sans"/>
              </a:rPr>
              <a:t>Log</a:t>
            </a:r>
            <a:r>
              <a:rPr sz="1200" b="1" spc="-1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chemeClr val="bg1"/>
                </a:solidFill>
                <a:latin typeface="DejaVu Sans"/>
                <a:cs typeface="DejaVu Sans"/>
              </a:rPr>
              <a:t>Management:</a:t>
            </a:r>
            <a:r>
              <a:rPr sz="1200" b="1" spc="3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chemeClr val="bg1"/>
                </a:solidFill>
                <a:latin typeface="Liberation Mono"/>
                <a:cs typeface="Liberation Mono"/>
              </a:rPr>
              <a:t>Append Line</a:t>
            </a:r>
            <a:r>
              <a:rPr sz="1000" spc="109" dirty="0">
                <a:solidFill>
                  <a:schemeClr val="bg1"/>
                </a:solidFill>
                <a:latin typeface="Liberation Mono"/>
                <a:cs typeface="Liberation Mono"/>
              </a:rPr>
              <a:t> </a:t>
            </a:r>
            <a:r>
              <a:rPr sz="1200" spc="-14" dirty="0">
                <a:solidFill>
                  <a:schemeClr val="bg1"/>
                </a:solidFill>
                <a:latin typeface="DejaVu Sans"/>
                <a:cs typeface="DejaVu Sans"/>
              </a:rPr>
              <a:t>maintains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chemeClr val="bg1"/>
                </a:solidFill>
                <a:latin typeface="DejaVu Sans"/>
                <a:cs typeface="DejaVu Sans"/>
              </a:rPr>
              <a:t>detailed</a:t>
            </a:r>
            <a:r>
              <a:rPr sz="1200" spc="-10" dirty="0">
                <a:solidFill>
                  <a:schemeClr val="bg1"/>
                </a:solidFill>
                <a:latin typeface="DejaVu Sans"/>
                <a:cs typeface="DejaVu Sans"/>
              </a:rPr>
              <a:t> activity</a:t>
            </a:r>
            <a:r>
              <a:rPr sz="1200" spc="-1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chemeClr val="bg1"/>
                </a:solidFill>
                <a:latin typeface="DejaVu Sans"/>
                <a:cs typeface="DejaVu Sans"/>
              </a:rPr>
              <a:t>logs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chemeClr val="bg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chemeClr val="bg1"/>
                </a:solidFill>
                <a:latin typeface="DejaVu Sans"/>
                <a:cs typeface="DejaVu Sans"/>
              </a:rPr>
              <a:t>monitoring</a:t>
            </a:r>
            <a:r>
              <a:rPr sz="1200" spc="-1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chemeClr val="bg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chemeClr val="bg1"/>
                </a:solidFill>
                <a:latin typeface="DejaVu Sans"/>
                <a:cs typeface="DejaVu Sans"/>
              </a:rPr>
              <a:t>auditing.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646509" y="11347502"/>
            <a:ext cx="6540386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chemeClr val="bg1"/>
                </a:solidFill>
                <a:latin typeface="DejaVu Sans"/>
                <a:cs typeface="DejaVu Sans"/>
              </a:rPr>
              <a:t>Dynamic</a:t>
            </a:r>
            <a:r>
              <a:rPr sz="1200" b="1" dirty="0">
                <a:solidFill>
                  <a:schemeClr val="bg1"/>
                </a:solidFill>
                <a:latin typeface="DejaVu Sans"/>
                <a:cs typeface="DejaVu Sans"/>
              </a:rPr>
              <a:t> I/O</a:t>
            </a:r>
            <a:r>
              <a:rPr sz="1200" b="1" spc="-2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chemeClr val="bg1"/>
                </a:solidFill>
                <a:latin typeface="DejaVu Sans"/>
                <a:cs typeface="DejaVu Sans"/>
              </a:rPr>
              <a:t>Handling:</a:t>
            </a:r>
            <a:r>
              <a:rPr sz="1200" b="1" spc="298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chemeClr val="bg1"/>
                </a:solidFill>
                <a:latin typeface="Liberation Mono"/>
                <a:cs typeface="Liberation Mono"/>
              </a:rPr>
              <a:t>Path Exists</a:t>
            </a:r>
            <a:r>
              <a:rPr sz="1000" spc="109" dirty="0">
                <a:solidFill>
                  <a:schemeClr val="bg1"/>
                </a:solidFill>
                <a:latin typeface="Liberation Mono"/>
                <a:cs typeface="Liberation Mono"/>
              </a:rPr>
              <a:t> </a:t>
            </a:r>
            <a:r>
              <a:rPr sz="1200" spc="-12" dirty="0">
                <a:solidFill>
                  <a:schemeClr val="bg1"/>
                </a:solidFill>
                <a:latin typeface="DejaVu Sans"/>
                <a:cs typeface="DejaVu Sans"/>
              </a:rPr>
              <a:t>veriﬁes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chemeClr val="bg1"/>
                </a:solidFill>
                <a:latin typeface="DejaVu Sans"/>
                <a:cs typeface="DejaVu Sans"/>
              </a:rPr>
              <a:t>inputs,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chemeClr val="bg1"/>
                </a:solidFill>
                <a:latin typeface="DejaVu Sans"/>
                <a:cs typeface="DejaVu Sans"/>
              </a:rPr>
              <a:t>and</a:t>
            </a:r>
            <a:r>
              <a:rPr sz="1200" spc="326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chemeClr val="bg1"/>
                </a:solidFill>
                <a:latin typeface="Liberation Mono"/>
                <a:cs typeface="Liberation Mono"/>
              </a:rPr>
              <a:t>Move File</a:t>
            </a:r>
            <a:r>
              <a:rPr sz="1000" spc="109" dirty="0">
                <a:solidFill>
                  <a:schemeClr val="bg1"/>
                </a:solidFill>
                <a:latin typeface="Liberation Mono"/>
                <a:cs typeface="Liberation Mono"/>
              </a:rPr>
              <a:t> </a:t>
            </a:r>
            <a:r>
              <a:rPr sz="1200" spc="-11" dirty="0">
                <a:solidFill>
                  <a:schemeClr val="bg1"/>
                </a:solidFill>
                <a:latin typeface="DejaVu Sans"/>
                <a:cs typeface="DejaVu Sans"/>
              </a:rPr>
              <a:t>sorts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chemeClr val="bg1"/>
                </a:solidFill>
                <a:latin typeface="DejaVu Sans"/>
                <a:cs typeface="DejaVu Sans"/>
              </a:rPr>
              <a:t>outputs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chemeClr val="bg1"/>
                </a:solidFill>
                <a:latin typeface="DejaVu Sans"/>
                <a:cs typeface="DejaVu Sans"/>
              </a:rPr>
              <a:t>to</a:t>
            </a:r>
          </a:p>
          <a:p>
            <a:pPr marL="0" marR="0">
              <a:lnSpc>
                <a:spcPts val="1368"/>
              </a:lnSpc>
              <a:spcBef>
                <a:spcPts val="205"/>
              </a:spcBef>
              <a:spcAft>
                <a:spcPts val="0"/>
              </a:spcAft>
            </a:pPr>
            <a:r>
              <a:rPr sz="1200" spc="-18" dirty="0">
                <a:solidFill>
                  <a:srgbClr val="CBD5E1"/>
                </a:solidFill>
                <a:latin typeface="DejaVu Sans"/>
                <a:cs typeface="DejaVu Sans"/>
              </a:rPr>
              <a:t>'Processed'</a:t>
            </a:r>
            <a:r>
              <a:rPr sz="1200" dirty="0">
                <a:solidFill>
                  <a:srgbClr val="CBD5E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CBD5E1"/>
                </a:solidFill>
                <a:latin typeface="DejaVu Sans"/>
                <a:cs typeface="DejaVu Sans"/>
              </a:rPr>
              <a:t>or</a:t>
            </a:r>
            <a:r>
              <a:rPr sz="1200" dirty="0">
                <a:solidFill>
                  <a:srgbClr val="CBD5E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CBD5E1"/>
                </a:solidFill>
                <a:latin typeface="DejaVu Sans"/>
                <a:cs typeface="DejaVu Sans"/>
              </a:rPr>
              <a:t>'Error'</a:t>
            </a:r>
            <a:r>
              <a:rPr sz="1200" dirty="0">
                <a:solidFill>
                  <a:srgbClr val="CBD5E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CBD5E1"/>
                </a:solidFill>
                <a:latin typeface="DejaVu Sans"/>
                <a:cs typeface="DejaVu Sans"/>
              </a:rPr>
              <a:t>folders.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4209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56369"/>
            <a:ext cx="9927525" cy="913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4" dirty="0">
                <a:solidFill>
                  <a:srgbClr val="ECF0F1"/>
                </a:solidFill>
                <a:latin typeface="DejaVu Sans"/>
                <a:cs typeface="DejaVu Sans"/>
              </a:rPr>
              <a:t>Step-by-Step</a:t>
            </a:r>
            <a:r>
              <a:rPr sz="3000" b="1" spc="10" dirty="0">
                <a:solidFill>
                  <a:srgbClr val="ECF0F1"/>
                </a:solidFill>
                <a:latin typeface="DejaVu Sans"/>
                <a:cs typeface="DejaVu Sans"/>
              </a:rPr>
              <a:t> File</a:t>
            </a:r>
            <a:r>
              <a:rPr sz="3000" b="1" spc="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ECF0F1"/>
                </a:solidFill>
                <a:latin typeface="DejaVu Sans"/>
                <a:cs typeface="DejaVu Sans"/>
              </a:rPr>
              <a:t>Operation</a:t>
            </a:r>
            <a:r>
              <a:rPr sz="3000" b="1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ECF0F1"/>
                </a:solidFill>
                <a:latin typeface="DejaVu Sans"/>
                <a:cs typeface="DejaVu Sans"/>
              </a:rPr>
              <a:t>Example:</a:t>
            </a:r>
            <a:r>
              <a:rPr sz="30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ECF0F1"/>
                </a:solidFill>
                <a:latin typeface="DejaVu Sans"/>
                <a:cs typeface="DejaVu Sans"/>
              </a:rPr>
              <a:t>Report</a:t>
            </a:r>
          </a:p>
          <a:p>
            <a:pPr marL="0" marR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4" dirty="0">
                <a:solidFill>
                  <a:srgbClr val="ECF0F1"/>
                </a:solidFill>
                <a:latin typeface="DejaVu Sans"/>
                <a:cs typeface="DejaVu Sans"/>
              </a:rPr>
              <a:t>Generation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1446746"/>
            <a:ext cx="6806534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chemeClr val="bg1"/>
                </a:solidFill>
                <a:latin typeface="DejaVu Sans"/>
                <a:cs typeface="DejaVu Sans"/>
              </a:rPr>
              <a:t>Scenario:</a:t>
            </a:r>
            <a:r>
              <a:rPr sz="20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chemeClr val="bg1"/>
                </a:solidFill>
                <a:latin typeface="DejaVu Sans"/>
                <a:cs typeface="DejaVu Sans"/>
              </a:rPr>
              <a:t>Automating</a:t>
            </a:r>
            <a:r>
              <a:rPr sz="2000" b="1" dirty="0">
                <a:solidFill>
                  <a:schemeClr val="bg1"/>
                </a:solidFill>
                <a:latin typeface="DejaVu Sans"/>
                <a:cs typeface="DejaVu Sans"/>
              </a:rPr>
              <a:t> Daily </a:t>
            </a:r>
            <a:r>
              <a:rPr sz="2000" b="1" spc="10" dirty="0">
                <a:solidFill>
                  <a:schemeClr val="bg1"/>
                </a:solidFill>
                <a:latin typeface="DejaVu Sans"/>
                <a:cs typeface="DejaVu Sans"/>
              </a:rPr>
              <a:t>Report</a:t>
            </a:r>
            <a:r>
              <a:rPr sz="2000" b="1" dirty="0">
                <a:solidFill>
                  <a:schemeClr val="bg1"/>
                </a:solidFill>
                <a:latin typeface="DejaVu Sans"/>
                <a:cs typeface="DejaVu Sans"/>
              </a:rPr>
              <a:t> Creation &amp;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dirty="0">
                <a:solidFill>
                  <a:schemeClr val="bg1"/>
                </a:solidFill>
                <a:latin typeface="DejaVu Sans"/>
                <a:cs typeface="DejaVu Sans"/>
              </a:rPr>
              <a:t>Population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0999" y="2211764"/>
            <a:ext cx="7185025" cy="1008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Automating the creation and population of daily reports is a classic application of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spc="-40" dirty="0">
                <a:solidFill>
                  <a:srgbClr val="ECF0F1"/>
                </a:solidFill>
                <a:latin typeface="DejaVu Sans"/>
                <a:cs typeface="DejaVu Sans"/>
              </a:rPr>
              <a:t>RPA.</a:t>
            </a:r>
            <a:r>
              <a:rPr sz="1350" spc="3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This process often involves gathering data, formatting it, and distributing the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ﬁnal report. Manual </a:t>
            </a:r>
            <a:r>
              <a:rPr sz="1350" spc="-11" dirty="0">
                <a:solidFill>
                  <a:srgbClr val="ECF0F1"/>
                </a:solidFill>
                <a:latin typeface="DejaVu Sans"/>
                <a:cs typeface="DejaVu Sans"/>
              </a:rPr>
              <a:t>execution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is repetitive, time-consuming, and </a:t>
            </a: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prone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to human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spc="-38" dirty="0">
                <a:solidFill>
                  <a:srgbClr val="ECF0F1"/>
                </a:solidFill>
                <a:latin typeface="DejaVu Sans"/>
                <a:cs typeface="DejaVu Sans"/>
              </a:rPr>
              <a:t>error.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0999" y="3326189"/>
            <a:ext cx="7315786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5" dirty="0">
                <a:solidFill>
                  <a:srgbClr val="ECF0F1"/>
                </a:solidFill>
                <a:latin typeface="DejaVu Sans"/>
                <a:cs typeface="DejaVu Sans"/>
              </a:rPr>
              <a:t>UiPath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ﬁle operations streamline this by allowing bots to dynamically manage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folders, generate reports with real-time data, and eﬃciently archive them, ensuring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consistency and </a:t>
            </a:r>
            <a:r>
              <a:rPr sz="1350" spc="-25" dirty="0">
                <a:solidFill>
                  <a:srgbClr val="ECF0F1"/>
                </a:solidFill>
                <a:latin typeface="DejaVu Sans"/>
                <a:cs typeface="DejaVu Sans"/>
              </a:rPr>
              <a:t>accuracy.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60549" y="4534355"/>
            <a:ext cx="2298519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ECF0F1"/>
                </a:solidFill>
                <a:latin typeface="DejaVu Sans"/>
                <a:cs typeface="DejaVu Sans"/>
              </a:rPr>
              <a:t>1.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ECF0F1"/>
                </a:solidFill>
                <a:latin typeface="DejaVu Sans"/>
                <a:cs typeface="DejaVu Sans"/>
              </a:rPr>
              <a:t>Creating</a:t>
            </a:r>
            <a:r>
              <a:rPr sz="1700" b="1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a</a:t>
            </a:r>
            <a:r>
              <a:rPr sz="1700" b="1" spc="-2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ECF0F1"/>
                </a:solidFill>
                <a:latin typeface="DejaVu Sans"/>
                <a:cs typeface="DejaVu Sans"/>
              </a:rPr>
              <a:t>New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b="1" spc="-14" dirty="0">
                <a:solidFill>
                  <a:srgbClr val="ECF0F1"/>
                </a:solidFill>
                <a:latin typeface="DejaVu Sans"/>
                <a:cs typeface="DejaVu Sans"/>
              </a:rPr>
              <a:t>Report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25" dirty="0">
                <a:solidFill>
                  <a:srgbClr val="ECF0F1"/>
                </a:solidFill>
                <a:latin typeface="DejaVu Sans"/>
                <a:cs typeface="DejaVu Sans"/>
              </a:rPr>
              <a:t>Folder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955827" y="4534355"/>
            <a:ext cx="2019099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ECF0F1"/>
                </a:solidFill>
                <a:latin typeface="DejaVu Sans"/>
                <a:cs typeface="DejaVu Sans"/>
              </a:rPr>
              <a:t>2.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ECF0F1"/>
                </a:solidFill>
                <a:latin typeface="DejaVu Sans"/>
                <a:cs typeface="DejaVu Sans"/>
              </a:rPr>
              <a:t>Generating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a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b="1" spc="-15" dirty="0">
                <a:solidFill>
                  <a:srgbClr val="ECF0F1"/>
                </a:solidFill>
                <a:latin typeface="DejaVu Sans"/>
                <a:cs typeface="DejaVu Sans"/>
              </a:rPr>
              <a:t>Dynamic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File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851105" y="4534355"/>
            <a:ext cx="2164995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ECF0F1"/>
                </a:solidFill>
                <a:latin typeface="DejaVu Sans"/>
                <a:cs typeface="DejaVu Sans"/>
              </a:rPr>
              <a:t>3.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ECF0F1"/>
                </a:solidFill>
                <a:latin typeface="DejaVu Sans"/>
                <a:cs typeface="DejaVu Sans"/>
              </a:rPr>
              <a:t>Moving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File</a:t>
            </a:r>
            <a:r>
              <a:rPr sz="1700" b="1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b="1" spc="-11" dirty="0">
                <a:solidFill>
                  <a:srgbClr val="ECF0F1"/>
                </a:solidFill>
                <a:latin typeface="DejaVu Sans"/>
                <a:cs typeface="DejaVu Sans"/>
              </a:rPr>
              <a:t>Archive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51556" y="5250994"/>
            <a:ext cx="3204331" cy="640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ECF0F1"/>
                </a:solidFill>
                <a:latin typeface="DejaVu Sans"/>
                <a:cs typeface="DejaVu Sans"/>
              </a:rPr>
              <a:t>Purpose:</a:t>
            </a:r>
            <a:r>
              <a:rPr sz="1200" b="1" spc="-3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Establish 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a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dedicated,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date-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stamped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directory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each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day's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reports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organized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storage.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446835" y="5250994"/>
            <a:ext cx="3450142" cy="640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ECF0F1"/>
                </a:solidFill>
                <a:latin typeface="DejaVu Sans"/>
                <a:cs typeface="DejaVu Sans"/>
              </a:rPr>
              <a:t>Purpose:</a:t>
            </a:r>
            <a:r>
              <a:rPr sz="1200" b="1" spc="-3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Create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report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ﬁle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(e.g.,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.txt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or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.csv)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populated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with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processed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from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31" dirty="0">
                <a:solidFill>
                  <a:srgbClr val="ECF0F1"/>
                </a:solidFill>
                <a:latin typeface="DejaVu Sans"/>
                <a:cs typeface="DejaVu Sans"/>
              </a:rPr>
              <a:t>workﬂow.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342113" y="5250994"/>
            <a:ext cx="3258860" cy="640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ECF0F1"/>
                </a:solidFill>
                <a:latin typeface="DejaVu Sans"/>
                <a:cs typeface="DejaVu Sans"/>
              </a:rPr>
              <a:t>Purpose:</a:t>
            </a:r>
            <a:r>
              <a:rPr sz="1200" b="1" spc="-3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Move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report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a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long-term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archive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historical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retention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compliance.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1556" y="5984419"/>
            <a:ext cx="276120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chemeClr val="bg1"/>
                </a:solidFill>
                <a:latin typeface="DejaVu Sans"/>
                <a:cs typeface="DejaVu Sans"/>
              </a:rPr>
              <a:t>UiPath</a:t>
            </a:r>
            <a:r>
              <a:rPr sz="12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chemeClr val="bg1"/>
                </a:solidFill>
                <a:latin typeface="DejaVu Sans"/>
                <a:cs typeface="DejaVu Sans"/>
              </a:rPr>
              <a:t>Activity:</a:t>
            </a:r>
            <a:r>
              <a:rPr sz="1200" b="1" spc="63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chemeClr val="bg1"/>
                </a:solidFill>
                <a:latin typeface="Liberation Mono"/>
                <a:cs typeface="Liberation Mono"/>
              </a:rPr>
              <a:t>Create Folder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446835" y="5984419"/>
            <a:ext cx="336992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chemeClr val="bg1"/>
                </a:solidFill>
                <a:latin typeface="DejaVu Sans"/>
                <a:cs typeface="DejaVu Sans"/>
              </a:rPr>
              <a:t>UiPath</a:t>
            </a:r>
            <a:r>
              <a:rPr sz="12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chemeClr val="bg1"/>
                </a:solidFill>
                <a:latin typeface="DejaVu Sans"/>
                <a:cs typeface="DejaVu Sans"/>
              </a:rPr>
              <a:t>Activities:</a:t>
            </a:r>
            <a:r>
              <a:rPr sz="1200" b="1" spc="632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chemeClr val="bg1"/>
                </a:solidFill>
                <a:latin typeface="Liberation Mono"/>
                <a:cs typeface="Liberation Mono"/>
              </a:rPr>
              <a:t>Write Text File</a:t>
            </a:r>
            <a:r>
              <a:rPr sz="1200" spc="325" dirty="0">
                <a:solidFill>
                  <a:schemeClr val="bg1"/>
                </a:solidFill>
                <a:latin typeface="Liberation Mono"/>
                <a:cs typeface="Liberation Mono"/>
              </a:rPr>
              <a:t> </a:t>
            </a:r>
            <a:r>
              <a:rPr sz="1200" spc="-15" dirty="0">
                <a:solidFill>
                  <a:schemeClr val="bg1"/>
                </a:solidFill>
                <a:latin typeface="DejaVu Sans"/>
                <a:cs typeface="DejaVu Sans"/>
              </a:rPr>
              <a:t>or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342113" y="5984419"/>
            <a:ext cx="240288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chemeClr val="bg1"/>
                </a:solidFill>
                <a:latin typeface="DejaVu Sans"/>
                <a:cs typeface="DejaVu Sans"/>
              </a:rPr>
              <a:t>UiPath</a:t>
            </a:r>
            <a:r>
              <a:rPr sz="12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chemeClr val="bg1"/>
                </a:solidFill>
                <a:latin typeface="DejaVu Sans"/>
                <a:cs typeface="DejaVu Sans"/>
              </a:rPr>
              <a:t>Activity:</a:t>
            </a:r>
            <a:r>
              <a:rPr sz="1200" b="1" spc="63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chemeClr val="bg1"/>
                </a:solidFill>
                <a:latin typeface="Liberation Mono"/>
                <a:cs typeface="Liberation Mono"/>
              </a:rPr>
              <a:t>Move File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532113" y="6203494"/>
            <a:ext cx="127054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chemeClr val="bg1"/>
                </a:solidFill>
                <a:latin typeface="Liberation Mono"/>
                <a:cs typeface="Liberation Mono"/>
              </a:rPr>
              <a:t>Append Line</a:t>
            </a:r>
            <a:r>
              <a:rPr sz="1200" spc="-47" dirty="0">
                <a:solidFill>
                  <a:schemeClr val="bg1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chemeClr val="bg1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51556" y="6289219"/>
            <a:ext cx="292857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ECF0F1"/>
                </a:solidFill>
                <a:latin typeface="DejaVu Sans"/>
                <a:cs typeface="DejaVu Sans"/>
              </a:rPr>
              <a:t>Example:</a:t>
            </a:r>
            <a:r>
              <a:rPr sz="1200" b="1" spc="-36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8" dirty="0">
                <a:solidFill>
                  <a:srgbClr val="ECF0F1"/>
                </a:solidFill>
                <a:latin typeface="DejaVu Sans"/>
                <a:cs typeface="DejaVu Sans"/>
              </a:rPr>
              <a:t>Robot</a:t>
            </a:r>
            <a:r>
              <a:rPr sz="12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creates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a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folder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like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342113" y="6289219"/>
            <a:ext cx="236690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ECF0F1"/>
                </a:solidFill>
                <a:latin typeface="DejaVu Sans"/>
                <a:cs typeface="DejaVu Sans"/>
              </a:rPr>
              <a:t>Example:</a:t>
            </a:r>
            <a:r>
              <a:rPr sz="1200" b="1" spc="-36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Move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report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51556" y="6498769"/>
            <a:ext cx="2581358" cy="215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CF0F1"/>
                </a:solidFill>
                <a:latin typeface="Liberation Mono"/>
                <a:cs typeface="Liberation Mono"/>
              </a:rPr>
              <a:t>Reports\Daily_Report_2023-10-27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446835" y="6508294"/>
            <a:ext cx="3148050" cy="640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ECF0F1"/>
                </a:solidFill>
                <a:latin typeface="DejaVu Sans"/>
                <a:cs typeface="DejaVu Sans"/>
              </a:rPr>
              <a:t>Example:</a:t>
            </a:r>
            <a:r>
              <a:rPr sz="1200" b="1" spc="-36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5" dirty="0">
                <a:solidFill>
                  <a:srgbClr val="ECF0F1"/>
                </a:solidFill>
                <a:latin typeface="DejaVu Sans"/>
                <a:cs typeface="DejaVu Sans"/>
              </a:rPr>
              <a:t>Write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a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summary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000" dirty="0">
                <a:solidFill>
                  <a:srgbClr val="ECF0F1"/>
                </a:solidFill>
                <a:latin typeface="Liberation Mono"/>
                <a:cs typeface="Liberation Mono"/>
              </a:rPr>
              <a:t>...Sales_Overview.txt</a:t>
            </a:r>
            <a:r>
              <a:rPr sz="1000" spc="-225" dirty="0">
                <a:solidFill>
                  <a:srgbClr val="ECF0F1"/>
                </a:solidFill>
                <a:latin typeface="Liberation Mono"/>
                <a:cs typeface="Liberation Mono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with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today's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sales</a:t>
            </a:r>
          </a:p>
          <a:p>
            <a:pPr marL="0" marR="0">
              <a:lnSpc>
                <a:spcPts val="1368"/>
              </a:lnSpc>
              <a:spcBef>
                <a:spcPts val="205"/>
              </a:spcBef>
              <a:spcAft>
                <a:spcPts val="0"/>
              </a:spcAft>
            </a:pP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ﬁgures.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342113" y="6498769"/>
            <a:ext cx="2427385" cy="215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CF0F1"/>
                </a:solidFill>
                <a:latin typeface="Liberation Mono"/>
                <a:cs typeface="Liberation Mono"/>
              </a:rPr>
              <a:t>Archive\Reports\2023\October\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51556" y="6803569"/>
            <a:ext cx="3433619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Rationale: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Use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ECF0F1"/>
                </a:solidFill>
                <a:latin typeface="Liberation Mono"/>
                <a:cs typeface="Liberation Mono"/>
              </a:rPr>
              <a:t>Path Exists</a:t>
            </a:r>
            <a:r>
              <a:rPr sz="1000" spc="-225" dirty="0">
                <a:solidFill>
                  <a:srgbClr val="ECF0F1"/>
                </a:solidFill>
                <a:latin typeface="Liberation Mono"/>
                <a:cs typeface="Liberation Mono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prevent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errors</a:t>
            </a:r>
          </a:p>
          <a:p>
            <a:pPr marL="0" marR="0">
              <a:lnSpc>
                <a:spcPts val="1368"/>
              </a:lnSpc>
              <a:spcBef>
                <a:spcPts val="205"/>
              </a:spcBef>
              <a:spcAft>
                <a:spcPts val="0"/>
              </a:spcAft>
            </a:pP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if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folder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already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exists.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342113" y="6803569"/>
            <a:ext cx="3125830" cy="640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Rationale: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Ensures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proper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lifecycle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management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clears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working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30" dirty="0">
                <a:solidFill>
                  <a:srgbClr val="ECF0F1"/>
                </a:solidFill>
                <a:latin typeface="DejaVu Sans"/>
                <a:cs typeface="DejaVu Sans"/>
              </a:rPr>
              <a:t>directory.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58117" y="7366298"/>
            <a:ext cx="1082453" cy="4919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Organization</a:t>
            </a:r>
          </a:p>
          <a:p>
            <a:pPr marL="0" marR="0">
              <a:lnSpc>
                <a:spcPts val="1173"/>
              </a:lnSpc>
              <a:spcBef>
                <a:spcPts val="1226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Structure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886545" y="7366298"/>
            <a:ext cx="122165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Date-stamping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553396" y="7366298"/>
            <a:ext cx="1390522" cy="4919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Dynamic Content</a:t>
            </a:r>
          </a:p>
          <a:p>
            <a:pPr marL="0" marR="0">
              <a:lnSpc>
                <a:spcPts val="1173"/>
              </a:lnSpc>
              <a:spcBef>
                <a:spcPts val="1226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Customization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090046" y="7366298"/>
            <a:ext cx="104217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Data Output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448674" y="7671098"/>
            <a:ext cx="83561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Archiving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9430195" y="7671098"/>
            <a:ext cx="98731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DejaVu Sans"/>
                <a:cs typeface="DejaVu Sans"/>
              </a:rPr>
              <a:t>Compliance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0563373" y="7671098"/>
            <a:ext cx="73734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Cleanup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2391518" y="8638121"/>
            <a:ext cx="756123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chemeClr val="bg1"/>
                </a:solidFill>
                <a:latin typeface="DejaVu Sans"/>
                <a:cs typeface="DejaVu Sans"/>
              </a:rPr>
              <a:t>Impact</a:t>
            </a:r>
            <a:r>
              <a:rPr sz="2000" b="1" dirty="0">
                <a:solidFill>
                  <a:schemeClr val="bg1"/>
                </a:solidFill>
                <a:latin typeface="DejaVu Sans"/>
                <a:cs typeface="DejaVu Sans"/>
              </a:rPr>
              <a:t> &amp;</a:t>
            </a:r>
            <a:r>
              <a:rPr sz="2000" b="1" spc="18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chemeClr val="bg1"/>
                </a:solidFill>
                <a:latin typeface="DejaVu Sans"/>
                <a:cs typeface="DejaVu Sans"/>
              </a:rPr>
              <a:t>Beneﬁts</a:t>
            </a:r>
            <a:r>
              <a:rPr sz="20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chemeClr val="bg1"/>
                </a:solidFill>
                <a:latin typeface="DejaVu Sans"/>
                <a:cs typeface="DejaVu Sans"/>
              </a:rPr>
              <a:t>of</a:t>
            </a:r>
            <a:r>
              <a:rPr sz="20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chemeClr val="bg1"/>
                </a:solidFill>
                <a:latin typeface="DejaVu Sans"/>
                <a:cs typeface="DejaVu Sans"/>
              </a:rPr>
              <a:t>Automated</a:t>
            </a:r>
            <a:r>
              <a:rPr sz="20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chemeClr val="bg1"/>
                </a:solidFill>
                <a:latin typeface="DejaVu Sans"/>
                <a:cs typeface="DejaVu Sans"/>
              </a:rPr>
              <a:t>Report</a:t>
            </a:r>
            <a:r>
              <a:rPr sz="20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chemeClr val="bg1"/>
                </a:solidFill>
                <a:latin typeface="DejaVu Sans"/>
                <a:cs typeface="DejaVu Sans"/>
              </a:rPr>
              <a:t>Generation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551556" y="9069764"/>
            <a:ext cx="4341990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Automating daily </a:t>
            </a: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report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generation signiﬁcantly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boosts eﬃciency and accuracy, transforming a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manual burden into a seamless, reliable process.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551556" y="10012739"/>
            <a:ext cx="4417974" cy="998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This approach </a:t>
            </a: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frees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up human </a:t>
            </a: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resources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for </a:t>
            </a:r>
            <a:r>
              <a:rPr sz="1350" spc="-15" dirty="0">
                <a:solidFill>
                  <a:srgbClr val="ECF0F1"/>
                </a:solidFill>
                <a:latin typeface="DejaVu Sans"/>
                <a:cs typeface="DejaVu Sans"/>
              </a:rPr>
              <a:t>more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strategic tasks, eliminates human-induced </a:t>
            </a:r>
            <a:r>
              <a:rPr sz="1350" spc="-11" dirty="0">
                <a:solidFill>
                  <a:srgbClr val="ECF0F1"/>
                </a:solidFill>
                <a:latin typeface="DejaVu Sans"/>
                <a:cs typeface="DejaVu Sans"/>
              </a:rPr>
              <a:t>errors,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and ensures timely availability of critical business</a:t>
            </a:r>
          </a:p>
          <a:p>
            <a:pPr marL="0" marR="0">
              <a:lnSpc>
                <a:spcPts val="1564"/>
              </a:lnSpc>
              <a:spcBef>
                <a:spcPts val="46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insights.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19832" y="129139"/>
            <a:ext cx="12191999" cy="169899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45701"/>
            <a:ext cx="9497986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5" dirty="0">
                <a:solidFill>
                  <a:srgbClr val="ECF0F1"/>
                </a:solidFill>
                <a:latin typeface="DejaVu Sans"/>
                <a:cs typeface="DejaVu Sans"/>
              </a:rPr>
              <a:t>Combining</a:t>
            </a:r>
            <a:r>
              <a:rPr sz="30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30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3000" b="1" spc="-52" dirty="0">
                <a:solidFill>
                  <a:srgbClr val="ECF0F1"/>
                </a:solidFill>
                <a:latin typeface="DejaVu Sans"/>
                <a:cs typeface="DejaVu Sans"/>
              </a:rPr>
              <a:t>Tables</a:t>
            </a:r>
            <a:r>
              <a:rPr sz="3000" b="1" spc="75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  <a:r>
              <a:rPr sz="30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3000" b="1" spc="10" dirty="0">
                <a:solidFill>
                  <a:srgbClr val="ECF0F1"/>
                </a:solidFill>
                <a:latin typeface="DejaVu Sans"/>
                <a:cs typeface="DejaVu Sans"/>
              </a:rPr>
              <a:t>File</a:t>
            </a:r>
            <a:r>
              <a:rPr sz="3000" b="1" spc="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ECF0F1"/>
                </a:solidFill>
                <a:latin typeface="DejaVu Sans"/>
                <a:cs typeface="DejaVu Sans"/>
              </a:rPr>
              <a:t>Operations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43459" y="988403"/>
            <a:ext cx="7457487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chemeClr val="bg1"/>
                </a:solidFill>
                <a:latin typeface="DejaVu Sans"/>
                <a:cs typeface="DejaVu Sans"/>
              </a:rPr>
              <a:t>The</a:t>
            </a:r>
            <a:r>
              <a:rPr sz="20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chemeClr val="bg1"/>
                </a:solidFill>
                <a:latin typeface="DejaVu Sans"/>
                <a:cs typeface="DejaVu Sans"/>
              </a:rPr>
              <a:t>Power</a:t>
            </a:r>
            <a:r>
              <a:rPr sz="20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chemeClr val="bg1"/>
                </a:solidFill>
                <a:latin typeface="DejaVu Sans"/>
                <a:cs typeface="DejaVu Sans"/>
              </a:rPr>
              <a:t>of</a:t>
            </a:r>
            <a:r>
              <a:rPr sz="2000" b="1" dirty="0">
                <a:solidFill>
                  <a:schemeClr val="bg1"/>
                </a:solidFill>
                <a:latin typeface="DejaVu Sans"/>
                <a:cs typeface="DejaVu Sans"/>
              </a:rPr>
              <a:t> Integrated </a:t>
            </a:r>
            <a:r>
              <a:rPr sz="2000" b="1" spc="10" dirty="0">
                <a:solidFill>
                  <a:schemeClr val="bg1"/>
                </a:solidFill>
                <a:latin typeface="DejaVu Sans"/>
                <a:cs typeface="DejaVu Sans"/>
              </a:rPr>
              <a:t>Data</a:t>
            </a:r>
            <a:r>
              <a:rPr sz="2000" b="1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chemeClr val="bg1"/>
                </a:solidFill>
                <a:latin typeface="DejaVu Sans"/>
                <a:cs typeface="DejaVu Sans"/>
              </a:rPr>
              <a:t>and</a:t>
            </a:r>
            <a:r>
              <a:rPr sz="2000" b="1" dirty="0">
                <a:solidFill>
                  <a:schemeClr val="bg1"/>
                </a:solidFill>
                <a:latin typeface="DejaVu Sans"/>
                <a:cs typeface="DejaVu Sans"/>
              </a:rPr>
              <a:t> File </a:t>
            </a:r>
            <a:r>
              <a:rPr sz="2000" b="1" spc="10" dirty="0">
                <a:solidFill>
                  <a:schemeClr val="bg1"/>
                </a:solidFill>
                <a:latin typeface="DejaVu Sans"/>
                <a:cs typeface="DejaVu Sans"/>
              </a:rPr>
              <a:t>Automation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02258" y="1439097"/>
            <a:ext cx="9539493" cy="7892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567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In </a:t>
            </a:r>
            <a:r>
              <a:rPr sz="1350" spc="-33" dirty="0">
                <a:solidFill>
                  <a:srgbClr val="ECF0F1"/>
                </a:solidFill>
                <a:latin typeface="DejaVu Sans"/>
                <a:cs typeface="DejaVu Sans"/>
              </a:rPr>
              <a:t>RPA,</a:t>
            </a:r>
            <a:r>
              <a:rPr sz="1350" spc="2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the true power of automation is unleashed when structured data handling (via Data </a:t>
            </a:r>
            <a:r>
              <a:rPr sz="1350" spc="-34" dirty="0">
                <a:solidFill>
                  <a:srgbClr val="ECF0F1"/>
                </a:solidFill>
                <a:latin typeface="DejaVu Sans"/>
                <a:cs typeface="DejaVu Sans"/>
              </a:rPr>
              <a:t>Tables)</a:t>
            </a:r>
            <a:r>
              <a:rPr sz="1350" spc="3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is</a:t>
            </a:r>
          </a:p>
          <a:p>
            <a:pPr marL="0" marR="0">
              <a:lnSpc>
                <a:spcPts val="1564"/>
              </a:lnSpc>
              <a:spcBef>
                <a:spcPts val="56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seamlessly integrated with </a:t>
            </a: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robust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ﬁle system operations. This combination enables end-to-end automation of</a:t>
            </a:r>
          </a:p>
          <a:p>
            <a:pPr marL="1133772" marR="0">
              <a:lnSpc>
                <a:spcPts val="1564"/>
              </a:lnSpc>
              <a:spcBef>
                <a:spcPts val="6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complex, data-driven business processes, </a:t>
            </a:r>
            <a:r>
              <a:rPr sz="1350" spc="-12" dirty="0">
                <a:solidFill>
                  <a:srgbClr val="ECF0F1"/>
                </a:solidFill>
                <a:latin typeface="DejaVu Sans"/>
                <a:cs typeface="DejaVu Sans"/>
              </a:rPr>
              <a:t>from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ingestion to ﬁnal </a:t>
            </a: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report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generation.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70074" y="6752538"/>
            <a:ext cx="2651511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ECF0F1"/>
                </a:solidFill>
                <a:latin typeface="DejaVu Sans"/>
                <a:cs typeface="DejaVu Sans"/>
              </a:rPr>
              <a:t>Ingesting</a:t>
            </a:r>
            <a:r>
              <a:rPr sz="1700" b="1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ECF0F1"/>
                </a:solidFill>
                <a:latin typeface="DejaVu Sans"/>
                <a:cs typeface="DejaVu Sans"/>
              </a:rPr>
              <a:t>Data: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ECF0F1"/>
                </a:solidFill>
                <a:latin typeface="DejaVu Sans"/>
                <a:cs typeface="DejaVu Sans"/>
              </a:rPr>
              <a:t>Files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700" b="1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46" dirty="0">
                <a:solidFill>
                  <a:srgbClr val="ECF0F1"/>
                </a:solidFill>
                <a:latin typeface="DejaVu Sans"/>
                <a:cs typeface="DejaVu Sans"/>
              </a:rPr>
              <a:t>Tables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965352" y="6752538"/>
            <a:ext cx="2866941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27" dirty="0">
                <a:solidFill>
                  <a:srgbClr val="ECF0F1"/>
                </a:solidFill>
                <a:latin typeface="DejaVu Sans"/>
                <a:cs typeface="DejaVu Sans"/>
              </a:rPr>
              <a:t>Transforming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ECF0F1"/>
                </a:solidFill>
                <a:latin typeface="DejaVu Sans"/>
                <a:cs typeface="DejaVu Sans"/>
              </a:rPr>
              <a:t>Data: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ECF0F1"/>
                </a:solidFill>
                <a:latin typeface="DejaVu Sans"/>
                <a:cs typeface="DejaVu Sans"/>
              </a:rPr>
              <a:t>In-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5" dirty="0">
                <a:solidFill>
                  <a:srgbClr val="ECF0F1"/>
                </a:solidFill>
                <a:latin typeface="DejaVu Sans"/>
                <a:cs typeface="DejaVu Sans"/>
              </a:rPr>
              <a:t>Memory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ECF0F1"/>
                </a:solidFill>
                <a:latin typeface="DejaVu Sans"/>
                <a:cs typeface="DejaVu Sans"/>
              </a:rPr>
              <a:t>Processing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860630" y="6752538"/>
            <a:ext cx="2687028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ECF0F1"/>
                </a:solidFill>
                <a:latin typeface="DejaVu Sans"/>
                <a:cs typeface="DejaVu Sans"/>
              </a:rPr>
              <a:t>Exporting</a:t>
            </a:r>
            <a:r>
              <a:rPr sz="1700" b="1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ECF0F1"/>
                </a:solidFill>
                <a:latin typeface="DejaVu Sans"/>
                <a:cs typeface="DejaVu Sans"/>
              </a:rPr>
              <a:t>Data: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46" dirty="0">
                <a:solidFill>
                  <a:srgbClr val="ECF0F1"/>
                </a:solidFill>
                <a:latin typeface="DejaVu Sans"/>
                <a:cs typeface="DejaVu Sans"/>
              </a:rPr>
              <a:t>Tables</a:t>
            </a:r>
            <a:r>
              <a:rPr sz="1700" b="1" spc="2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700" b="1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ECF0F1"/>
                </a:solidFill>
                <a:latin typeface="DejaVu Sans"/>
                <a:cs typeface="DejaVu Sans"/>
              </a:rPr>
              <a:t>Files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61081" y="7469176"/>
            <a:ext cx="3408235" cy="6502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ECF0F1"/>
                </a:solidFill>
                <a:latin typeface="DejaVu Sans"/>
                <a:cs typeface="DejaVu Sans"/>
              </a:rPr>
              <a:t>Purpose:</a:t>
            </a:r>
            <a:r>
              <a:rPr sz="1200" b="1" spc="-3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Extracting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structured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from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ﬁles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(Excel,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CSV)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loading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it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into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an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in-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memory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Liberation Mono"/>
                <a:cs typeface="Liberation Mono"/>
              </a:rPr>
              <a:t>DataTable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uniform processing.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456360" y="7469176"/>
            <a:ext cx="3416435" cy="859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ECF0F1"/>
                </a:solidFill>
                <a:latin typeface="DejaVu Sans"/>
                <a:cs typeface="DejaVu Sans"/>
              </a:rPr>
              <a:t>Purpose:</a:t>
            </a:r>
            <a:r>
              <a:rPr sz="1200" b="1" spc="-3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Performing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complex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transformations,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ﬁltering,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aggregations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directly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within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Liberation Mono"/>
                <a:cs typeface="Liberation Mono"/>
              </a:rPr>
              <a:t>DataTable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high-</a:t>
            </a:r>
          </a:p>
          <a:p>
            <a:pPr marL="0" marR="0">
              <a:lnSpc>
                <a:spcPts val="1368"/>
              </a:lnSpc>
              <a:spcBef>
                <a:spcPts val="28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speed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computation.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351638" y="7469176"/>
            <a:ext cx="3181958" cy="859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ECF0F1"/>
                </a:solidFill>
                <a:latin typeface="DejaVu Sans"/>
                <a:cs typeface="DejaVu Sans"/>
              </a:rPr>
              <a:t>Purpose:</a:t>
            </a:r>
            <a:r>
              <a:rPr sz="1200" b="1" spc="-3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Exporting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processed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ECF0F1"/>
                </a:solidFill>
                <a:latin typeface="Liberation Mono"/>
                <a:cs typeface="Liberation Mono"/>
              </a:rPr>
              <a:t>DataTable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content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back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into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various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ﬁle</a:t>
            </a:r>
          </a:p>
          <a:p>
            <a:pPr marL="0" marR="0">
              <a:lnSpc>
                <a:spcPts val="1368"/>
              </a:lnSpc>
              <a:spcBef>
                <a:spcPts val="305"/>
              </a:spcBef>
              <a:spcAft>
                <a:spcPts val="0"/>
              </a:spcAft>
            </a:pP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formats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distribution,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archival,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or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reporting.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61081" y="8202601"/>
            <a:ext cx="197142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8" dirty="0">
                <a:solidFill>
                  <a:srgbClr val="ECF0F1"/>
                </a:solidFill>
                <a:latin typeface="DejaVu Sans"/>
                <a:cs typeface="DejaVu Sans"/>
              </a:rPr>
              <a:t>Key</a:t>
            </a:r>
            <a:r>
              <a:rPr sz="12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b="1" spc="-20" dirty="0">
                <a:solidFill>
                  <a:srgbClr val="ECF0F1"/>
                </a:solidFill>
                <a:latin typeface="DejaVu Sans"/>
                <a:cs typeface="DejaVu Sans"/>
              </a:rPr>
              <a:t>UiPath</a:t>
            </a:r>
            <a:r>
              <a:rPr sz="12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rgbClr val="ECF0F1"/>
                </a:solidFill>
                <a:latin typeface="DejaVu Sans"/>
                <a:cs typeface="DejaVu Sans"/>
              </a:rPr>
              <a:t>Activities: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456360" y="8412151"/>
            <a:ext cx="197141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8" dirty="0">
                <a:solidFill>
                  <a:srgbClr val="ECF0F1"/>
                </a:solidFill>
                <a:latin typeface="DejaVu Sans"/>
                <a:cs typeface="DejaVu Sans"/>
              </a:rPr>
              <a:t>Key</a:t>
            </a:r>
            <a:r>
              <a:rPr sz="12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b="1" spc="-20" dirty="0">
                <a:solidFill>
                  <a:srgbClr val="ECF0F1"/>
                </a:solidFill>
                <a:latin typeface="DejaVu Sans"/>
                <a:cs typeface="DejaVu Sans"/>
              </a:rPr>
              <a:t>UiPath</a:t>
            </a:r>
            <a:r>
              <a:rPr sz="12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rgbClr val="ECF0F1"/>
                </a:solidFill>
                <a:latin typeface="DejaVu Sans"/>
                <a:cs typeface="DejaVu Sans"/>
              </a:rPr>
              <a:t>Activities: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351638" y="8412151"/>
            <a:ext cx="197142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8" dirty="0">
                <a:solidFill>
                  <a:srgbClr val="ECF0F1"/>
                </a:solidFill>
                <a:latin typeface="DejaVu Sans"/>
                <a:cs typeface="DejaVu Sans"/>
              </a:rPr>
              <a:t>Key</a:t>
            </a:r>
            <a:r>
              <a:rPr sz="12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b="1" spc="-20" dirty="0">
                <a:solidFill>
                  <a:srgbClr val="ECF0F1"/>
                </a:solidFill>
                <a:latin typeface="DejaVu Sans"/>
                <a:cs typeface="DejaVu Sans"/>
              </a:rPr>
              <a:t>UiPath</a:t>
            </a:r>
            <a:r>
              <a:rPr sz="12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rgbClr val="ECF0F1"/>
                </a:solidFill>
                <a:latin typeface="DejaVu Sans"/>
                <a:cs typeface="DejaVu Sans"/>
              </a:rPr>
              <a:t>Activities: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6360" y="8497876"/>
            <a:ext cx="3280926" cy="1307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424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Read Range (Excel)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: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Imports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</a:p>
          <a:p>
            <a:pPr marL="0" marR="0">
              <a:lnSpc>
                <a:spcPts val="1368"/>
              </a:lnSpc>
              <a:spcBef>
                <a:spcPts val="305"/>
              </a:spcBef>
              <a:spcAft>
                <a:spcPts val="0"/>
              </a:spcAft>
            </a:pP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from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.xlsx,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.xls.</a:t>
            </a:r>
          </a:p>
          <a:p>
            <a:pPr marL="206424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Read </a:t>
            </a:r>
            <a:r>
              <a:rPr sz="1200" spc="-14" dirty="0">
                <a:solidFill>
                  <a:srgbClr val="ECF0F1"/>
                </a:solidFill>
                <a:latin typeface="Liberation Mono"/>
                <a:cs typeface="Liberation Mono"/>
              </a:rPr>
              <a:t>CSV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: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Eﬃciently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reads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CSV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ﬁles</a:t>
            </a:r>
          </a:p>
          <a:p>
            <a:pPr marL="0" marR="0">
              <a:lnSpc>
                <a:spcPts val="1368"/>
              </a:lnSpc>
              <a:spcBef>
                <a:spcPts val="355"/>
              </a:spcBef>
              <a:spcAft>
                <a:spcPts val="0"/>
              </a:spcAft>
            </a:pP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into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a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31" dirty="0">
                <a:solidFill>
                  <a:srgbClr val="ECF0F1"/>
                </a:solidFill>
                <a:latin typeface="DejaVu Sans"/>
                <a:cs typeface="DejaVu Sans"/>
              </a:rPr>
              <a:t>DataTable.</a:t>
            </a:r>
          </a:p>
          <a:p>
            <a:pPr marL="206424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Table Extraction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: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Extracts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from</a:t>
            </a:r>
          </a:p>
          <a:p>
            <a:pPr marL="0" marR="0">
              <a:lnSpc>
                <a:spcPts val="1368"/>
              </a:lnSpc>
              <a:spcBef>
                <a:spcPts val="280"/>
              </a:spcBef>
              <a:spcAft>
                <a:spcPts val="0"/>
              </a:spcAft>
            </a:pP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web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pages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apps.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541638" y="8716951"/>
            <a:ext cx="3329656" cy="43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424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Filter Data Table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: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Selects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subsets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of</a:t>
            </a:r>
          </a:p>
          <a:p>
            <a:pPr marL="0" marR="0">
              <a:lnSpc>
                <a:spcPts val="1368"/>
              </a:lnSpc>
              <a:spcBef>
                <a:spcPts val="230"/>
              </a:spcBef>
              <a:spcAft>
                <a:spcPts val="0"/>
              </a:spcAft>
            </a:pP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data.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436916" y="8716951"/>
            <a:ext cx="2755050" cy="43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424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Write Range (Excel)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: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Outputs</a:t>
            </a:r>
          </a:p>
          <a:p>
            <a:pPr marL="0" marR="0">
              <a:lnSpc>
                <a:spcPts val="1368"/>
              </a:lnSpc>
              <a:spcBef>
                <a:spcPts val="230"/>
              </a:spcBef>
              <a:spcAft>
                <a:spcPts val="0"/>
              </a:spcAft>
            </a:pPr>
            <a:r>
              <a:rPr sz="1200" spc="-34" dirty="0">
                <a:solidFill>
                  <a:srgbClr val="ECF0F1"/>
                </a:solidFill>
                <a:latin typeface="DejaVu Sans"/>
                <a:cs typeface="DejaVu Sans"/>
              </a:rPr>
              <a:t>DataTable</a:t>
            </a:r>
            <a:r>
              <a:rPr sz="12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Excel.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541638" y="9155101"/>
            <a:ext cx="3288407" cy="869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424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Join Data Tables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: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 Combines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multiple</a:t>
            </a:r>
          </a:p>
          <a:p>
            <a:pPr marL="0" marR="0">
              <a:lnSpc>
                <a:spcPts val="1368"/>
              </a:lnSpc>
              <a:spcBef>
                <a:spcPts val="23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38" dirty="0">
                <a:solidFill>
                  <a:srgbClr val="ECF0F1"/>
                </a:solidFill>
                <a:latin typeface="DejaVu Sans"/>
                <a:cs typeface="DejaVu Sans"/>
              </a:rPr>
              <a:t>Tables.</a:t>
            </a:r>
          </a:p>
          <a:p>
            <a:pPr marL="206424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For Each Row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: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Iterates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row-level</a:t>
            </a:r>
          </a:p>
          <a:p>
            <a:pPr marL="0" marR="0">
              <a:lnSpc>
                <a:spcPts val="1368"/>
              </a:lnSpc>
              <a:spcBef>
                <a:spcPts val="305"/>
              </a:spcBef>
              <a:spcAft>
                <a:spcPts val="0"/>
              </a:spcAft>
            </a:pP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operations.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436916" y="9155101"/>
            <a:ext cx="3334515" cy="869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424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Write </a:t>
            </a:r>
            <a:r>
              <a:rPr sz="1200" spc="-14" dirty="0">
                <a:solidFill>
                  <a:srgbClr val="ECF0F1"/>
                </a:solidFill>
                <a:latin typeface="Liberation Mono"/>
                <a:cs typeface="Liberation Mono"/>
              </a:rPr>
              <a:t>CSV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: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Exports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content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a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CSV</a:t>
            </a:r>
          </a:p>
          <a:p>
            <a:pPr marL="0" marR="0">
              <a:lnSpc>
                <a:spcPts val="1368"/>
              </a:lnSpc>
              <a:spcBef>
                <a:spcPts val="230"/>
              </a:spcBef>
              <a:spcAft>
                <a:spcPts val="0"/>
              </a:spcAft>
            </a:pP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ﬁle.</a:t>
            </a:r>
          </a:p>
          <a:p>
            <a:pPr marL="206424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Move/Copy File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: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 Manages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lifecycle</a:t>
            </a:r>
          </a:p>
          <a:p>
            <a:pPr marL="0" marR="0">
              <a:lnSpc>
                <a:spcPts val="1368"/>
              </a:lnSpc>
              <a:spcBef>
                <a:spcPts val="305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of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reports.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61081" y="9898051"/>
            <a:ext cx="335856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ECF0F1"/>
                </a:solidFill>
                <a:latin typeface="DejaVu Sans"/>
                <a:cs typeface="DejaVu Sans"/>
              </a:rPr>
              <a:t>Beneﬁt:</a:t>
            </a:r>
            <a:r>
              <a:rPr sz="1200" b="1" spc="-36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Converts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diverse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ﬁle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formats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into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61081" y="10107601"/>
            <a:ext cx="305044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a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standardized,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manipulable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structure.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456360" y="10107601"/>
            <a:ext cx="2901483" cy="640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ECF0F1"/>
                </a:solidFill>
                <a:latin typeface="DejaVu Sans"/>
                <a:cs typeface="DejaVu Sans"/>
              </a:rPr>
              <a:t>Beneﬁt:</a:t>
            </a:r>
            <a:r>
              <a:rPr sz="1200" b="1" spc="-36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Enables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rapid,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ﬂexible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manipulation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without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external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dependencies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during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processing.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351638" y="10107601"/>
            <a:ext cx="3366255" cy="640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ECF0F1"/>
                </a:solidFill>
                <a:latin typeface="DejaVu Sans"/>
                <a:cs typeface="DejaVu Sans"/>
              </a:rPr>
              <a:t>Beneﬁt:</a:t>
            </a:r>
            <a:r>
              <a:rPr sz="1200" b="1" spc="-36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Delivers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actionable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results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in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a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persistent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format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human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use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system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integration.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88925" y="10984655"/>
            <a:ext cx="1089420" cy="4919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Data Ingestion</a:t>
            </a:r>
          </a:p>
          <a:p>
            <a:pPr marL="0" marR="0">
              <a:lnSpc>
                <a:spcPts val="1173"/>
              </a:lnSpc>
              <a:spcBef>
                <a:spcPts val="1226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Cross-Format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881633" y="10984655"/>
            <a:ext cx="120115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Structured Input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584203" y="10984655"/>
            <a:ext cx="145895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DejaVu Sans"/>
                <a:cs typeface="DejaVu Sans"/>
              </a:rPr>
              <a:t>Data Transformation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146452" y="10984655"/>
            <a:ext cx="127247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Dynamic Filtering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479481" y="10984655"/>
            <a:ext cx="1375653" cy="4919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Report</a:t>
            </a:r>
            <a:r>
              <a:rPr sz="100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Generation</a:t>
            </a:r>
          </a:p>
          <a:p>
            <a:pPr marL="0" marR="0">
              <a:lnSpc>
                <a:spcPts val="1173"/>
              </a:lnSpc>
              <a:spcBef>
                <a:spcPts val="1226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System Integration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9914184" y="10984655"/>
            <a:ext cx="91767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Data Export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4584203" y="11289455"/>
            <a:ext cx="129834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High Performance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636984" y="12323154"/>
            <a:ext cx="6892520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E67E22"/>
                </a:solidFill>
                <a:latin typeface="DejaVu Sans"/>
                <a:cs typeface="DejaVu Sans"/>
              </a:rPr>
              <a:t>Performance</a:t>
            </a:r>
            <a:r>
              <a:rPr sz="2000" b="1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E67E22"/>
                </a:solidFill>
                <a:latin typeface="DejaVu Sans"/>
                <a:cs typeface="DejaVu Sans"/>
              </a:rPr>
              <a:t>Impact:</a:t>
            </a:r>
            <a:r>
              <a:rPr sz="2000" b="1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E67E22"/>
                </a:solidFill>
                <a:latin typeface="DejaVu Sans"/>
                <a:cs typeface="DejaVu Sans"/>
              </a:rPr>
              <a:t>Automated</a:t>
            </a:r>
            <a:r>
              <a:rPr sz="2000" b="1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E67E22"/>
                </a:solidFill>
                <a:latin typeface="DejaVu Sans"/>
                <a:cs typeface="DejaVu Sans"/>
              </a:rPr>
              <a:t>Data</a:t>
            </a:r>
            <a:r>
              <a:rPr sz="2000" b="1" dirty="0">
                <a:solidFill>
                  <a:srgbClr val="E67E22"/>
                </a:solidFill>
                <a:latin typeface="DejaVu Sans"/>
                <a:cs typeface="DejaVu Sans"/>
              </a:rPr>
              <a:t> Pipeline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636984" y="12792896"/>
            <a:ext cx="7117217" cy="1008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The synergy between Data </a:t>
            </a:r>
            <a:r>
              <a:rPr sz="1350" spc="-40" dirty="0">
                <a:solidFill>
                  <a:srgbClr val="ECF0F1"/>
                </a:solidFill>
                <a:latin typeface="DejaVu Sans"/>
                <a:cs typeface="DejaVu Sans"/>
              </a:rPr>
              <a:t>Tables</a:t>
            </a:r>
            <a:r>
              <a:rPr sz="1350" spc="34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and </a:t>
            </a:r>
            <a:r>
              <a:rPr sz="1350" spc="-34" dirty="0">
                <a:solidFill>
                  <a:srgbClr val="ECF0F1"/>
                </a:solidFill>
                <a:latin typeface="DejaVu Sans"/>
                <a:cs typeface="DejaVu Sans"/>
              </a:rPr>
              <a:t>File</a:t>
            </a:r>
            <a:r>
              <a:rPr sz="1350" spc="2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Operations empowers organizations to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build highly eﬃcient and accurate data processing pipelines. This automation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signiﬁcantly reduces manual eﬀort, accelerates </a:t>
            </a: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turnaround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times, and minimizes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spc="-11" dirty="0">
                <a:solidFill>
                  <a:srgbClr val="ECF0F1"/>
                </a:solidFill>
                <a:latin typeface="DejaVu Sans"/>
                <a:cs typeface="DejaVu Sans"/>
              </a:rPr>
              <a:t>errors,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leading to tangible operational beneﬁts.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66782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57892"/>
            <a:ext cx="8851902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5" dirty="0">
                <a:solidFill>
                  <a:srgbClr val="ECF0F1"/>
                </a:solidFill>
                <a:latin typeface="DejaVu Sans"/>
                <a:cs typeface="DejaVu Sans"/>
              </a:rPr>
              <a:t>Best</a:t>
            </a:r>
            <a:r>
              <a:rPr sz="30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ECF0F1"/>
                </a:solidFill>
                <a:latin typeface="DejaVu Sans"/>
                <a:cs typeface="DejaVu Sans"/>
              </a:rPr>
              <a:t>Practices</a:t>
            </a:r>
            <a:r>
              <a:rPr sz="30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  <a:r>
              <a:rPr sz="3000" b="1" dirty="0">
                <a:solidFill>
                  <a:srgbClr val="ECF0F1"/>
                </a:solidFill>
                <a:latin typeface="DejaVu Sans"/>
                <a:cs typeface="DejaVu Sans"/>
              </a:rPr>
              <a:t> Troubleshooting</a:t>
            </a:r>
            <a:r>
              <a:rPr sz="3000" b="1" spc="34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ECF0F1"/>
                </a:solidFill>
                <a:latin typeface="DejaVu Sans"/>
                <a:cs typeface="DejaVu Sans"/>
              </a:rPr>
              <a:t>Tips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1086320"/>
            <a:ext cx="5282991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E67E22"/>
                </a:solidFill>
                <a:latin typeface="DejaVu Sans"/>
                <a:cs typeface="DejaVu Sans"/>
              </a:rPr>
              <a:t>Elevating </a:t>
            </a:r>
            <a:r>
              <a:rPr sz="2000" b="1" spc="-37" dirty="0">
                <a:solidFill>
                  <a:srgbClr val="E67E22"/>
                </a:solidFill>
                <a:latin typeface="DejaVu Sans"/>
                <a:cs typeface="DejaVu Sans"/>
              </a:rPr>
              <a:t>Your</a:t>
            </a:r>
            <a:r>
              <a:rPr sz="2000" b="1" spc="50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E67E22"/>
                </a:solidFill>
                <a:latin typeface="DejaVu Sans"/>
                <a:cs typeface="DejaVu Sans"/>
              </a:rPr>
              <a:t>Automation:</a:t>
            </a:r>
            <a:r>
              <a:rPr sz="2000" b="1" dirty="0">
                <a:solidFill>
                  <a:srgbClr val="E67E22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E67E22"/>
                </a:solidFill>
                <a:latin typeface="DejaVu Sans"/>
                <a:cs typeface="DejaVu Sans"/>
              </a:rPr>
              <a:t>Beyond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dirty="0">
                <a:solidFill>
                  <a:srgbClr val="E67E22"/>
                </a:solidFill>
                <a:latin typeface="DejaVu Sans"/>
                <a:cs typeface="DejaVu Sans"/>
              </a:rPr>
              <a:t>Basic </a:t>
            </a:r>
            <a:r>
              <a:rPr sz="2000" b="1" spc="10" dirty="0">
                <a:solidFill>
                  <a:srgbClr val="E67E22"/>
                </a:solidFill>
                <a:latin typeface="DejaVu Sans"/>
                <a:cs typeface="DejaVu Sans"/>
              </a:rPr>
              <a:t>Implementation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0999" y="1898963"/>
            <a:ext cx="5664500" cy="1255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As automation complexity </a:t>
            </a: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grows,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adopting </a:t>
            </a: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robust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best practices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and mastering troubleshooting techniques becomes paramount.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These </a:t>
            </a:r>
            <a:r>
              <a:rPr sz="1350" spc="-18" dirty="0">
                <a:solidFill>
                  <a:srgbClr val="ECF0F1"/>
                </a:solidFill>
                <a:latin typeface="DejaVu Sans"/>
                <a:cs typeface="DejaVu Sans"/>
              </a:rPr>
              <a:t>are</a:t>
            </a:r>
            <a:r>
              <a:rPr sz="1350" spc="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critical for building resilient, high-performing, and</a:t>
            </a:r>
          </a:p>
          <a:p>
            <a:pPr marL="0" marR="0">
              <a:lnSpc>
                <a:spcPts val="1564"/>
              </a:lnSpc>
              <a:spcBef>
                <a:spcPts val="385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maintainable </a:t>
            </a:r>
            <a:r>
              <a:rPr sz="1350" spc="-47" dirty="0">
                <a:solidFill>
                  <a:srgbClr val="ECF0F1"/>
                </a:solidFill>
                <a:latin typeface="DejaVu Sans"/>
                <a:cs typeface="DejaVu Sans"/>
              </a:rPr>
              <a:t>RPA</a:t>
            </a:r>
            <a:r>
              <a:rPr sz="1350" spc="4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solutions, especially when dealing with data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tables and ﬁle operations.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0999" y="3261038"/>
            <a:ext cx="5666071" cy="1008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Proactive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design choices and eﬀective debugging can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signiﬁcantly </a:t>
            </a: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reduce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development time, minimize post-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deployment incidents, and </a:t>
            </a: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ensure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the long-term success of your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automation initiatives.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0074" y="5945579"/>
            <a:ext cx="2830427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ECF0F1"/>
                </a:solidFill>
                <a:latin typeface="DejaVu Sans"/>
                <a:cs typeface="DejaVu Sans"/>
              </a:rPr>
              <a:t>Robust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ECF0F1"/>
                </a:solidFill>
                <a:latin typeface="DejaVu Sans"/>
                <a:cs typeface="DejaVu Sans"/>
              </a:rPr>
              <a:t>Error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ECF0F1"/>
                </a:solidFill>
                <a:latin typeface="DejaVu Sans"/>
                <a:cs typeface="DejaVu Sans"/>
              </a:rPr>
              <a:t>Handling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91634" y="5945579"/>
            <a:ext cx="3964130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ECF0F1"/>
                </a:solidFill>
                <a:latin typeface="DejaVu Sans"/>
                <a:cs typeface="DejaVu Sans"/>
              </a:rPr>
              <a:t>Strategic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25" dirty="0">
                <a:solidFill>
                  <a:srgbClr val="ECF0F1"/>
                </a:solidFill>
                <a:latin typeface="DejaVu Sans"/>
                <a:cs typeface="DejaVu Sans"/>
              </a:rPr>
              <a:t>Variable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ECF0F1"/>
                </a:solidFill>
                <a:latin typeface="DejaVu Sans"/>
                <a:cs typeface="DejaVu Sans"/>
              </a:rPr>
              <a:t>Management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61081" y="6385993"/>
            <a:ext cx="5241121" cy="659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ECF0F1"/>
                </a:solidFill>
                <a:latin typeface="DejaVu Sans"/>
                <a:cs typeface="DejaVu Sans"/>
              </a:rPr>
              <a:t>Anticipate</a:t>
            </a:r>
            <a:r>
              <a:rPr sz="1200" b="1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b="1" dirty="0">
                <a:solidFill>
                  <a:srgbClr val="ECF0F1"/>
                </a:solidFill>
                <a:latin typeface="DejaVu Sans"/>
                <a:cs typeface="DejaVu Sans"/>
              </a:rPr>
              <a:t>&amp;</a:t>
            </a:r>
            <a:r>
              <a:rPr sz="1200" b="1" spc="-3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rgbClr val="ECF0F1"/>
                </a:solidFill>
                <a:latin typeface="DejaVu Sans"/>
                <a:cs typeface="DejaVu Sans"/>
              </a:rPr>
              <a:t>Isolate:</a:t>
            </a:r>
            <a:r>
              <a:rPr sz="1200" b="1" spc="-4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Implement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Liberation Mono"/>
                <a:cs typeface="Liberation Mono"/>
              </a:rPr>
              <a:t>Try-Catch-Finally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blocks</a:t>
            </a:r>
          </a:p>
          <a:p>
            <a:pPr marL="0" marR="0">
              <a:lnSpc>
                <a:spcPts val="1368"/>
              </a:lnSpc>
              <a:spcBef>
                <a:spcPts val="230"/>
              </a:spcBef>
              <a:spcAft>
                <a:spcPts val="0"/>
              </a:spcAft>
            </a:pP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around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critical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ﬁle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table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operations.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Use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speciﬁc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exception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types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(e.g.,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IOException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,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82642" y="6385993"/>
            <a:ext cx="4971796" cy="650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ECF0F1"/>
                </a:solidFill>
                <a:latin typeface="DejaVu Sans"/>
                <a:cs typeface="DejaVu Sans"/>
              </a:rPr>
              <a:t>Dynamic</a:t>
            </a:r>
            <a:r>
              <a:rPr sz="12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b="1" spc="-21" dirty="0">
                <a:solidFill>
                  <a:srgbClr val="ECF0F1"/>
                </a:solidFill>
                <a:latin typeface="DejaVu Sans"/>
                <a:cs typeface="DejaVu Sans"/>
              </a:rPr>
              <a:t>Paths:</a:t>
            </a:r>
            <a:r>
              <a:rPr sz="1200" b="1" spc="-3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31" dirty="0">
                <a:solidFill>
                  <a:srgbClr val="ECF0F1"/>
                </a:solidFill>
                <a:latin typeface="DejaVu Sans"/>
                <a:cs typeface="DejaVu Sans"/>
              </a:rPr>
              <a:t>Avoid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hardcoding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ﬁle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paths.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Use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variables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combine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them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with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Path.Combine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.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 Use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conﬁguration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assets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</a:p>
          <a:p>
            <a:pPr marL="0" marR="0">
              <a:lnSpc>
                <a:spcPts val="1368"/>
              </a:lnSpc>
              <a:spcBef>
                <a:spcPts val="305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environment-speciﬁc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paths.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61081" y="7043218"/>
            <a:ext cx="3663920" cy="221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System.Data.MissingPrimaryKeyException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).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82642" y="7119418"/>
            <a:ext cx="5276837" cy="650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b="1" spc="-41" dirty="0">
                <a:solidFill>
                  <a:srgbClr val="ECF0F1"/>
                </a:solidFill>
                <a:latin typeface="DejaVu Sans"/>
                <a:cs typeface="DejaVu Sans"/>
              </a:rPr>
              <a:t>Table</a:t>
            </a:r>
            <a:r>
              <a:rPr sz="1200" b="1" spc="1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b="1" spc="-21" dirty="0">
                <a:solidFill>
                  <a:srgbClr val="ECF0F1"/>
                </a:solidFill>
                <a:latin typeface="DejaVu Sans"/>
                <a:cs typeface="DejaVu Sans"/>
              </a:rPr>
              <a:t>Variables:</a:t>
            </a:r>
            <a:r>
              <a:rPr sz="1200" b="1" spc="-3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Declare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variables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of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type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4" dirty="0">
                <a:solidFill>
                  <a:srgbClr val="ECF0F1"/>
                </a:solidFill>
                <a:latin typeface="Liberation Mono"/>
                <a:cs typeface="Liberation Mono"/>
              </a:rPr>
              <a:t>System.Data.DataTable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structured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leverage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eﬃcient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in-</a:t>
            </a:r>
          </a:p>
          <a:p>
            <a:pPr marL="0" marR="0">
              <a:lnSpc>
                <a:spcPts val="1368"/>
              </a:lnSpc>
              <a:spcBef>
                <a:spcPts val="305"/>
              </a:spcBef>
              <a:spcAft>
                <a:spcPts val="0"/>
              </a:spcAft>
            </a:pP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memory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manipulation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methods.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61081" y="7348018"/>
            <a:ext cx="5165173" cy="640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ECF0F1"/>
                </a:solidFill>
                <a:latin typeface="DejaVu Sans"/>
                <a:cs typeface="DejaVu Sans"/>
              </a:rPr>
              <a:t>Graceful</a:t>
            </a:r>
            <a:r>
              <a:rPr sz="12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ECF0F1"/>
                </a:solidFill>
                <a:latin typeface="DejaVu Sans"/>
                <a:cs typeface="DejaVu Sans"/>
              </a:rPr>
              <a:t>Recovery:</a:t>
            </a:r>
            <a:r>
              <a:rPr sz="1200" b="1" spc="-3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Deﬁne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clear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actions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in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'Catch'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blocks: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retry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logic,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send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notiﬁcations,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log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errors,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move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problematic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ﬁles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error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30" dirty="0">
                <a:solidFill>
                  <a:srgbClr val="ECF0F1"/>
                </a:solidFill>
                <a:latin typeface="DejaVu Sans"/>
                <a:cs typeface="DejaVu Sans"/>
              </a:rPr>
              <a:t>folder.</a:t>
            </a:r>
            <a:r>
              <a:rPr sz="1200" spc="14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1" dirty="0">
                <a:solidFill>
                  <a:srgbClr val="ECF0F1"/>
                </a:solidFill>
                <a:latin typeface="DejaVu Sans"/>
                <a:cs typeface="DejaVu Sans"/>
              </a:rPr>
              <a:t>'Finally'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ensures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cleanup.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382642" y="7852843"/>
            <a:ext cx="4986718" cy="659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ECF0F1"/>
                </a:solidFill>
                <a:latin typeface="DejaVu Sans"/>
                <a:cs typeface="DejaVu Sans"/>
              </a:rPr>
              <a:t>Scope</a:t>
            </a:r>
            <a:r>
              <a:rPr sz="1200" b="1" dirty="0">
                <a:solidFill>
                  <a:srgbClr val="ECF0F1"/>
                </a:solidFill>
                <a:latin typeface="DejaVu Sans"/>
                <a:cs typeface="DejaVu Sans"/>
              </a:rPr>
              <a:t> &amp;</a:t>
            </a:r>
            <a:r>
              <a:rPr sz="1200" b="1" spc="-3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ECF0F1"/>
                </a:solidFill>
                <a:latin typeface="DejaVu Sans"/>
                <a:cs typeface="DejaVu Sans"/>
              </a:rPr>
              <a:t>Naming:</a:t>
            </a:r>
            <a:r>
              <a:rPr sz="1200" b="1" spc="-36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Use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smallest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necessary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scope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adopt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consistent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naming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conventions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(e.g.,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in_FilePath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,</a:t>
            </a:r>
          </a:p>
          <a:p>
            <a:pPr marL="0" marR="0">
              <a:lnSpc>
                <a:spcPts val="1368"/>
              </a:lnSpc>
              <a:spcBef>
                <a:spcPts val="305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dt_ProcessedRecords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)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enhance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30" dirty="0">
                <a:solidFill>
                  <a:srgbClr val="ECF0F1"/>
                </a:solidFill>
                <a:latin typeface="DejaVu Sans"/>
                <a:cs typeface="DejaVu Sans"/>
              </a:rPr>
              <a:t>readability.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61081" y="8071918"/>
            <a:ext cx="5276604" cy="650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rgbClr val="ECF0F1"/>
                </a:solidFill>
                <a:latin typeface="DejaVu Sans"/>
                <a:cs typeface="DejaVu Sans"/>
              </a:rPr>
              <a:t>Validation</a:t>
            </a:r>
            <a:r>
              <a:rPr sz="12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rgbClr val="ECF0F1"/>
                </a:solidFill>
                <a:latin typeface="DejaVu Sans"/>
                <a:cs typeface="DejaVu Sans"/>
              </a:rPr>
              <a:t>First:</a:t>
            </a:r>
            <a:r>
              <a:rPr sz="1200" b="1" spc="-4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Use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Path </a:t>
            </a:r>
            <a:r>
              <a:rPr sz="1200" spc="-11" dirty="0">
                <a:solidFill>
                  <a:srgbClr val="ECF0F1"/>
                </a:solidFill>
                <a:latin typeface="Liberation Mono"/>
                <a:cs typeface="Liberation Mono"/>
              </a:rPr>
              <a:t>Exists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check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ﬁles.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5" dirty="0">
                <a:solidFill>
                  <a:srgbClr val="ECF0F1"/>
                </a:solidFill>
                <a:latin typeface="DejaVu Sans"/>
                <a:cs typeface="DejaVu Sans"/>
              </a:rPr>
              <a:t>Validate</a:t>
            </a:r>
          </a:p>
          <a:p>
            <a:pPr marL="0" marR="0">
              <a:lnSpc>
                <a:spcPts val="1368"/>
              </a:lnSpc>
              <a:spcBef>
                <a:spcPts val="305"/>
              </a:spcBef>
              <a:spcAft>
                <a:spcPts val="0"/>
              </a:spcAft>
            </a:pPr>
            <a:r>
              <a:rPr sz="1200" spc="-34" dirty="0">
                <a:solidFill>
                  <a:srgbClr val="ECF0F1"/>
                </a:solidFill>
                <a:latin typeface="DejaVu Sans"/>
                <a:cs typeface="DejaVu Sans"/>
              </a:rPr>
              <a:t>DataTable</a:t>
            </a:r>
            <a:r>
              <a:rPr sz="12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columns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types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before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access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prevent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runtime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errors.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46360" y="8848662"/>
            <a:ext cx="79954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Resiliency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541561" y="8848662"/>
            <a:ext cx="67621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Stability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319188" y="8848662"/>
            <a:ext cx="75172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Recovery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67921" y="8848662"/>
            <a:ext cx="76560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Flexibility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332760" y="8848662"/>
            <a:ext cx="109570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Maintainability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529934" y="8848662"/>
            <a:ext cx="87217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Readability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070074" y="9669854"/>
            <a:ext cx="3775347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ECF0F1"/>
                </a:solidFill>
                <a:latin typeface="DejaVu Sans"/>
                <a:cs typeface="DejaVu Sans"/>
              </a:rPr>
              <a:t>Optimizing</a:t>
            </a:r>
            <a:r>
              <a:rPr sz="1700" b="1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ECF0F1"/>
                </a:solidFill>
                <a:latin typeface="DejaVu Sans"/>
                <a:cs typeface="DejaVu Sans"/>
              </a:rPr>
              <a:t>Large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ECF0F1"/>
                </a:solidFill>
                <a:latin typeface="DejaVu Sans"/>
                <a:cs typeface="DejaVu Sans"/>
              </a:rPr>
              <a:t>Datasets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891634" y="9669854"/>
            <a:ext cx="2748264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ECF0F1"/>
                </a:solidFill>
                <a:latin typeface="DejaVu Sans"/>
                <a:cs typeface="DejaVu Sans"/>
              </a:rPr>
              <a:t>Mastering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ECF0F1"/>
                </a:solidFill>
                <a:latin typeface="DejaVu Sans"/>
                <a:cs typeface="DejaVu Sans"/>
              </a:rPr>
              <a:t>Debugging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61081" y="10110268"/>
            <a:ext cx="5367875" cy="640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ECF0F1"/>
                </a:solidFill>
                <a:latin typeface="DejaVu Sans"/>
                <a:cs typeface="DejaVu Sans"/>
              </a:rPr>
              <a:t>Batch</a:t>
            </a:r>
            <a:r>
              <a:rPr sz="1200" b="1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ECF0F1"/>
                </a:solidFill>
                <a:latin typeface="DejaVu Sans"/>
                <a:cs typeface="DejaVu Sans"/>
              </a:rPr>
              <a:t>Processing:</a:t>
            </a:r>
            <a:r>
              <a:rPr sz="1200" b="1" spc="-3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36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1200" spc="1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very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large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ﬁles,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process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in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smaller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chunks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rather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than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loading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entire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dataset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into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memory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once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reduce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memory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footprint.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382642" y="10110268"/>
            <a:ext cx="5238577" cy="650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ECF0F1"/>
                </a:solidFill>
                <a:latin typeface="DejaVu Sans"/>
                <a:cs typeface="DejaVu Sans"/>
              </a:rPr>
              <a:t>Breakpoints</a:t>
            </a:r>
            <a:r>
              <a:rPr sz="1200" b="1" dirty="0">
                <a:solidFill>
                  <a:srgbClr val="ECF0F1"/>
                </a:solidFill>
                <a:latin typeface="DejaVu Sans"/>
                <a:cs typeface="DejaVu Sans"/>
              </a:rPr>
              <a:t> &amp;</a:t>
            </a:r>
            <a:r>
              <a:rPr sz="1200" b="1" spc="-3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ECF0F1"/>
                </a:solidFill>
                <a:latin typeface="DejaVu Sans"/>
                <a:cs typeface="DejaVu Sans"/>
              </a:rPr>
              <a:t>Stepping:</a:t>
            </a:r>
            <a:r>
              <a:rPr sz="1200" b="1" spc="-3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Use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breakpoints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pause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execution.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Employ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Step </a:t>
            </a:r>
            <a:r>
              <a:rPr sz="1200" spc="-10" dirty="0">
                <a:solidFill>
                  <a:srgbClr val="ECF0F1"/>
                </a:solidFill>
                <a:latin typeface="Liberation Mono"/>
                <a:cs typeface="Liberation Mono"/>
              </a:rPr>
              <a:t>Into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(F11)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dive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into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activities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Step </a:t>
            </a:r>
            <a:r>
              <a:rPr sz="1200" spc="-10" dirty="0">
                <a:solidFill>
                  <a:srgbClr val="ECF0F1"/>
                </a:solidFill>
                <a:latin typeface="Liberation Mono"/>
                <a:cs typeface="Liberation Mono"/>
              </a:rPr>
              <a:t>Over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(F10)</a:t>
            </a:r>
          </a:p>
          <a:p>
            <a:pPr marL="0" marR="0">
              <a:lnSpc>
                <a:spcPts val="1368"/>
              </a:lnSpc>
              <a:spcBef>
                <a:spcPts val="305"/>
              </a:spcBef>
              <a:spcAft>
                <a:spcPts val="0"/>
              </a:spcAft>
            </a:pP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execute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them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a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whole.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61081" y="10834168"/>
            <a:ext cx="5300717" cy="650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ECF0F1"/>
                </a:solidFill>
                <a:latin typeface="DejaVu Sans"/>
                <a:cs typeface="DejaVu Sans"/>
              </a:rPr>
              <a:t>In-Memory</a:t>
            </a:r>
            <a:r>
              <a:rPr sz="12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ECF0F1"/>
                </a:solidFill>
                <a:latin typeface="DejaVu Sans"/>
                <a:cs typeface="DejaVu Sans"/>
              </a:rPr>
              <a:t>Operations:</a:t>
            </a:r>
            <a:r>
              <a:rPr sz="1200" b="1" spc="-3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Perform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transformations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(ﬁltering,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joining)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on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Liberation Mono"/>
                <a:cs typeface="Liberation Mono"/>
              </a:rPr>
              <a:t>DataTable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in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memory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using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LINQ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dedicated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activities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</a:p>
          <a:p>
            <a:pPr marL="0" marR="0">
              <a:lnSpc>
                <a:spcPts val="1368"/>
              </a:lnSpc>
              <a:spcBef>
                <a:spcPts val="230"/>
              </a:spcBef>
              <a:spcAft>
                <a:spcPts val="0"/>
              </a:spcAft>
            </a:pP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signiﬁcant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speed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gains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over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ﬁle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8" dirty="0">
                <a:solidFill>
                  <a:srgbClr val="ECF0F1"/>
                </a:solidFill>
                <a:latin typeface="DejaVu Sans"/>
                <a:cs typeface="DejaVu Sans"/>
              </a:rPr>
              <a:t>I/O.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382642" y="10843693"/>
            <a:ext cx="525820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8" dirty="0">
                <a:solidFill>
                  <a:srgbClr val="ECF0F1"/>
                </a:solidFill>
                <a:latin typeface="DejaVu Sans"/>
                <a:cs typeface="DejaVu Sans"/>
              </a:rPr>
              <a:t>Watch</a:t>
            </a:r>
            <a:r>
              <a:rPr sz="1200" b="1" dirty="0">
                <a:solidFill>
                  <a:srgbClr val="ECF0F1"/>
                </a:solidFill>
                <a:latin typeface="DejaVu Sans"/>
                <a:cs typeface="DejaVu Sans"/>
              </a:rPr>
              <a:t> &amp;</a:t>
            </a:r>
            <a:r>
              <a:rPr sz="1200" b="1" spc="-3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ECF0F1"/>
                </a:solidFill>
                <a:latin typeface="DejaVu Sans"/>
                <a:cs typeface="DejaVu Sans"/>
              </a:rPr>
              <a:t>Locals</a:t>
            </a:r>
            <a:r>
              <a:rPr sz="12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b="1" spc="-20" dirty="0">
                <a:solidFill>
                  <a:srgbClr val="ECF0F1"/>
                </a:solidFill>
                <a:latin typeface="DejaVu Sans"/>
                <a:cs typeface="DejaVu Sans"/>
              </a:rPr>
              <a:t>Panels:</a:t>
            </a:r>
            <a:r>
              <a:rPr sz="1200" b="1" spc="-3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Monitor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variable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values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in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real-time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using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382642" y="11062768"/>
            <a:ext cx="39750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675089" y="11062768"/>
            <a:ext cx="1513686" cy="221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ECF0F1"/>
                </a:solidFill>
                <a:latin typeface="Liberation Mono"/>
                <a:cs typeface="Liberation Mono"/>
              </a:rPr>
              <a:t>Watch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Locals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8083870" y="11062768"/>
            <a:ext cx="253996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panels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identify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incorrect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6382642" y="11281843"/>
            <a:ext cx="304797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transformations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unexpected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values.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561081" y="11567593"/>
            <a:ext cx="5346621" cy="659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ECF0F1"/>
                </a:solidFill>
                <a:latin typeface="DejaVu Sans"/>
                <a:cs typeface="DejaVu Sans"/>
              </a:rPr>
              <a:t>Eﬃcient</a:t>
            </a:r>
            <a:r>
              <a:rPr sz="12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ECF0F1"/>
                </a:solidFill>
                <a:latin typeface="DejaVu Sans"/>
                <a:cs typeface="DejaVu Sans"/>
              </a:rPr>
              <a:t>Reads/Writes:</a:t>
            </a:r>
            <a:r>
              <a:rPr sz="1200" b="1" spc="-3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Use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optimized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activities 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like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Read/Write</a:t>
            </a:r>
          </a:p>
          <a:p>
            <a:pPr marL="0" marR="0">
              <a:lnSpc>
                <a:spcPts val="1368"/>
              </a:lnSpc>
              <a:spcBef>
                <a:spcPts val="305"/>
              </a:spcBef>
              <a:spcAft>
                <a:spcPts val="0"/>
              </a:spcAft>
            </a:pPr>
            <a:r>
              <a:rPr sz="1200" spc="-11" dirty="0">
                <a:solidFill>
                  <a:srgbClr val="ECF0F1"/>
                </a:solidFill>
                <a:latin typeface="Liberation Mono"/>
                <a:cs typeface="Liberation Mono"/>
              </a:rPr>
              <a:t>Range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Excel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Read/Write CSV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.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Minimize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UI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interactions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during</a:t>
            </a:r>
          </a:p>
          <a:p>
            <a:pPr marL="0" marR="0">
              <a:lnSpc>
                <a:spcPts val="1368"/>
              </a:lnSpc>
              <a:spcBef>
                <a:spcPts val="230"/>
              </a:spcBef>
              <a:spcAft>
                <a:spcPts val="0"/>
              </a:spcAft>
            </a:pP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processing.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6382642" y="11577118"/>
            <a:ext cx="316856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ECF0F1"/>
                </a:solidFill>
                <a:latin typeface="DejaVu Sans"/>
                <a:cs typeface="DejaVu Sans"/>
              </a:rPr>
              <a:t>Logging</a:t>
            </a:r>
            <a:r>
              <a:rPr sz="1200" b="1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b="1" dirty="0">
                <a:solidFill>
                  <a:srgbClr val="ECF0F1"/>
                </a:solidFill>
                <a:latin typeface="DejaVu Sans"/>
                <a:cs typeface="DejaVu Sans"/>
              </a:rPr>
              <a:t>&amp;</a:t>
            </a:r>
            <a:r>
              <a:rPr sz="1200" b="1" spc="-3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b="1" spc="-33" dirty="0">
                <a:solidFill>
                  <a:srgbClr val="ECF0F1"/>
                </a:solidFill>
                <a:latin typeface="DejaVu Sans"/>
                <a:cs typeface="DejaVu Sans"/>
              </a:rPr>
              <a:t>Tracing:</a:t>
            </a:r>
            <a:r>
              <a:rPr sz="1200" b="1" spc="-2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Strategically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place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9446269" y="11577118"/>
            <a:ext cx="2293890" cy="221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Liberation Mono"/>
                <a:cs typeface="Liberation Mono"/>
              </a:rPr>
              <a:t>Log </a:t>
            </a:r>
            <a:r>
              <a:rPr sz="1200" spc="-12" dirty="0">
                <a:solidFill>
                  <a:srgbClr val="ECF0F1"/>
                </a:solidFill>
                <a:latin typeface="Liberation Mono"/>
                <a:cs typeface="Liberation Mono"/>
              </a:rPr>
              <a:t>Message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activities (Info,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6382642" y="11805718"/>
            <a:ext cx="4857703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40" dirty="0">
                <a:solidFill>
                  <a:srgbClr val="ECF0F1"/>
                </a:solidFill>
                <a:latin typeface="DejaVu Sans"/>
                <a:cs typeface="DejaVu Sans"/>
              </a:rPr>
              <a:t>Warn,</a:t>
            </a:r>
            <a:r>
              <a:rPr sz="1200" spc="25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Error)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1" dirty="0">
                <a:solidFill>
                  <a:srgbClr val="ECF0F1"/>
                </a:solidFill>
                <a:latin typeface="DejaVu Sans"/>
                <a:cs typeface="DejaVu Sans"/>
              </a:rPr>
              <a:t>record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process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steps,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variable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values,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error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occurrences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post-execution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analysis.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646360" y="12572937"/>
            <a:ext cx="76903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DejaVu Sans"/>
                <a:cs typeface="DejaVu Sans"/>
              </a:rPr>
              <a:t>Eﬃciency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1516856" y="12572937"/>
            <a:ext cx="81041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Scalability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2428725" y="12572937"/>
            <a:ext cx="89880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Throughput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6467921" y="12572937"/>
            <a:ext cx="67984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Analysis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7249268" y="12572937"/>
            <a:ext cx="90318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spc="-10" dirty="0">
                <a:solidFill>
                  <a:srgbClr val="FFFFFF"/>
                </a:solidFill>
                <a:latin typeface="DejaVu Sans"/>
                <a:cs typeface="DejaVu Sans"/>
              </a:rPr>
              <a:t>Traceability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8235105" y="12572937"/>
            <a:ext cx="118516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Problem</a:t>
            </a:r>
            <a:r>
              <a:rPr sz="1000" spc="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Solving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3855838" y="13375079"/>
            <a:ext cx="4632598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ECF0F1"/>
                </a:solidFill>
                <a:latin typeface="DejaVu Sans"/>
                <a:cs typeface="DejaVu Sans"/>
              </a:rPr>
              <a:t>Quantiﬁable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ECF0F1"/>
                </a:solidFill>
                <a:latin typeface="DejaVu Sans"/>
                <a:cs typeface="DejaVu Sans"/>
              </a:rPr>
              <a:t>Impact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ECF0F1"/>
                </a:solidFill>
                <a:latin typeface="DejaVu Sans"/>
                <a:cs typeface="DejaVu Sans"/>
              </a:rPr>
              <a:t>of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ECF0F1"/>
                </a:solidFill>
                <a:latin typeface="DejaVu Sans"/>
                <a:cs typeface="DejaVu Sans"/>
              </a:rPr>
              <a:t>Best</a:t>
            </a:r>
            <a:r>
              <a:rPr sz="170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ECF0F1"/>
                </a:solidFill>
                <a:latin typeface="DejaVu Sans"/>
                <a:cs typeface="DejaVu Sans"/>
              </a:rPr>
              <a:t>Practices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2676</Words>
  <Application>Microsoft Office PowerPoint</Application>
  <PresentationFormat>Widescreen</PresentationFormat>
  <Paragraphs>462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DejaVu Sans</vt:lpstr>
      <vt:lpstr>Liberation Mono</vt:lpstr>
      <vt:lpstr>Calibri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lastModifiedBy>R Sarath Babu</cp:lastModifiedBy>
  <cp:revision>4</cp:revision>
  <dcterms:modified xsi:type="dcterms:W3CDTF">2025-08-21T05:38:47Z</dcterms:modified>
</cp:coreProperties>
</file>