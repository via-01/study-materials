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0234613" cy="71040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368" autoAdjust="0"/>
    <p:restoredTop sz="91318" autoAdjust="0"/>
  </p:normalViewPr>
  <p:slideViewPr>
    <p:cSldViewPr>
      <p:cViewPr>
        <p:scale>
          <a:sx n="75" d="100"/>
          <a:sy n="75" d="100"/>
        </p:scale>
        <p:origin x="954" y="-48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ipath.com/studio/standalone/2023.4/user-guide/the-user-interfac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uipath.com/studio/standalone/2023.4/user-guide/workflow-desig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ipath.com/studio/standalone/2023.4/user-guide/about-automation-projects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7468" y="2453951"/>
            <a:ext cx="12109252" cy="13978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4800" b="1" spc="-3300" dirty="0">
                <a:solidFill>
                  <a:srgbClr val="FFFFFF"/>
                </a:solidFill>
                <a:latin typeface="DejaVu Sans"/>
                <a:cs typeface="DejaVu Sans"/>
              </a:rPr>
              <a:t>E</a:t>
            </a:r>
            <a:r>
              <a:rPr sz="4800" b="1" spc="-157" dirty="0">
                <a:solidFill>
                  <a:srgbClr val="000000"/>
                </a:solidFill>
                <a:latin typeface="DejaVu Sans"/>
                <a:cs typeface="DejaVu Sans"/>
              </a:rPr>
              <a:t>E</a:t>
            </a:r>
            <a:r>
              <a:rPr sz="4800" b="1" spc="-3106" dirty="0">
                <a:solidFill>
                  <a:srgbClr val="FFFFFF"/>
                </a:solidFill>
                <a:latin typeface="DejaVu Sans"/>
                <a:cs typeface="DejaVu Sans"/>
              </a:rPr>
              <a:t>x</a:t>
            </a:r>
            <a:r>
              <a:rPr sz="4800" b="1" spc="-157" dirty="0">
                <a:solidFill>
                  <a:srgbClr val="000000"/>
                </a:solidFill>
                <a:latin typeface="DejaVu Sans"/>
                <a:cs typeface="DejaVu Sans"/>
              </a:rPr>
              <a:t>x</a:t>
            </a:r>
            <a:r>
              <a:rPr sz="4800" b="1" spc="-3465" dirty="0">
                <a:solidFill>
                  <a:srgbClr val="FFFFFF"/>
                </a:solidFill>
                <a:latin typeface="DejaVu Sans"/>
                <a:cs typeface="DejaVu Sans"/>
              </a:rPr>
              <a:t>p</a:t>
            </a:r>
            <a:r>
              <a:rPr sz="4800" b="1" spc="-158" dirty="0">
                <a:solidFill>
                  <a:srgbClr val="000000"/>
                </a:solidFill>
                <a:latin typeface="DejaVu Sans"/>
                <a:cs typeface="DejaVu Sans"/>
              </a:rPr>
              <a:t>p</a:t>
            </a:r>
            <a:r>
              <a:rPr sz="4800" b="1" spc="-1581" dirty="0">
                <a:solidFill>
                  <a:srgbClr val="FFFFFF"/>
                </a:solidFill>
                <a:latin typeface="DejaVu Sans"/>
                <a:cs typeface="DejaVu Sans"/>
              </a:rPr>
              <a:t>l</a:t>
            </a:r>
            <a:r>
              <a:rPr sz="4800" b="1" spc="-153" dirty="0">
                <a:solidFill>
                  <a:srgbClr val="000000"/>
                </a:solidFill>
                <a:latin typeface="DejaVu Sans"/>
                <a:cs typeface="DejaVu Sans"/>
              </a:rPr>
              <a:t>l</a:t>
            </a:r>
            <a:r>
              <a:rPr sz="4800" b="1" spc="-3318" dirty="0">
                <a:solidFill>
                  <a:srgbClr val="FFFFFF"/>
                </a:solidFill>
                <a:latin typeface="DejaVu Sans"/>
                <a:cs typeface="DejaVu Sans"/>
              </a:rPr>
              <a:t>o</a:t>
            </a:r>
            <a:r>
              <a:rPr sz="4800" b="1" spc="-158" dirty="0">
                <a:solidFill>
                  <a:srgbClr val="000000"/>
                </a:solidFill>
                <a:latin typeface="DejaVu Sans"/>
                <a:cs typeface="DejaVu Sans"/>
              </a:rPr>
              <a:t>o</a:t>
            </a:r>
            <a:r>
              <a:rPr sz="4800" b="1" spc="-2339" dirty="0">
                <a:solidFill>
                  <a:srgbClr val="FFFFFF"/>
                </a:solidFill>
                <a:latin typeface="DejaVu Sans"/>
                <a:cs typeface="DejaVu Sans"/>
              </a:rPr>
              <a:t>r</a:t>
            </a:r>
            <a:r>
              <a:rPr sz="4800" b="1" spc="-154" dirty="0">
                <a:solidFill>
                  <a:srgbClr val="000000"/>
                </a:solidFill>
                <a:latin typeface="DejaVu Sans"/>
                <a:cs typeface="DejaVu Sans"/>
              </a:rPr>
              <a:t>r</a:t>
            </a:r>
            <a:r>
              <a:rPr sz="4800" b="1" spc="-1581" dirty="0">
                <a:solidFill>
                  <a:srgbClr val="FFFFFF"/>
                </a:solidFill>
                <a:latin typeface="DejaVu Sans"/>
                <a:cs typeface="DejaVu Sans"/>
              </a:rPr>
              <a:t>i</a:t>
            </a:r>
            <a:r>
              <a:rPr sz="4800" b="1" spc="-153" dirty="0">
                <a:solidFill>
                  <a:srgbClr val="000000"/>
                </a:solidFill>
                <a:latin typeface="DejaVu Sans"/>
                <a:cs typeface="DejaVu Sans"/>
              </a:rPr>
              <a:t>i</a:t>
            </a:r>
            <a:r>
              <a:rPr sz="4800" b="1" spc="-3445" dirty="0">
                <a:solidFill>
                  <a:srgbClr val="FFFFFF"/>
                </a:solidFill>
                <a:latin typeface="DejaVu Sans"/>
                <a:cs typeface="DejaVu Sans"/>
              </a:rPr>
              <a:t>n</a:t>
            </a:r>
            <a:r>
              <a:rPr sz="4800" b="1" spc="-158" dirty="0">
                <a:solidFill>
                  <a:srgbClr val="000000"/>
                </a:solidFill>
                <a:latin typeface="DejaVu Sans"/>
                <a:cs typeface="DejaVu Sans"/>
              </a:rPr>
              <a:t>n</a:t>
            </a:r>
            <a:r>
              <a:rPr sz="4800" b="1" spc="-3465" dirty="0">
                <a:solidFill>
                  <a:srgbClr val="FFFFFF"/>
                </a:solidFill>
                <a:latin typeface="DejaVu Sans"/>
                <a:cs typeface="DejaVu Sans"/>
              </a:rPr>
              <a:t>g</a:t>
            </a:r>
            <a:r>
              <a:rPr sz="4800" b="1" dirty="0">
                <a:solidFill>
                  <a:srgbClr val="000000"/>
                </a:solidFill>
                <a:latin typeface="DejaVu Sans"/>
                <a:cs typeface="DejaVu Sans"/>
              </a:rPr>
              <a:t>g</a:t>
            </a:r>
            <a:r>
              <a:rPr sz="4800" b="1" spc="-162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4800" b="1" spc="-3950" dirty="0">
                <a:solidFill>
                  <a:srgbClr val="FFFFFF"/>
                </a:solidFill>
                <a:latin typeface="DejaVu Sans"/>
                <a:cs typeface="DejaVu Sans"/>
              </a:rPr>
              <a:t>U</a:t>
            </a:r>
            <a:r>
              <a:rPr sz="4800" b="1" spc="-159" dirty="0">
                <a:solidFill>
                  <a:srgbClr val="000000"/>
                </a:solidFill>
                <a:latin typeface="DejaVu Sans"/>
                <a:cs typeface="DejaVu Sans"/>
              </a:rPr>
              <a:t>U</a:t>
            </a:r>
            <a:r>
              <a:rPr sz="4800" b="1" spc="-1729" dirty="0">
                <a:solidFill>
                  <a:srgbClr val="FFFFFF"/>
                </a:solidFill>
                <a:latin typeface="DejaVu Sans"/>
                <a:cs typeface="DejaVu Sans"/>
              </a:rPr>
              <a:t>I</a:t>
            </a:r>
            <a:r>
              <a:rPr sz="4800" b="1" spc="-153" dirty="0">
                <a:solidFill>
                  <a:srgbClr val="000000"/>
                </a:solidFill>
                <a:latin typeface="DejaVu Sans"/>
                <a:cs typeface="DejaVu Sans"/>
              </a:rPr>
              <a:t>I</a:t>
            </a:r>
            <a:r>
              <a:rPr sz="4800" b="1" spc="-3550" dirty="0">
                <a:solidFill>
                  <a:srgbClr val="FFFFFF"/>
                </a:solidFill>
                <a:latin typeface="DejaVu Sans"/>
                <a:cs typeface="DejaVu Sans"/>
              </a:rPr>
              <a:t>P</a:t>
            </a:r>
            <a:r>
              <a:rPr sz="4800" b="1" spc="-293" dirty="0">
                <a:solidFill>
                  <a:srgbClr val="000000"/>
                </a:solidFill>
                <a:latin typeface="DejaVu Sans"/>
                <a:cs typeface="DejaVu Sans"/>
              </a:rPr>
              <a:t>P</a:t>
            </a:r>
            <a:r>
              <a:rPr sz="4800" b="1" spc="-3258" dirty="0">
                <a:solidFill>
                  <a:srgbClr val="FFFFFF"/>
                </a:solidFill>
                <a:latin typeface="DejaVu Sans"/>
                <a:cs typeface="DejaVu Sans"/>
              </a:rPr>
              <a:t>a</a:t>
            </a:r>
            <a:r>
              <a:rPr sz="4800" b="1" spc="-157" dirty="0">
                <a:solidFill>
                  <a:srgbClr val="000000"/>
                </a:solidFill>
                <a:latin typeface="DejaVu Sans"/>
                <a:cs typeface="DejaVu Sans"/>
              </a:rPr>
              <a:t>a</a:t>
            </a:r>
            <a:r>
              <a:rPr sz="4800" b="1" spc="-2263" dirty="0">
                <a:solidFill>
                  <a:srgbClr val="FFFFFF"/>
                </a:solidFill>
                <a:latin typeface="DejaVu Sans"/>
                <a:cs typeface="DejaVu Sans"/>
              </a:rPr>
              <a:t>t</a:t>
            </a:r>
            <a:r>
              <a:rPr sz="4800" b="1" spc="-154" dirty="0">
                <a:solidFill>
                  <a:srgbClr val="000000"/>
                </a:solidFill>
                <a:latin typeface="DejaVu Sans"/>
                <a:cs typeface="DejaVu Sans"/>
              </a:rPr>
              <a:t>t</a:t>
            </a:r>
            <a:r>
              <a:rPr sz="4800" b="1" spc="-3445" dirty="0">
                <a:solidFill>
                  <a:srgbClr val="FFFFFF"/>
                </a:solidFill>
                <a:latin typeface="DejaVu Sans"/>
                <a:cs typeface="DejaVu Sans"/>
              </a:rPr>
              <a:t>h</a:t>
            </a:r>
            <a:r>
              <a:rPr sz="4800" b="1" dirty="0">
                <a:solidFill>
                  <a:srgbClr val="000000"/>
                </a:solidFill>
                <a:latin typeface="DejaVu Sans"/>
                <a:cs typeface="DejaVu Sans"/>
              </a:rPr>
              <a:t>h</a:t>
            </a:r>
            <a:r>
              <a:rPr sz="4800" b="1" spc="-162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4800" b="1" spc="-3486" dirty="0">
                <a:solidFill>
                  <a:srgbClr val="FFFFFF"/>
                </a:solidFill>
                <a:latin typeface="DejaVu Sans"/>
                <a:cs typeface="DejaVu Sans"/>
              </a:rPr>
              <a:t>S</a:t>
            </a:r>
            <a:r>
              <a:rPr sz="4800" b="1" spc="-158" dirty="0">
                <a:solidFill>
                  <a:srgbClr val="000000"/>
                </a:solidFill>
                <a:latin typeface="DejaVu Sans"/>
                <a:cs typeface="DejaVu Sans"/>
              </a:rPr>
              <a:t>S</a:t>
            </a:r>
            <a:r>
              <a:rPr sz="4800" b="1" spc="-2263" dirty="0">
                <a:solidFill>
                  <a:srgbClr val="FFFFFF"/>
                </a:solidFill>
                <a:latin typeface="DejaVu Sans"/>
                <a:cs typeface="DejaVu Sans"/>
              </a:rPr>
              <a:t>t</a:t>
            </a:r>
            <a:r>
              <a:rPr sz="4800" b="1" spc="-154" dirty="0">
                <a:solidFill>
                  <a:srgbClr val="000000"/>
                </a:solidFill>
                <a:latin typeface="DejaVu Sans"/>
                <a:cs typeface="DejaVu Sans"/>
              </a:rPr>
              <a:t>t</a:t>
            </a:r>
            <a:r>
              <a:rPr sz="4800" b="1" spc="-3445" dirty="0">
                <a:solidFill>
                  <a:srgbClr val="FFFFFF"/>
                </a:solidFill>
                <a:latin typeface="DejaVu Sans"/>
                <a:cs typeface="DejaVu Sans"/>
              </a:rPr>
              <a:t>u</a:t>
            </a:r>
            <a:r>
              <a:rPr sz="4800" b="1" spc="-158" dirty="0">
                <a:solidFill>
                  <a:srgbClr val="000000"/>
                </a:solidFill>
                <a:latin typeface="DejaVu Sans"/>
                <a:cs typeface="DejaVu Sans"/>
              </a:rPr>
              <a:t>u</a:t>
            </a:r>
            <a:r>
              <a:rPr sz="4800" b="1" spc="-3465" dirty="0">
                <a:solidFill>
                  <a:srgbClr val="FFFFFF"/>
                </a:solidFill>
                <a:latin typeface="DejaVu Sans"/>
                <a:cs typeface="DejaVu Sans"/>
              </a:rPr>
              <a:t>d</a:t>
            </a:r>
            <a:r>
              <a:rPr sz="4800" b="1" spc="-158" dirty="0">
                <a:solidFill>
                  <a:srgbClr val="000000"/>
                </a:solidFill>
                <a:latin typeface="DejaVu Sans"/>
                <a:cs typeface="DejaVu Sans"/>
              </a:rPr>
              <a:t>d</a:t>
            </a:r>
            <a:r>
              <a:rPr sz="4800" b="1" spc="-1581" dirty="0">
                <a:solidFill>
                  <a:srgbClr val="FFFFFF"/>
                </a:solidFill>
                <a:latin typeface="DejaVu Sans"/>
                <a:cs typeface="DejaVu Sans"/>
              </a:rPr>
              <a:t>i</a:t>
            </a:r>
            <a:r>
              <a:rPr sz="4800" b="1" spc="-153" dirty="0">
                <a:solidFill>
                  <a:srgbClr val="000000"/>
                </a:solidFill>
                <a:latin typeface="DejaVu Sans"/>
                <a:cs typeface="DejaVu Sans"/>
              </a:rPr>
              <a:t>i</a:t>
            </a:r>
            <a:r>
              <a:rPr sz="4800" b="1" spc="-3318" dirty="0">
                <a:solidFill>
                  <a:srgbClr val="FFFFFF"/>
                </a:solidFill>
                <a:latin typeface="DejaVu Sans"/>
                <a:cs typeface="DejaVu Sans"/>
              </a:rPr>
              <a:t>o</a:t>
            </a:r>
            <a:r>
              <a:rPr sz="4800" b="1" spc="-158" dirty="0">
                <a:solidFill>
                  <a:srgbClr val="000000"/>
                </a:solidFill>
                <a:latin typeface="DejaVu Sans"/>
                <a:cs typeface="DejaVu Sans"/>
              </a:rPr>
              <a:t>o</a:t>
            </a:r>
            <a:r>
              <a:rPr sz="4800" b="1" spc="-1870" dirty="0">
                <a:solidFill>
                  <a:srgbClr val="FFFFFF"/>
                </a:solidFill>
                <a:latin typeface="DejaVu Sans"/>
                <a:cs typeface="DejaVu Sans"/>
              </a:rPr>
              <a:t>:</a:t>
            </a:r>
            <a:r>
              <a:rPr sz="4800" b="1" dirty="0">
                <a:solidFill>
                  <a:srgbClr val="000000"/>
                </a:solidFill>
                <a:latin typeface="DejaVu Sans"/>
                <a:cs typeface="DejaVu Sans"/>
              </a:rPr>
              <a:t>:</a:t>
            </a:r>
            <a:r>
              <a:rPr sz="4800" b="1" spc="-158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4800" b="1" spc="-3550" dirty="0">
                <a:solidFill>
                  <a:srgbClr val="FFFFFF"/>
                </a:solidFill>
                <a:latin typeface="DejaVu Sans"/>
                <a:cs typeface="DejaVu Sans"/>
              </a:rPr>
              <a:t>P</a:t>
            </a:r>
            <a:r>
              <a:rPr sz="4800" b="1" spc="-158" dirty="0">
                <a:solidFill>
                  <a:srgbClr val="000000"/>
                </a:solidFill>
                <a:latin typeface="DejaVu Sans"/>
                <a:cs typeface="DejaVu Sans"/>
              </a:rPr>
              <a:t>P</a:t>
            </a:r>
            <a:r>
              <a:rPr sz="4800" b="1" spc="-2339" dirty="0">
                <a:solidFill>
                  <a:srgbClr val="FFFFFF"/>
                </a:solidFill>
                <a:latin typeface="DejaVu Sans"/>
                <a:cs typeface="DejaVu Sans"/>
              </a:rPr>
              <a:t>r</a:t>
            </a:r>
            <a:r>
              <a:rPr sz="4800" b="1" spc="-154" dirty="0">
                <a:solidFill>
                  <a:srgbClr val="000000"/>
                </a:solidFill>
                <a:latin typeface="DejaVu Sans"/>
                <a:cs typeface="DejaVu Sans"/>
              </a:rPr>
              <a:t>r</a:t>
            </a:r>
            <a:r>
              <a:rPr sz="4800" b="1" spc="-3318" dirty="0">
                <a:solidFill>
                  <a:srgbClr val="FFFFFF"/>
                </a:solidFill>
                <a:latin typeface="DejaVu Sans"/>
                <a:cs typeface="DejaVu Sans"/>
              </a:rPr>
              <a:t>o</a:t>
            </a:r>
            <a:r>
              <a:rPr sz="4800" b="1" spc="-158" dirty="0">
                <a:solidFill>
                  <a:srgbClr val="000000"/>
                </a:solidFill>
                <a:latin typeface="DejaVu Sans"/>
                <a:cs typeface="DejaVu Sans"/>
              </a:rPr>
              <a:t>o</a:t>
            </a:r>
            <a:r>
              <a:rPr sz="4800" b="1" spc="-1581" dirty="0">
                <a:solidFill>
                  <a:srgbClr val="FFFFFF"/>
                </a:solidFill>
                <a:latin typeface="DejaVu Sans"/>
                <a:cs typeface="DejaVu Sans"/>
              </a:rPr>
              <a:t>j</a:t>
            </a:r>
            <a:r>
              <a:rPr sz="4800" b="1" spc="-153" dirty="0">
                <a:solidFill>
                  <a:srgbClr val="000000"/>
                </a:solidFill>
                <a:latin typeface="DejaVu Sans"/>
                <a:cs typeface="DejaVu Sans"/>
              </a:rPr>
              <a:t>j</a:t>
            </a:r>
            <a:r>
              <a:rPr sz="4800" b="1" spc="-3275" dirty="0">
                <a:solidFill>
                  <a:srgbClr val="FFFFFF"/>
                </a:solidFill>
                <a:latin typeface="DejaVu Sans"/>
                <a:cs typeface="DejaVu Sans"/>
              </a:rPr>
              <a:t>e</a:t>
            </a:r>
            <a:r>
              <a:rPr sz="4800" b="1" spc="-157" dirty="0">
                <a:solidFill>
                  <a:srgbClr val="000000"/>
                </a:solidFill>
                <a:latin typeface="DejaVu Sans"/>
                <a:cs typeface="DejaVu Sans"/>
              </a:rPr>
              <a:t>e</a:t>
            </a:r>
            <a:r>
              <a:rPr sz="4800" b="1" spc="-2844" dirty="0">
                <a:solidFill>
                  <a:srgbClr val="FFFFFF"/>
                </a:solidFill>
                <a:latin typeface="DejaVu Sans"/>
                <a:cs typeface="DejaVu Sans"/>
              </a:rPr>
              <a:t>c</a:t>
            </a:r>
            <a:r>
              <a:rPr sz="4800" b="1" spc="-155" dirty="0">
                <a:solidFill>
                  <a:srgbClr val="000000"/>
                </a:solidFill>
                <a:latin typeface="DejaVu Sans"/>
                <a:cs typeface="DejaVu Sans"/>
              </a:rPr>
              <a:t>c</a:t>
            </a:r>
            <a:r>
              <a:rPr sz="4800" b="1" spc="-2263" dirty="0">
                <a:solidFill>
                  <a:srgbClr val="FFFFFF"/>
                </a:solidFill>
                <a:latin typeface="DejaVu Sans"/>
                <a:cs typeface="DejaVu Sans"/>
              </a:rPr>
              <a:t>t</a:t>
            </a:r>
            <a:r>
              <a:rPr sz="4800" b="1" spc="-154" dirty="0">
                <a:solidFill>
                  <a:srgbClr val="000000"/>
                </a:solidFill>
                <a:latin typeface="DejaVu Sans"/>
                <a:cs typeface="DejaVu Sans"/>
              </a:rPr>
              <a:t>t</a:t>
            </a:r>
            <a:r>
              <a:rPr sz="4800" b="1" spc="-2855" dirty="0">
                <a:solidFill>
                  <a:srgbClr val="FFFFFF"/>
                </a:solidFill>
                <a:latin typeface="DejaVu Sans"/>
                <a:cs typeface="DejaVu Sans"/>
              </a:rPr>
              <a:t>s</a:t>
            </a:r>
            <a:r>
              <a:rPr sz="4800" b="1" dirty="0">
                <a:solidFill>
                  <a:srgbClr val="000000"/>
                </a:solidFill>
                <a:latin typeface="DejaVu Sans"/>
                <a:cs typeface="DejaVu Sans"/>
              </a:rPr>
              <a:t>s</a:t>
            </a:r>
          </a:p>
          <a:p>
            <a:pPr marL="2655986" marR="0">
              <a:lnSpc>
                <a:spcPts val="5025"/>
              </a:lnSpc>
              <a:spcBef>
                <a:spcPts val="0"/>
              </a:spcBef>
              <a:spcAft>
                <a:spcPts val="0"/>
              </a:spcAft>
            </a:pPr>
            <a:r>
              <a:rPr sz="4800" b="1" spc="-3258" dirty="0">
                <a:solidFill>
                  <a:srgbClr val="FFFFFF"/>
                </a:solidFill>
                <a:latin typeface="DejaVu Sans"/>
                <a:cs typeface="DejaVu Sans"/>
              </a:rPr>
              <a:t>a</a:t>
            </a:r>
            <a:r>
              <a:rPr sz="4800" b="1" spc="-157" dirty="0">
                <a:solidFill>
                  <a:srgbClr val="000000"/>
                </a:solidFill>
                <a:latin typeface="DejaVu Sans"/>
                <a:cs typeface="DejaVu Sans"/>
              </a:rPr>
              <a:t>a</a:t>
            </a:r>
            <a:r>
              <a:rPr sz="4800" b="1" spc="-3445" dirty="0">
                <a:solidFill>
                  <a:srgbClr val="FFFFFF"/>
                </a:solidFill>
                <a:latin typeface="DejaVu Sans"/>
                <a:cs typeface="DejaVu Sans"/>
              </a:rPr>
              <a:t>n</a:t>
            </a:r>
            <a:r>
              <a:rPr sz="4800" b="1" spc="-158" dirty="0">
                <a:solidFill>
                  <a:srgbClr val="000000"/>
                </a:solidFill>
                <a:latin typeface="DejaVu Sans"/>
                <a:cs typeface="DejaVu Sans"/>
              </a:rPr>
              <a:t>n</a:t>
            </a:r>
            <a:r>
              <a:rPr sz="4800" b="1" spc="-3465" dirty="0">
                <a:solidFill>
                  <a:srgbClr val="FFFFFF"/>
                </a:solidFill>
                <a:latin typeface="DejaVu Sans"/>
                <a:cs typeface="DejaVu Sans"/>
              </a:rPr>
              <a:t>d</a:t>
            </a:r>
            <a:r>
              <a:rPr sz="4800" b="1" dirty="0">
                <a:solidFill>
                  <a:srgbClr val="000000"/>
                </a:solidFill>
                <a:latin typeface="DejaVu Sans"/>
                <a:cs typeface="DejaVu Sans"/>
              </a:rPr>
              <a:t>d</a:t>
            </a:r>
            <a:r>
              <a:rPr sz="4800" b="1" spc="-162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4800" b="1" spc="-3950" dirty="0">
                <a:solidFill>
                  <a:srgbClr val="FFFFFF"/>
                </a:solidFill>
                <a:latin typeface="DejaVu Sans"/>
                <a:cs typeface="DejaVu Sans"/>
              </a:rPr>
              <a:t>U</a:t>
            </a:r>
            <a:r>
              <a:rPr sz="4800" b="1" spc="-159" dirty="0">
                <a:solidFill>
                  <a:srgbClr val="000000"/>
                </a:solidFill>
                <a:latin typeface="DejaVu Sans"/>
                <a:cs typeface="DejaVu Sans"/>
              </a:rPr>
              <a:t>U</a:t>
            </a:r>
            <a:r>
              <a:rPr sz="4800" b="1" spc="-2855" dirty="0">
                <a:solidFill>
                  <a:srgbClr val="FFFFFF"/>
                </a:solidFill>
                <a:latin typeface="DejaVu Sans"/>
                <a:cs typeface="DejaVu Sans"/>
              </a:rPr>
              <a:t>s</a:t>
            </a:r>
            <a:r>
              <a:rPr sz="4800" b="1" spc="-157" dirty="0">
                <a:solidFill>
                  <a:srgbClr val="000000"/>
                </a:solidFill>
                <a:latin typeface="DejaVu Sans"/>
                <a:cs typeface="DejaVu Sans"/>
              </a:rPr>
              <a:t>s</a:t>
            </a:r>
            <a:r>
              <a:rPr sz="4800" b="1" spc="-3275" dirty="0">
                <a:solidFill>
                  <a:srgbClr val="FFFFFF"/>
                </a:solidFill>
                <a:latin typeface="DejaVu Sans"/>
                <a:cs typeface="DejaVu Sans"/>
              </a:rPr>
              <a:t>e</a:t>
            </a:r>
            <a:r>
              <a:rPr sz="4800" b="1" spc="-157" dirty="0">
                <a:solidFill>
                  <a:srgbClr val="000000"/>
                </a:solidFill>
                <a:latin typeface="DejaVu Sans"/>
                <a:cs typeface="DejaVu Sans"/>
              </a:rPr>
              <a:t>e</a:t>
            </a:r>
            <a:r>
              <a:rPr sz="4800" b="1" spc="-2339" dirty="0">
                <a:solidFill>
                  <a:srgbClr val="FFFFFF"/>
                </a:solidFill>
                <a:latin typeface="DejaVu Sans"/>
                <a:cs typeface="DejaVu Sans"/>
              </a:rPr>
              <a:t>r</a:t>
            </a:r>
            <a:r>
              <a:rPr sz="4800" b="1" dirty="0">
                <a:solidFill>
                  <a:srgbClr val="000000"/>
                </a:solidFill>
                <a:latin typeface="DejaVu Sans"/>
                <a:cs typeface="DejaVu Sans"/>
              </a:rPr>
              <a:t>r</a:t>
            </a:r>
            <a:r>
              <a:rPr sz="4800" b="1" spc="-159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4800" b="1" spc="-1729" dirty="0">
                <a:solidFill>
                  <a:srgbClr val="FFFFFF"/>
                </a:solidFill>
                <a:latin typeface="DejaVu Sans"/>
                <a:cs typeface="DejaVu Sans"/>
              </a:rPr>
              <a:t>I</a:t>
            </a:r>
            <a:r>
              <a:rPr sz="4800" b="1" spc="-153" dirty="0">
                <a:solidFill>
                  <a:srgbClr val="000000"/>
                </a:solidFill>
                <a:latin typeface="DejaVu Sans"/>
                <a:cs typeface="DejaVu Sans"/>
              </a:rPr>
              <a:t>I</a:t>
            </a:r>
            <a:r>
              <a:rPr sz="4800" b="1" spc="-3445" dirty="0">
                <a:solidFill>
                  <a:srgbClr val="FFFFFF"/>
                </a:solidFill>
                <a:latin typeface="DejaVu Sans"/>
                <a:cs typeface="DejaVu Sans"/>
              </a:rPr>
              <a:t>n</a:t>
            </a:r>
            <a:r>
              <a:rPr sz="4800" b="1" spc="-158" dirty="0">
                <a:solidFill>
                  <a:srgbClr val="000000"/>
                </a:solidFill>
                <a:latin typeface="DejaVu Sans"/>
                <a:cs typeface="DejaVu Sans"/>
              </a:rPr>
              <a:t>n</a:t>
            </a:r>
            <a:r>
              <a:rPr sz="4800" b="1" spc="-2263" dirty="0">
                <a:solidFill>
                  <a:srgbClr val="FFFFFF"/>
                </a:solidFill>
                <a:latin typeface="DejaVu Sans"/>
                <a:cs typeface="DejaVu Sans"/>
              </a:rPr>
              <a:t>t</a:t>
            </a:r>
            <a:r>
              <a:rPr sz="4800" b="1" spc="-154" dirty="0">
                <a:solidFill>
                  <a:srgbClr val="000000"/>
                </a:solidFill>
                <a:latin typeface="DejaVu Sans"/>
                <a:cs typeface="DejaVu Sans"/>
              </a:rPr>
              <a:t>t</a:t>
            </a:r>
            <a:r>
              <a:rPr sz="4800" b="1" spc="-3275" dirty="0">
                <a:solidFill>
                  <a:srgbClr val="FFFFFF"/>
                </a:solidFill>
                <a:latin typeface="DejaVu Sans"/>
                <a:cs typeface="DejaVu Sans"/>
              </a:rPr>
              <a:t>e</a:t>
            </a:r>
            <a:r>
              <a:rPr sz="4800" b="1" spc="-157" dirty="0">
                <a:solidFill>
                  <a:srgbClr val="000000"/>
                </a:solidFill>
                <a:latin typeface="DejaVu Sans"/>
                <a:cs typeface="DejaVu Sans"/>
              </a:rPr>
              <a:t>e</a:t>
            </a:r>
            <a:r>
              <a:rPr sz="4800" b="1" spc="-2339" dirty="0">
                <a:solidFill>
                  <a:srgbClr val="FFFFFF"/>
                </a:solidFill>
                <a:latin typeface="DejaVu Sans"/>
                <a:cs typeface="DejaVu Sans"/>
              </a:rPr>
              <a:t>r</a:t>
            </a:r>
            <a:r>
              <a:rPr sz="4800" b="1" spc="-154" dirty="0">
                <a:solidFill>
                  <a:srgbClr val="000000"/>
                </a:solidFill>
                <a:latin typeface="DejaVu Sans"/>
                <a:cs typeface="DejaVu Sans"/>
              </a:rPr>
              <a:t>r</a:t>
            </a:r>
            <a:r>
              <a:rPr sz="4800" b="1" spc="-2046" dirty="0">
                <a:solidFill>
                  <a:srgbClr val="FFFFFF"/>
                </a:solidFill>
                <a:latin typeface="DejaVu Sans"/>
                <a:cs typeface="DejaVu Sans"/>
              </a:rPr>
              <a:t>f</a:t>
            </a:r>
            <a:r>
              <a:rPr sz="4800" b="1" spc="-154" dirty="0">
                <a:solidFill>
                  <a:srgbClr val="000000"/>
                </a:solidFill>
                <a:latin typeface="DejaVu Sans"/>
                <a:cs typeface="DejaVu Sans"/>
              </a:rPr>
              <a:t>f</a:t>
            </a:r>
            <a:r>
              <a:rPr sz="4800" b="1" spc="-3258" dirty="0">
                <a:solidFill>
                  <a:srgbClr val="FFFFFF"/>
                </a:solidFill>
                <a:latin typeface="DejaVu Sans"/>
                <a:cs typeface="DejaVu Sans"/>
              </a:rPr>
              <a:t>a</a:t>
            </a:r>
            <a:r>
              <a:rPr sz="4800" b="1" spc="-157" dirty="0">
                <a:solidFill>
                  <a:srgbClr val="000000"/>
                </a:solidFill>
                <a:latin typeface="DejaVu Sans"/>
                <a:cs typeface="DejaVu Sans"/>
              </a:rPr>
              <a:t>a</a:t>
            </a:r>
            <a:r>
              <a:rPr sz="4800" b="1" spc="-2844" dirty="0">
                <a:solidFill>
                  <a:srgbClr val="FFFFFF"/>
                </a:solidFill>
                <a:latin typeface="DejaVu Sans"/>
                <a:cs typeface="DejaVu Sans"/>
              </a:rPr>
              <a:t>c</a:t>
            </a:r>
            <a:r>
              <a:rPr sz="4800" b="1" spc="-155" dirty="0">
                <a:solidFill>
                  <a:srgbClr val="000000"/>
                </a:solidFill>
                <a:latin typeface="DejaVu Sans"/>
                <a:cs typeface="DejaVu Sans"/>
              </a:rPr>
              <a:t>c</a:t>
            </a:r>
            <a:r>
              <a:rPr sz="4800" b="1" spc="-3275" dirty="0">
                <a:solidFill>
                  <a:srgbClr val="FFFFFF"/>
                </a:solidFill>
                <a:latin typeface="DejaVu Sans"/>
                <a:cs typeface="DejaVu Sans"/>
              </a:rPr>
              <a:t>e</a:t>
            </a:r>
            <a:r>
              <a:rPr sz="4800" b="1" dirty="0">
                <a:solidFill>
                  <a:srgbClr val="000000"/>
                </a:solidFill>
                <a:latin typeface="DejaVu Sans"/>
                <a:cs typeface="DejaVu Sans"/>
              </a:rPr>
              <a:t>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-99392"/>
            <a:ext cx="12191999" cy="7885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0999" y="332791"/>
            <a:ext cx="8652443" cy="1002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1E3A8A"/>
                </a:solidFill>
                <a:latin typeface="DejaVu Sans"/>
                <a:cs typeface="DejaVu Sans"/>
              </a:rPr>
              <a:t>Introduction</a:t>
            </a:r>
            <a:r>
              <a:rPr sz="4050" b="1" dirty="0">
                <a:solidFill>
                  <a:srgbClr val="1E3A8A"/>
                </a:solidFill>
                <a:latin typeface="DejaVu Sans"/>
                <a:cs typeface="DejaVu Sans"/>
              </a:rPr>
              <a:t> to</a:t>
            </a:r>
            <a:r>
              <a:rPr sz="4050" b="1" spc="-10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4050" b="1" spc="-33" dirty="0">
                <a:solidFill>
                  <a:srgbClr val="1E3A8A"/>
                </a:solidFill>
                <a:latin typeface="DejaVu Sans"/>
                <a:cs typeface="DejaVu Sans"/>
              </a:rPr>
              <a:t>UIPath</a:t>
            </a:r>
            <a:r>
              <a:rPr sz="4050" b="1" spc="12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1E3A8A"/>
                </a:solidFill>
                <a:latin typeface="DejaVu Sans"/>
                <a:cs typeface="DejaVu Sans"/>
              </a:rPr>
              <a:t>Studio</a:t>
            </a:r>
          </a:p>
          <a:p>
            <a:pPr marL="0" marR="0">
              <a:lnSpc>
                <a:spcPts val="2346"/>
              </a:lnSpc>
              <a:spcBef>
                <a:spcPts val="552"/>
              </a:spcBef>
              <a:spcAft>
                <a:spcPts val="0"/>
              </a:spcAft>
            </a:pPr>
            <a:r>
              <a:rPr sz="2000" dirty="0">
                <a:solidFill>
                  <a:srgbClr val="4B5563"/>
                </a:solidFill>
                <a:latin typeface="DejaVu Sans"/>
                <a:cs typeface="DejaVu Sans"/>
              </a:rPr>
              <a:t>Understanding the Core</a:t>
            </a:r>
            <a:r>
              <a:rPr sz="2000" spc="2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4B5563"/>
                </a:solidFill>
                <a:latin typeface="DejaVu Sans"/>
                <a:cs typeface="DejaVu Sans"/>
              </a:rPr>
              <a:t>of</a:t>
            </a:r>
            <a:r>
              <a:rPr sz="20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2000" spc="-36" dirty="0">
                <a:solidFill>
                  <a:srgbClr val="4B5563"/>
                </a:solidFill>
                <a:latin typeface="DejaVu Sans"/>
                <a:cs typeface="DejaVu Sans"/>
              </a:rPr>
              <a:t>RPA</a:t>
            </a:r>
            <a:r>
              <a:rPr sz="2000" spc="51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4B5563"/>
                </a:solidFill>
                <a:latin typeface="DejaVu Sans"/>
                <a:cs typeface="DejaVu Sans"/>
              </a:rPr>
              <a:t>Automation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0549" y="1846796"/>
            <a:ext cx="346509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2" dirty="0">
                <a:solidFill>
                  <a:srgbClr val="1E40AF"/>
                </a:solidFill>
                <a:latin typeface="DejaVu Sans"/>
                <a:cs typeface="DejaVu Sans"/>
              </a:rPr>
              <a:t>What</a:t>
            </a:r>
            <a:r>
              <a:rPr sz="2000" b="1" dirty="0">
                <a:solidFill>
                  <a:srgbClr val="1E40AF"/>
                </a:solidFill>
                <a:latin typeface="DejaVu Sans"/>
                <a:cs typeface="DejaVu Sans"/>
              </a:rPr>
              <a:t> is UIPath</a:t>
            </a:r>
            <a:r>
              <a:rPr sz="2000" b="1" spc="18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E40AF"/>
                </a:solidFill>
                <a:latin typeface="DejaVu Sans"/>
                <a:cs typeface="DejaVu Sans"/>
              </a:rPr>
              <a:t>Studio?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8149" y="2372935"/>
            <a:ext cx="1705381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A</a:t>
            </a:r>
            <a:r>
              <a:rPr sz="1500" spc="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robust tool for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07928" y="2372935"/>
            <a:ext cx="2559202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, end-to-end automation.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89013" y="2420560"/>
            <a:ext cx="1343642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E40AF"/>
                </a:solidFill>
                <a:latin typeface="DejaVu Sans"/>
                <a:cs typeface="DejaVu Sans"/>
              </a:rPr>
              <a:t>large-scale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08149" y="2839660"/>
            <a:ext cx="1278288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10" dirty="0">
                <a:solidFill>
                  <a:srgbClr val="374151"/>
                </a:solidFill>
                <a:latin typeface="DejaVu Sans"/>
                <a:cs typeface="DejaVu Sans"/>
              </a:rPr>
              <a:t>Features</a:t>
            </a:r>
            <a:r>
              <a:rPr sz="1500" spc="2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an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intuitive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947963" y="2839660"/>
            <a:ext cx="2784385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visual interface for building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workﬂows.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589013" y="2887285"/>
            <a:ext cx="1214720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E40AF"/>
                </a:solidFill>
                <a:latin typeface="DejaVu Sans"/>
                <a:cs typeface="DejaVu Sans"/>
              </a:rPr>
              <a:t>drag-and-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b="1" dirty="0">
                <a:solidFill>
                  <a:srgbClr val="1E40AF"/>
                </a:solidFill>
                <a:latin typeface="DejaVu Sans"/>
                <a:cs typeface="DejaVu Sans"/>
              </a:rPr>
              <a:t>drop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08149" y="3611185"/>
            <a:ext cx="482481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The Designer panel is the central hub for project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08149" y="3906460"/>
            <a:ext cx="534668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modiﬁcations and access to variables and arguments.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020942" y="4770971"/>
            <a:ext cx="2026584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6B21A8"/>
                </a:solidFill>
                <a:latin typeface="DejaVu Sans"/>
                <a:cs typeface="DejaVu Sans"/>
              </a:rPr>
              <a:t>Key</a:t>
            </a:r>
            <a:r>
              <a:rPr sz="2000" b="1" spc="21" dirty="0">
                <a:solidFill>
                  <a:srgbClr val="6B21A8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6B21A8"/>
                </a:solidFill>
                <a:latin typeface="DejaVu Sans"/>
                <a:cs typeface="DejaVu Sans"/>
              </a:rPr>
              <a:t>Platform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spc="10" dirty="0">
                <a:solidFill>
                  <a:srgbClr val="6B21A8"/>
                </a:solidFill>
                <a:latin typeface="DejaVu Sans"/>
                <a:cs typeface="DejaVu Sans"/>
              </a:rPr>
              <a:t>Components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60549" y="4837646"/>
            <a:ext cx="426393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166534"/>
                </a:solidFill>
                <a:latin typeface="DejaVu Sans"/>
                <a:cs typeface="DejaVu Sans"/>
              </a:rPr>
              <a:t>Purpose</a:t>
            </a:r>
            <a:r>
              <a:rPr sz="2000" b="1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66534"/>
                </a:solidFill>
                <a:latin typeface="DejaVu Sans"/>
                <a:cs typeface="DejaVu Sans"/>
              </a:rPr>
              <a:t>and</a:t>
            </a:r>
            <a:r>
              <a:rPr sz="2000" b="1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66534"/>
                </a:solidFill>
                <a:latin typeface="DejaVu Sans"/>
                <a:cs typeface="DejaVu Sans"/>
              </a:rPr>
              <a:t>Beneﬁts</a:t>
            </a:r>
            <a:r>
              <a:rPr sz="2000" b="1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66534"/>
                </a:solidFill>
                <a:latin typeface="DejaVu Sans"/>
                <a:cs typeface="DejaVu Sans"/>
              </a:rPr>
              <a:t>of</a:t>
            </a:r>
            <a:r>
              <a:rPr sz="2000" b="1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2000" b="1" spc="-54" dirty="0">
                <a:solidFill>
                  <a:srgbClr val="166534"/>
                </a:solidFill>
                <a:latin typeface="DejaVu Sans"/>
                <a:cs typeface="DejaVu Sans"/>
              </a:rPr>
              <a:t>RPA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08149" y="5363785"/>
            <a:ext cx="598726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374151"/>
                </a:solidFill>
                <a:latin typeface="DejaVu Sans"/>
                <a:cs typeface="DejaVu Sans"/>
              </a:rPr>
              <a:t>Purpose: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Automate repetitive, rule-based digital tasks using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647210" y="5592385"/>
            <a:ext cx="3099357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The development</a:t>
            </a:r>
            <a:r>
              <a:rPr lang="en-US"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lang="en-IN" sz="1500" dirty="0">
                <a:solidFill>
                  <a:srgbClr val="374151"/>
                </a:solidFill>
                <a:latin typeface="DejaVu Sans"/>
                <a:cs typeface="DejaVu Sans"/>
              </a:rPr>
              <a:t>environment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70918" y="5659060"/>
            <a:ext cx="151357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software</a:t>
            </a:r>
            <a:r>
              <a:rPr sz="1500" spc="12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bots.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868542" y="5589240"/>
            <a:ext cx="93118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374151"/>
                </a:solidFill>
                <a:latin typeface="DejaVu Sans"/>
                <a:cs typeface="DejaVu Sans"/>
              </a:rPr>
              <a:t>Studio: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647210" y="5897185"/>
            <a:ext cx="1440592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08149" y="6040060"/>
            <a:ext cx="2439972" cy="566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374151"/>
                </a:solidFill>
                <a:latin typeface="DejaVu Sans"/>
                <a:cs typeface="DejaVu Sans"/>
              </a:rPr>
              <a:t>Beneﬁts: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Reduces</a:t>
            </a:r>
          </a:p>
          <a:p>
            <a:pPr marL="968573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errors,</a:t>
            </a:r>
            <a:r>
              <a:rPr sz="1500" spc="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boosts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485530" y="6040060"/>
            <a:ext cx="2283974" cy="566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, and frees</a:t>
            </a:r>
            <a:r>
              <a:rPr sz="1500" spc="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employees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for strategic work.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327796" y="6087685"/>
            <a:ext cx="1182372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66534"/>
                </a:solidFill>
                <a:latin typeface="DejaVu Sans"/>
                <a:cs typeface="DejaVu Sans"/>
              </a:rPr>
              <a:t>eﬃciency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868542" y="6191709"/>
            <a:ext cx="344052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374151"/>
                </a:solidFill>
                <a:latin typeface="DejaVu Sans"/>
                <a:cs typeface="DejaVu Sans"/>
              </a:rPr>
              <a:t>Robot: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Executes</a:t>
            </a:r>
            <a:r>
              <a:rPr sz="1500" spc="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the automations.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332564" y="6659185"/>
            <a:ext cx="2414003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Deploys, manages, and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08149" y="6725860"/>
            <a:ext cx="5265037" cy="556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Leads to higher operational excellence</a:t>
            </a:r>
            <a:r>
              <a:rPr sz="1500" spc="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and customer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satisfaction.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868542" y="6741368"/>
            <a:ext cx="1616676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374151"/>
                </a:solidFill>
                <a:latin typeface="DejaVu Sans"/>
                <a:cs typeface="DejaVu Sans"/>
              </a:rPr>
              <a:t>Orchestrator: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9332564" y="6963985"/>
            <a:ext cx="1064795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monitors.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9121972" y="7344985"/>
            <a:ext cx="1865788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20" dirty="0">
                <a:solidFill>
                  <a:srgbClr val="374151"/>
                </a:solidFill>
                <a:latin typeface="DejaVu Sans"/>
                <a:cs typeface="DejaVu Sans"/>
              </a:rPr>
              <a:t>For</a:t>
            </a:r>
            <a:r>
              <a:rPr sz="1500" spc="28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seamless web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7868542" y="7317432"/>
            <a:ext cx="1405994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374151"/>
                </a:solidFill>
                <a:latin typeface="DejaVu Sans"/>
                <a:cs typeface="DejaVu Sans"/>
              </a:rPr>
              <a:t>Extensions: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02281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46716"/>
            <a:ext cx="8663694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F2937"/>
                </a:solidFill>
                <a:latin typeface="DejaVu Sans"/>
                <a:cs typeface="DejaVu Sans"/>
              </a:rPr>
              <a:t>UIPath</a:t>
            </a:r>
            <a:r>
              <a:rPr sz="3000" b="1" spc="27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1F2937"/>
                </a:solidFill>
                <a:latin typeface="DejaVu Sans"/>
                <a:cs typeface="DejaVu Sans"/>
              </a:rPr>
              <a:t>Studio</a:t>
            </a:r>
            <a:r>
              <a:rPr sz="3000" b="1" spc="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F2937"/>
                </a:solidFill>
                <a:latin typeface="DejaVu Sans"/>
                <a:cs typeface="DejaVu Sans"/>
              </a:rPr>
              <a:t>User</a:t>
            </a:r>
            <a:r>
              <a:rPr sz="3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1F2937"/>
                </a:solidFill>
                <a:latin typeface="DejaVu Sans"/>
                <a:cs typeface="DejaVu Sans"/>
              </a:rPr>
              <a:t>Interface:</a:t>
            </a:r>
            <a:r>
              <a:rPr sz="3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F2937"/>
                </a:solidFill>
                <a:latin typeface="DejaVu Sans"/>
                <a:cs typeface="DejaVu Sans"/>
              </a:rPr>
              <a:t>Overview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0549" y="1410028"/>
            <a:ext cx="277125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8" dirty="0">
                <a:solidFill>
                  <a:srgbClr val="1F2937"/>
                </a:solidFill>
                <a:latin typeface="DejaVu Sans"/>
                <a:cs typeface="DejaVu Sans"/>
              </a:rPr>
              <a:t>Home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25" dirty="0">
                <a:solidFill>
                  <a:srgbClr val="1F2937"/>
                </a:solidFill>
                <a:latin typeface="DejaVu Sans"/>
                <a:cs typeface="DejaVu Sans"/>
              </a:rPr>
              <a:t>Panel</a:t>
            </a:r>
            <a:r>
              <a:rPr sz="1700" b="1" spc="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&amp;</a:t>
            </a:r>
            <a:r>
              <a:rPr sz="1700" b="1" spc="-25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1F2937"/>
                </a:solidFill>
                <a:latin typeface="DejaVu Sans"/>
                <a:cs typeface="DejaVu Sans"/>
              </a:rPr>
              <a:t>Project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51105" y="1410028"/>
            <a:ext cx="2642872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1F2937"/>
                </a:solidFill>
                <a:latin typeface="DejaVu Sans"/>
                <a:cs typeface="DejaVu Sans"/>
              </a:rPr>
              <a:t>Projects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25" dirty="0">
                <a:solidFill>
                  <a:srgbClr val="1F2937"/>
                </a:solidFill>
                <a:latin typeface="DejaVu Sans"/>
                <a:cs typeface="DejaVu Sans"/>
              </a:rPr>
              <a:t>Panel</a:t>
            </a:r>
            <a:r>
              <a:rPr sz="1700" b="1" spc="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&amp;</a:t>
            </a:r>
            <a:r>
              <a:rPr sz="1700" b="1" spc="-25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File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b="1" spc="-12" dirty="0">
                <a:solidFill>
                  <a:srgbClr val="1F2937"/>
                </a:solidFill>
                <a:latin typeface="DejaVu Sans"/>
                <a:cs typeface="DejaVu Sans"/>
              </a:rPr>
              <a:t>Explorer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55827" y="1476703"/>
            <a:ext cx="2474385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1F2937"/>
                </a:solidFill>
                <a:latin typeface="DejaVu Sans"/>
                <a:cs typeface="DejaVu Sans"/>
              </a:rPr>
              <a:t>Menu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1F2937"/>
                </a:solidFill>
                <a:latin typeface="DejaVu Sans"/>
                <a:cs typeface="DejaVu Sans"/>
              </a:rPr>
              <a:t>Bar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&amp;</a:t>
            </a:r>
            <a:r>
              <a:rPr sz="1700" b="1" spc="-25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1F2937"/>
                </a:solidFill>
                <a:latin typeface="DejaVu Sans"/>
                <a:cs typeface="DejaVu Sans"/>
              </a:rPr>
              <a:t>Ribbon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60549" y="1714828"/>
            <a:ext cx="140849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37" dirty="0">
                <a:solidFill>
                  <a:srgbClr val="1F2937"/>
                </a:solidFill>
                <a:latin typeface="DejaVu Sans"/>
                <a:cs typeface="DejaVu Sans"/>
              </a:rPr>
              <a:t>Templates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489548" y="1964742"/>
            <a:ext cx="2968379" cy="640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A</a:t>
            </a:r>
            <a:r>
              <a:rPr sz="1200" spc="-25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dynamic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toolbar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at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top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of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the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window,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providing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access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all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major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design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debugging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functionalities.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94270" y="2136192"/>
            <a:ext cx="3351647" cy="850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The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initial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view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4B5563"/>
                </a:solidFill>
                <a:latin typeface="DejaVu Sans"/>
                <a:cs typeface="DejaVu Sans"/>
              </a:rPr>
              <a:t>when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opening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4B5563"/>
                </a:solidFill>
                <a:latin typeface="DejaVu Sans"/>
                <a:cs typeface="DejaVu Sans"/>
              </a:rPr>
              <a:t>Studio.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It's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central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hub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starting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new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projects,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opening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existing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ones,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conﬁguring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the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7" dirty="0">
                <a:solidFill>
                  <a:srgbClr val="4B5563"/>
                </a:solidFill>
                <a:latin typeface="DejaVu Sans"/>
                <a:cs typeface="DejaVu Sans"/>
              </a:rPr>
              <a:t>environment.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384826" y="2136192"/>
            <a:ext cx="3204451" cy="631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Manages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all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ﬁles,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dependencies,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settings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your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4B5563"/>
                </a:solidFill>
                <a:latin typeface="DejaVu Sans"/>
                <a:cs typeface="DejaVu Sans"/>
              </a:rPr>
              <a:t>current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automation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7" dirty="0">
                <a:solidFill>
                  <a:srgbClr val="4B5563"/>
                </a:solidFill>
                <a:latin typeface="DejaVu Sans"/>
                <a:cs typeface="DejaVu Sans"/>
              </a:rPr>
              <a:t>project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in</a:t>
            </a:r>
            <a:r>
              <a:rPr sz="1200" spc="-17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a</a:t>
            </a:r>
            <a:r>
              <a:rPr sz="1200" spc="-23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structured,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hierarchical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33" dirty="0">
                <a:solidFill>
                  <a:srgbClr val="4B5563"/>
                </a:solidFill>
                <a:latin typeface="DejaVu Sans"/>
                <a:cs typeface="DejaVu Sans"/>
              </a:rPr>
              <a:t>view.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596109" y="2746546"/>
            <a:ext cx="78912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E40AF"/>
                </a:solidFill>
                <a:latin typeface="DejaVu Sans"/>
                <a:cs typeface="DejaVu Sans"/>
              </a:rPr>
              <a:t>Key</a:t>
            </a:r>
            <a:r>
              <a:rPr sz="1000" b="1" spc="10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000" b="1" spc="-28" dirty="0">
                <a:solidFill>
                  <a:srgbClr val="1E40AF"/>
                </a:solidFill>
                <a:latin typeface="DejaVu Sans"/>
                <a:cs typeface="DejaVu Sans"/>
              </a:rPr>
              <a:t>Tabs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491387" y="2917996"/>
            <a:ext cx="110095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E40AF"/>
                </a:solidFill>
                <a:latin typeface="DejaVu Sans"/>
                <a:cs typeface="DejaVu Sans"/>
              </a:rPr>
              <a:t>Functionality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695973" y="2983917"/>
            <a:ext cx="292989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4B5563"/>
                </a:solidFill>
                <a:latin typeface="DejaVu Sans"/>
                <a:cs typeface="DejaVu Sans"/>
              </a:rPr>
              <a:t>Home:</a:t>
            </a:r>
            <a:r>
              <a:rPr sz="1200" b="1" spc="83" dirty="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4B5563"/>
                </a:solidFill>
                <a:latin typeface="DejaVu Sans"/>
                <a:cs typeface="DejaVu Sans"/>
              </a:rPr>
              <a:t>Project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creation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settings.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00831" y="3127546"/>
            <a:ext cx="110095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E40AF"/>
                </a:solidFill>
                <a:latin typeface="DejaVu Sans"/>
                <a:cs typeface="DejaVu Sans"/>
              </a:rPr>
              <a:t>Functionality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591251" y="3155367"/>
            <a:ext cx="253935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1" dirty="0">
                <a:solidFill>
                  <a:srgbClr val="4B5563"/>
                </a:solidFill>
                <a:latin typeface="DejaVu Sans"/>
                <a:cs typeface="DejaVu Sans"/>
              </a:rPr>
              <a:t>View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ﬁlter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4B5563"/>
                </a:solidFill>
                <a:latin typeface="DejaVu Sans"/>
                <a:cs typeface="DejaVu Sans"/>
              </a:rPr>
              <a:t>project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contents.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695973" y="3241092"/>
            <a:ext cx="271100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4B5563"/>
                </a:solidFill>
                <a:latin typeface="DejaVu Sans"/>
                <a:cs typeface="DejaVu Sans"/>
              </a:rPr>
              <a:t>Design:</a:t>
            </a:r>
            <a:r>
              <a:rPr sz="1200" b="1" spc="80" dirty="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Build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workﬂows,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4B5563"/>
                </a:solidFill>
                <a:latin typeface="DejaVu Sans"/>
                <a:cs typeface="DejaVu Sans"/>
              </a:rPr>
              <a:t>manage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00695" y="3374442"/>
            <a:ext cx="3137549" cy="459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4B5563"/>
                </a:solidFill>
                <a:latin typeface="DejaVu Sans"/>
                <a:cs typeface="DejaVu Sans"/>
              </a:rPr>
              <a:t>Create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open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automation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projects.</a:t>
            </a:r>
          </a:p>
          <a:p>
            <a:pPr marL="0" marR="0">
              <a:lnSpc>
                <a:spcPts val="1368"/>
              </a:lnSpc>
              <a:spcBef>
                <a:spcPts val="531"/>
              </a:spcBef>
              <a:spcAft>
                <a:spcPts val="0"/>
              </a:spcAft>
            </a:pPr>
            <a:r>
              <a:rPr sz="1200" spc="-18" dirty="0">
                <a:solidFill>
                  <a:srgbClr val="4B5563"/>
                </a:solidFill>
                <a:latin typeface="DejaVu Sans"/>
                <a:cs typeface="DejaVu Sans"/>
              </a:rPr>
              <a:t>Access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Studio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settings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4B5563"/>
                </a:solidFill>
                <a:latin typeface="DejaVu Sans"/>
                <a:cs typeface="DejaVu Sans"/>
              </a:rPr>
              <a:t>preferences.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384826" y="3412542"/>
            <a:ext cx="2697191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4B5563"/>
                </a:solidFill>
                <a:latin typeface="DejaVu Sans"/>
                <a:cs typeface="DejaVu Sans"/>
              </a:rPr>
              <a:t>Manage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4B5563"/>
                </a:solidFill>
                <a:latin typeface="DejaVu Sans"/>
                <a:cs typeface="DejaVu Sans"/>
              </a:rPr>
              <a:t>external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4B5563"/>
                </a:solidFill>
                <a:latin typeface="DejaVu Sans"/>
                <a:cs typeface="DejaVu Sans"/>
              </a:rPr>
              <a:t>packages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libraries.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489548" y="3460167"/>
            <a:ext cx="187046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4B5563"/>
                </a:solidFill>
                <a:latin typeface="DejaVu Sans"/>
                <a:cs typeface="DejaVu Sans"/>
              </a:rPr>
              <a:t>packages,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publish.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95973" y="3707817"/>
            <a:ext cx="272597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4B5563"/>
                </a:solidFill>
                <a:latin typeface="DejaVu Sans"/>
                <a:cs typeface="DejaVu Sans"/>
              </a:rPr>
              <a:t>Debug:</a:t>
            </a:r>
            <a:r>
              <a:rPr sz="1200" b="1" spc="81" dirty="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solidFill>
                  <a:srgbClr val="4B5563"/>
                </a:solidFill>
                <a:latin typeface="DejaVu Sans"/>
                <a:cs typeface="DejaVu Sans"/>
              </a:rPr>
              <a:t>Test,</a:t>
            </a:r>
            <a:r>
              <a:rPr sz="1200" spc="34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set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breakpoints,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and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94270" y="3879267"/>
            <a:ext cx="2787936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1" dirty="0">
                <a:solidFill>
                  <a:srgbClr val="4B5563"/>
                </a:solidFill>
                <a:latin typeface="DejaVu Sans"/>
                <a:cs typeface="DejaVu Sans"/>
              </a:rPr>
              <a:t>View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documentation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license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details.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591251" y="3879267"/>
            <a:ext cx="249263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4B5563"/>
                </a:solidFill>
                <a:latin typeface="DejaVu Sans"/>
                <a:cs typeface="DejaVu Sans"/>
              </a:rPr>
              <a:t>Adjust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project-speciﬁc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settings.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489548" y="3926892"/>
            <a:ext cx="155879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monitor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4B5563"/>
                </a:solidFill>
                <a:latin typeface="DejaVu Sans"/>
                <a:cs typeface="DejaVu Sans"/>
              </a:rPr>
              <a:t>execution.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491387" y="4232446"/>
            <a:ext cx="96450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54D0E"/>
                </a:solidFill>
                <a:latin typeface="DejaVu Sans"/>
                <a:cs typeface="DejaVu Sans"/>
              </a:rPr>
              <a:t>Integration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596109" y="4280071"/>
            <a:ext cx="84417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B21A8"/>
                </a:solidFill>
                <a:latin typeface="DejaVu Sans"/>
                <a:cs typeface="DejaVu Sans"/>
              </a:rPr>
              <a:t>Feedback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00831" y="4451521"/>
            <a:ext cx="144608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6534"/>
                </a:solidFill>
                <a:latin typeface="DejaVu Sans"/>
                <a:cs typeface="DejaVu Sans"/>
              </a:rPr>
              <a:t>Project </a:t>
            </a:r>
            <a:r>
              <a:rPr sz="1000" b="1" spc="-11" dirty="0">
                <a:solidFill>
                  <a:srgbClr val="166534"/>
                </a:solidFill>
                <a:latin typeface="DejaVu Sans"/>
                <a:cs typeface="DejaVu Sans"/>
              </a:rPr>
              <a:t>Templates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384826" y="4479342"/>
            <a:ext cx="2940556" cy="640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4B5563"/>
                </a:solidFill>
                <a:latin typeface="DejaVu Sans"/>
                <a:cs typeface="DejaVu Sans"/>
              </a:rPr>
              <a:t>Shows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ﬁle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status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icons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projects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connected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GIT,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4B5563"/>
                </a:solidFill>
                <a:latin typeface="DejaVu Sans"/>
                <a:cs typeface="DejaVu Sans"/>
              </a:rPr>
              <a:t>SVN,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4B5563"/>
                </a:solidFill>
                <a:latin typeface="DejaVu Sans"/>
                <a:cs typeface="DejaVu Sans"/>
              </a:rPr>
              <a:t>TFS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4B5563"/>
                </a:solidFill>
                <a:latin typeface="DejaVu Sans"/>
                <a:cs typeface="DejaVu Sans"/>
              </a:rPr>
              <a:t>source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control.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489548" y="4526967"/>
            <a:ext cx="3237913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Allows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users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submit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ideas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4B5563"/>
                </a:solidFill>
                <a:latin typeface="DejaVu Sans"/>
                <a:cs typeface="DejaVu Sans"/>
              </a:rPr>
              <a:t>report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bugs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directly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 the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4B5563"/>
                </a:solidFill>
                <a:latin typeface="DejaVu Sans"/>
                <a:cs typeface="DejaVu Sans"/>
              </a:rPr>
              <a:t>UiPath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4B5563"/>
                </a:solidFill>
                <a:latin typeface="DejaVu Sans"/>
                <a:cs typeface="DejaVu Sans"/>
              </a:rPr>
              <a:t>product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team.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94270" y="4688892"/>
            <a:ext cx="3208265" cy="640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Start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projects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4B5563"/>
                </a:solidFill>
                <a:latin typeface="DejaVu Sans"/>
                <a:cs typeface="DejaVu Sans"/>
              </a:rPr>
              <a:t>from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4B5563"/>
                </a:solidFill>
                <a:latin typeface="DejaVu Sans"/>
                <a:cs typeface="DejaVu Sans"/>
              </a:rPr>
              <a:t>predeﬁned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templates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streamline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setup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4B5563"/>
                </a:solidFill>
                <a:latin typeface="DejaVu Sans"/>
                <a:cs typeface="DejaVu Sans"/>
              </a:rPr>
              <a:t>ensure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28" dirty="0">
                <a:solidFill>
                  <a:srgbClr val="4B5563"/>
                </a:solidFill>
                <a:latin typeface="DejaVu Sans"/>
                <a:cs typeface="DejaVu Sans"/>
              </a:rPr>
              <a:t>consistency.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896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57892"/>
            <a:ext cx="5888653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10" dirty="0">
                <a:solidFill>
                  <a:srgbClr val="0D47A1"/>
                </a:solidFill>
                <a:latin typeface="DejaVu Sans"/>
                <a:cs typeface="DejaVu Sans"/>
              </a:rPr>
              <a:t>Key</a:t>
            </a:r>
            <a:r>
              <a:rPr sz="3000" b="1" spc="33" dirty="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0D47A1"/>
                </a:solidFill>
                <a:latin typeface="DejaVu Sans"/>
                <a:cs typeface="DejaVu Sans"/>
              </a:rPr>
              <a:t>Interface</a:t>
            </a:r>
            <a:r>
              <a:rPr sz="3000" b="1" spc="10" dirty="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D47A1"/>
                </a:solidFill>
                <a:latin typeface="DejaVu Sans"/>
                <a:cs typeface="DejaVu Sans"/>
              </a:rPr>
              <a:t>Components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46254" y="1297379"/>
            <a:ext cx="3707666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111827"/>
                </a:solidFill>
                <a:latin typeface="DejaVu Sans"/>
                <a:cs typeface="DejaVu Sans"/>
              </a:rPr>
              <a:t>Properties</a:t>
            </a:r>
            <a:r>
              <a:rPr sz="1700" b="1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700" b="1" spc="-21" dirty="0">
                <a:solidFill>
                  <a:srgbClr val="111827"/>
                </a:solidFill>
                <a:latin typeface="DejaVu Sans"/>
                <a:cs typeface="DejaVu Sans"/>
              </a:rPr>
              <a:t>Panel:</a:t>
            </a:r>
            <a:r>
              <a:rPr sz="1700" b="1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111827"/>
                </a:solidFill>
                <a:latin typeface="DejaVu Sans"/>
                <a:cs typeface="DejaVu Sans"/>
              </a:rPr>
              <a:t>Conﬁguring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0" dirty="0">
                <a:solidFill>
                  <a:srgbClr val="111827"/>
                </a:solidFill>
                <a:latin typeface="DejaVu Sans"/>
                <a:cs typeface="DejaVu Sans"/>
              </a:rPr>
              <a:t>Activities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03262" y="1364054"/>
            <a:ext cx="4279989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0" dirty="0">
                <a:solidFill>
                  <a:srgbClr val="111827"/>
                </a:solidFill>
                <a:latin typeface="DejaVu Sans"/>
                <a:cs typeface="DejaVu Sans"/>
              </a:rPr>
              <a:t>Activities</a:t>
            </a:r>
            <a:r>
              <a:rPr sz="1700" b="1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700" b="1" spc="-21" dirty="0">
                <a:solidFill>
                  <a:srgbClr val="111827"/>
                </a:solidFill>
                <a:latin typeface="DejaVu Sans"/>
                <a:cs typeface="DejaVu Sans"/>
              </a:rPr>
              <a:t>Panel:</a:t>
            </a:r>
            <a:r>
              <a:rPr sz="1700" b="1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111827"/>
                </a:solidFill>
                <a:latin typeface="DejaVu Sans"/>
                <a:cs typeface="DejaVu Sans"/>
              </a:rPr>
              <a:t>Exploring</a:t>
            </a:r>
            <a:r>
              <a:rPr sz="1700" b="1" spc="-10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111827"/>
                </a:solidFill>
                <a:latin typeface="DejaVu Sans"/>
                <a:cs typeface="DejaVu Sans"/>
              </a:rPr>
              <a:t>Actions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4270" y="1842568"/>
            <a:ext cx="4958605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Displays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available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activities to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add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a</a:t>
            </a:r>
            <a:r>
              <a:rPr sz="1200" spc="-23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31" dirty="0">
                <a:solidFill>
                  <a:srgbClr val="374151"/>
                </a:solidFill>
                <a:latin typeface="DejaVu Sans"/>
                <a:cs typeface="DejaVu Sans"/>
              </a:rPr>
              <a:t>workﬂow.</a:t>
            </a:r>
            <a:r>
              <a:rPr sz="1200" spc="15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Drag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1" dirty="0">
                <a:solidFill>
                  <a:srgbClr val="374151"/>
                </a:solidFill>
                <a:latin typeface="DejaVu Sans"/>
                <a:cs typeface="DejaVu Sans"/>
              </a:rPr>
              <a:t>drop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activities into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Designer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panel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build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automations.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37262" y="2014018"/>
            <a:ext cx="5138713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A</a:t>
            </a:r>
            <a:r>
              <a:rPr sz="1200" spc="-25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contextual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panel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view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 and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modify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properties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of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a</a:t>
            </a:r>
            <a:r>
              <a:rPr sz="1200" spc="-23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selected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activity,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essential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customizing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its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7" dirty="0">
                <a:solidFill>
                  <a:srgbClr val="374151"/>
                </a:solidFill>
                <a:latin typeface="DejaVu Sans"/>
                <a:cs typeface="DejaVu Sans"/>
              </a:rPr>
              <a:t>behavior.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0831" y="2367197"/>
            <a:ext cx="110095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E40AF"/>
                </a:solidFill>
                <a:latin typeface="DejaVu Sans"/>
                <a:cs typeface="DejaVu Sans"/>
              </a:rPr>
              <a:t>Functionality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43823" y="2538647"/>
            <a:ext cx="110095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6534"/>
                </a:solidFill>
                <a:latin typeface="DejaVu Sans"/>
                <a:cs typeface="DejaVu Sans"/>
              </a:rPr>
              <a:t>Functionality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69887" y="2605322"/>
            <a:ext cx="3224093" cy="5300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374151"/>
                </a:solidFill>
                <a:latin typeface="DejaVu Sans"/>
                <a:cs typeface="DejaVu Sans"/>
              </a:rPr>
              <a:t>Search for activities by name or description.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sz="1000" dirty="0">
                <a:solidFill>
                  <a:srgbClr val="374151"/>
                </a:solidFill>
                <a:latin typeface="DejaVu Sans"/>
                <a:cs typeface="DejaVu Sans"/>
              </a:rPr>
              <a:t>Add</a:t>
            </a:r>
            <a:r>
              <a:rPr sz="1000" spc="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374151"/>
                </a:solidFill>
                <a:latin typeface="DejaVu Sans"/>
                <a:cs typeface="DejaVu Sans"/>
              </a:rPr>
              <a:t>frequently used activities to a favorites list.</a:t>
            </a:r>
          </a:p>
          <a:p>
            <a:pPr marL="0" marR="0">
              <a:lnSpc>
                <a:spcPts val="1173"/>
              </a:lnSpc>
              <a:spcBef>
                <a:spcPts val="176"/>
              </a:spcBef>
              <a:spcAft>
                <a:spcPts val="0"/>
              </a:spcAft>
            </a:pPr>
            <a:r>
              <a:rPr sz="1000" dirty="0">
                <a:solidFill>
                  <a:srgbClr val="374151"/>
                </a:solidFill>
                <a:latin typeface="DejaVu Sans"/>
                <a:cs typeface="DejaVu Sans"/>
              </a:rPr>
              <a:t>Install activities from</a:t>
            </a:r>
            <a:r>
              <a:rPr sz="1000" spc="14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374151"/>
                </a:solidFill>
                <a:latin typeface="DejaVu Sans"/>
                <a:cs typeface="DejaVu Sans"/>
              </a:rPr>
              <a:t>uninstalled packages.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12879" y="2776772"/>
            <a:ext cx="4041985" cy="358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374151"/>
                </a:solidFill>
                <a:latin typeface="DejaVu Sans"/>
                <a:cs typeface="DejaVu Sans"/>
              </a:rPr>
              <a:t>Adjust parameters, inputs, and outputs.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sz="1000" dirty="0">
                <a:solidFill>
                  <a:srgbClr val="374151"/>
                </a:solidFill>
                <a:latin typeface="DejaVu Sans"/>
                <a:cs typeface="DejaVu Sans"/>
              </a:rPr>
              <a:t>Access the Expression Editor for intelligent code completion.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946254" y="5650304"/>
            <a:ext cx="3652469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23" dirty="0">
                <a:solidFill>
                  <a:srgbClr val="111827"/>
                </a:solidFill>
                <a:latin typeface="DejaVu Sans"/>
                <a:cs typeface="DejaVu Sans"/>
              </a:rPr>
              <a:t>Variables</a:t>
            </a:r>
            <a:r>
              <a:rPr sz="1700" b="1" dirty="0">
                <a:solidFill>
                  <a:srgbClr val="111827"/>
                </a:solidFill>
                <a:latin typeface="DejaVu Sans"/>
                <a:cs typeface="DejaVu Sans"/>
              </a:rPr>
              <a:t> &amp;</a:t>
            </a:r>
            <a:r>
              <a:rPr sz="1700" b="1" spc="-25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111827"/>
                </a:solidFill>
                <a:latin typeface="DejaVu Sans"/>
                <a:cs typeface="DejaVu Sans"/>
              </a:rPr>
              <a:t>Arguments:</a:t>
            </a:r>
            <a:r>
              <a:rPr sz="1700" b="1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111827"/>
                </a:solidFill>
                <a:latin typeface="DejaVu Sans"/>
                <a:cs typeface="DejaVu Sans"/>
              </a:rPr>
              <a:t>Data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b="1" spc="-15" dirty="0">
                <a:solidFill>
                  <a:srgbClr val="111827"/>
                </a:solidFill>
                <a:latin typeface="DejaVu Sans"/>
                <a:cs typeface="DejaVu Sans"/>
              </a:rPr>
              <a:t>Management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03262" y="5716979"/>
            <a:ext cx="446057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111827"/>
                </a:solidFill>
                <a:latin typeface="DejaVu Sans"/>
                <a:cs typeface="DejaVu Sans"/>
              </a:rPr>
              <a:t>Output</a:t>
            </a:r>
            <a:r>
              <a:rPr sz="1700" b="1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700" b="1" spc="-21" dirty="0">
                <a:solidFill>
                  <a:srgbClr val="111827"/>
                </a:solidFill>
                <a:latin typeface="DejaVu Sans"/>
                <a:cs typeface="DejaVu Sans"/>
              </a:rPr>
              <a:t>Panel:</a:t>
            </a:r>
            <a:r>
              <a:rPr sz="1700" b="1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111827"/>
                </a:solidFill>
                <a:latin typeface="DejaVu Sans"/>
                <a:cs typeface="DejaVu Sans"/>
              </a:rPr>
              <a:t>Monitoring</a:t>
            </a:r>
            <a:r>
              <a:rPr sz="1700" b="1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111827"/>
                </a:solidFill>
                <a:latin typeface="DejaVu Sans"/>
                <a:cs typeface="DejaVu Sans"/>
              </a:rPr>
              <a:t>Execution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94270" y="6195493"/>
            <a:ext cx="4676012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Displays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output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374151"/>
                </a:solidFill>
                <a:latin typeface="DejaVu Sans"/>
                <a:cs typeface="DejaVu Sans"/>
              </a:rPr>
              <a:t>from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activities </a:t>
            </a:r>
            <a:r>
              <a:rPr sz="1200" spc="-23" dirty="0">
                <a:solidFill>
                  <a:srgbClr val="374151"/>
                </a:solidFill>
                <a:latin typeface="DejaVu Sans"/>
                <a:cs typeface="DejaVu Sans"/>
              </a:rPr>
              <a:t>like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'Log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Message'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shows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exceptions.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Used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debugging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monitoring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374151"/>
                </a:solidFill>
                <a:latin typeface="DejaVu Sans"/>
                <a:cs typeface="DejaVu Sans"/>
              </a:rPr>
              <a:t>execution.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37262" y="6366943"/>
            <a:ext cx="5049789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Manages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ﬂow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within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between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workﬂows.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374151"/>
                </a:solidFill>
                <a:latin typeface="DejaVu Sans"/>
                <a:cs typeface="DejaVu Sans"/>
              </a:rPr>
              <a:t>Provides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quick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access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variables,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arguments,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imports.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00831" y="6720122"/>
            <a:ext cx="110095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54D0E"/>
                </a:solidFill>
                <a:latin typeface="DejaVu Sans"/>
                <a:cs typeface="DejaVu Sans"/>
              </a:rPr>
              <a:t>Functionality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543823" y="6891572"/>
            <a:ext cx="82979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B21A8"/>
                </a:solidFill>
                <a:latin typeface="DejaVu Sans"/>
                <a:cs typeface="DejaVu Sans"/>
              </a:rPr>
              <a:t>Variables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166621" y="6891572"/>
            <a:ext cx="94612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3730A3"/>
                </a:solidFill>
                <a:latin typeface="DejaVu Sans"/>
                <a:cs typeface="DejaVu Sans"/>
              </a:rPr>
              <a:t>Arguments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69887" y="6958247"/>
            <a:ext cx="3471576" cy="5300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spc="-10" dirty="0">
                <a:solidFill>
                  <a:srgbClr val="374151"/>
                </a:solidFill>
                <a:latin typeface="DejaVu Sans"/>
                <a:cs typeface="DejaVu Sans"/>
              </a:rPr>
              <a:t>Filter</a:t>
            </a:r>
            <a:r>
              <a:rPr sz="1000" spc="17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374151"/>
                </a:solidFill>
                <a:latin typeface="DejaVu Sans"/>
                <a:cs typeface="DejaVu Sans"/>
              </a:rPr>
              <a:t>messages by log level (e.g., errors, warnings).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sz="1000" dirty="0">
                <a:solidFill>
                  <a:srgbClr val="374151"/>
                </a:solidFill>
                <a:latin typeface="DejaVu Sans"/>
                <a:cs typeface="DejaVu Sans"/>
              </a:rPr>
              <a:t>View</a:t>
            </a:r>
            <a:r>
              <a:rPr sz="1000" spc="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374151"/>
                </a:solidFill>
                <a:latin typeface="DejaVu Sans"/>
                <a:cs typeface="DejaVu Sans"/>
              </a:rPr>
              <a:t>details and copy log messages.</a:t>
            </a:r>
          </a:p>
          <a:p>
            <a:pPr marL="0" marR="0">
              <a:lnSpc>
                <a:spcPts val="1173"/>
              </a:lnSpc>
              <a:spcBef>
                <a:spcPts val="176"/>
              </a:spcBef>
              <a:spcAft>
                <a:spcPts val="0"/>
              </a:spcAft>
            </a:pPr>
            <a:r>
              <a:rPr sz="1000" dirty="0">
                <a:solidFill>
                  <a:srgbClr val="374151"/>
                </a:solidFill>
                <a:latin typeface="DejaVu Sans"/>
                <a:cs typeface="DejaVu Sans"/>
              </a:rPr>
              <a:t>Export logs to a text ﬁle for analysis.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437262" y="7129697"/>
            <a:ext cx="2301783" cy="358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374151"/>
                </a:solidFill>
                <a:latin typeface="DejaVu Sans"/>
                <a:cs typeface="DejaVu Sans"/>
              </a:rPr>
              <a:t>Bound to a container; visible only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sz="1000" dirty="0">
                <a:solidFill>
                  <a:srgbClr val="374151"/>
                </a:solidFill>
                <a:latin typeface="DejaVu Sans"/>
                <a:cs typeface="DejaVu Sans"/>
              </a:rPr>
              <a:t>within their deﬁned scope.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060060" y="7129697"/>
            <a:ext cx="2622627" cy="358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374151"/>
                </a:solidFill>
                <a:latin typeface="DejaVu Sans"/>
                <a:cs typeface="DejaVu Sans"/>
              </a:rPr>
              <a:t>Used to pass data between workﬂows;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sz="1000" dirty="0">
                <a:solidFill>
                  <a:srgbClr val="374151"/>
                </a:solidFill>
                <a:latin typeface="DejaVu Sans"/>
                <a:cs typeface="DejaVu Sans"/>
              </a:rPr>
              <a:t>available everywhere in a ﬁle.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619255" y="9301397"/>
            <a:ext cx="4298405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2563EB"/>
                </a:solidFill>
                <a:latin typeface="DejaVu Sans"/>
                <a:cs typeface="DejaVu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User Interface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, </a:t>
            </a:r>
            <a:r>
              <a:rPr sz="1000" dirty="0">
                <a:solidFill>
                  <a:srgbClr val="2563EB"/>
                </a:solidFill>
                <a:latin typeface="DejaVu Sans"/>
                <a:cs typeface="DejaVu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Workﬂow</a:t>
            </a:r>
            <a:r>
              <a:rPr sz="1000" spc="14" dirty="0">
                <a:solidFill>
                  <a:srgbClr val="2563EB"/>
                </a:solidFill>
                <a:latin typeface="DejaVu Sans"/>
                <a:cs typeface="DejaVu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000" dirty="0">
                <a:solidFill>
                  <a:srgbClr val="2563EB"/>
                </a:solidFill>
                <a:latin typeface="DejaVu Sans"/>
                <a:cs typeface="DejaVu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951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56369"/>
            <a:ext cx="10761110" cy="744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4" dirty="0">
                <a:solidFill>
                  <a:srgbClr val="1E3A8A"/>
                </a:solidFill>
                <a:latin typeface="DejaVu Sans"/>
                <a:cs typeface="DejaVu Sans"/>
              </a:rPr>
              <a:t>Creating</a:t>
            </a:r>
            <a:r>
              <a:rPr sz="3000" b="1" spc="10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E3A8A"/>
                </a:solidFill>
                <a:latin typeface="DejaVu Sans"/>
                <a:cs typeface="DejaVu Sans"/>
              </a:rPr>
              <a:t>and</a:t>
            </a:r>
            <a:r>
              <a:rPr sz="30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E3A8A"/>
                </a:solidFill>
                <a:latin typeface="DejaVu Sans"/>
                <a:cs typeface="DejaVu Sans"/>
              </a:rPr>
              <a:t>Managing</a:t>
            </a:r>
            <a:r>
              <a:rPr sz="30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1E3A8A"/>
                </a:solidFill>
                <a:latin typeface="DejaVu Sans"/>
                <a:cs typeface="DejaVu Sans"/>
              </a:rPr>
              <a:t>Projects</a:t>
            </a:r>
            <a:r>
              <a:rPr sz="3000" b="1" dirty="0">
                <a:solidFill>
                  <a:srgbClr val="1E3A8A"/>
                </a:solidFill>
                <a:latin typeface="DejaVu Sans"/>
                <a:cs typeface="DejaVu Sans"/>
              </a:rPr>
              <a:t> in</a:t>
            </a:r>
            <a:r>
              <a:rPr sz="3000" b="1" spc="17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dirty="0">
                <a:solidFill>
                  <a:srgbClr val="1E3A8A"/>
                </a:solidFill>
                <a:latin typeface="DejaVu Sans"/>
                <a:cs typeface="DejaVu Sans"/>
              </a:rPr>
              <a:t>UIPath</a:t>
            </a:r>
            <a:r>
              <a:rPr sz="3000" b="1" spc="27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1E3A8A"/>
                </a:solidFill>
                <a:latin typeface="DejaVu Sans"/>
                <a:cs typeface="DejaVu Sans"/>
              </a:rPr>
              <a:t>Studio</a:t>
            </a:r>
          </a:p>
          <a:p>
            <a:pPr marL="0" marR="0">
              <a:lnSpc>
                <a:spcPts val="1760"/>
              </a:lnSpc>
              <a:spcBef>
                <a:spcPts val="283"/>
              </a:spcBef>
              <a:spcAft>
                <a:spcPts val="0"/>
              </a:spcAft>
            </a:pPr>
            <a:r>
              <a:rPr sz="1500" spc="-40" dirty="0">
                <a:solidFill>
                  <a:srgbClr val="4B5563"/>
                </a:solidFill>
                <a:latin typeface="DejaVu Sans"/>
                <a:cs typeface="DejaVu Sans"/>
              </a:rPr>
              <a:t>From</a:t>
            </a:r>
            <a:r>
              <a:rPr sz="1500" spc="56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4B5563"/>
                </a:solidFill>
                <a:latin typeface="DejaVu Sans"/>
                <a:cs typeface="DejaVu Sans"/>
              </a:rPr>
              <a:t>Project</a:t>
            </a:r>
            <a:r>
              <a:rPr sz="1500" spc="11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500" spc="-40" dirty="0">
                <a:solidFill>
                  <a:srgbClr val="4B5563"/>
                </a:solidFill>
                <a:latin typeface="DejaVu Sans"/>
                <a:cs typeface="DejaVu Sans"/>
              </a:rPr>
              <a:t>Types</a:t>
            </a:r>
            <a:r>
              <a:rPr sz="1500" spc="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4B5563"/>
                </a:solidFill>
                <a:latin typeface="DejaVu Sans"/>
                <a:cs typeface="DejaVu Sans"/>
              </a:rPr>
              <a:t>to Publishing </a:t>
            </a:r>
            <a:r>
              <a:rPr sz="1500" spc="-44" dirty="0">
                <a:solidFill>
                  <a:srgbClr val="4B5563"/>
                </a:solidFill>
                <a:latin typeface="DejaVu Sans"/>
                <a:cs typeface="DejaVu Sans"/>
              </a:rPr>
              <a:t>Your</a:t>
            </a:r>
            <a:r>
              <a:rPr sz="1500" spc="52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4B5563"/>
                </a:solidFill>
                <a:latin typeface="DejaVu Sans"/>
                <a:cs typeface="DejaVu Sans"/>
              </a:rPr>
              <a:t>Automations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0549" y="1589621"/>
            <a:ext cx="313736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E40AF"/>
                </a:solidFill>
                <a:latin typeface="DejaVu Sans"/>
                <a:cs typeface="DejaVu Sans"/>
              </a:rPr>
              <a:t>UIPath</a:t>
            </a:r>
            <a:r>
              <a:rPr sz="2000" b="1" spc="18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1E40AF"/>
                </a:solidFill>
                <a:latin typeface="DejaVu Sans"/>
                <a:cs typeface="DejaVu Sans"/>
              </a:rPr>
              <a:t>Project </a:t>
            </a:r>
            <a:r>
              <a:rPr sz="2000" b="1" spc="-38" dirty="0">
                <a:solidFill>
                  <a:srgbClr val="1E40AF"/>
                </a:solidFill>
                <a:latin typeface="DejaVu Sans"/>
                <a:cs typeface="DejaVu Sans"/>
              </a:rPr>
              <a:t>Types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2109" y="1589621"/>
            <a:ext cx="3478095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E40AF"/>
                </a:solidFill>
                <a:latin typeface="DejaVu Sans"/>
                <a:cs typeface="DejaVu Sans"/>
              </a:rPr>
              <a:t>Creating a</a:t>
            </a:r>
            <a:r>
              <a:rPr sz="2000" b="1" spc="15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1E40AF"/>
                </a:solidFill>
                <a:latin typeface="DejaVu Sans"/>
                <a:cs typeface="DejaVu Sans"/>
              </a:rPr>
              <a:t>New</a:t>
            </a:r>
            <a:r>
              <a:rPr sz="2000" b="1" dirty="0">
                <a:solidFill>
                  <a:srgbClr val="1E40AF"/>
                </a:solidFill>
                <a:latin typeface="DejaVu Sans"/>
                <a:cs typeface="DejaVu Sans"/>
              </a:rPr>
              <a:t> Project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6835" y="2098219"/>
            <a:ext cx="4952653" cy="216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1D4ED8"/>
                </a:solidFill>
                <a:latin typeface="DejaVu Sans"/>
                <a:cs typeface="DejaVu Sans"/>
              </a:rPr>
              <a:t>Process:</a:t>
            </a:r>
            <a:r>
              <a:rPr sz="1200" b="1" spc="751" dirty="0">
                <a:solidFill>
                  <a:srgbClr val="1D4ED8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Automates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a</a:t>
            </a:r>
            <a:r>
              <a:rPr sz="1200" spc="-23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speciﬁc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business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1F2937"/>
                </a:solidFill>
                <a:latin typeface="DejaVu Sans"/>
                <a:cs typeface="DejaVu Sans"/>
              </a:rPr>
              <a:t>process,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published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for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48895" y="2098219"/>
            <a:ext cx="2371976" cy="2120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1F2937"/>
                </a:solidFill>
                <a:latin typeface="DejaVu Sans"/>
                <a:cs typeface="DejaVu Sans"/>
              </a:rPr>
              <a:t>Go</a:t>
            </a:r>
            <a:r>
              <a:rPr sz="1200" spc="-4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Liberation Mono"/>
                <a:cs typeface="Liberation Mono"/>
              </a:rPr>
              <a:t>Home</a:t>
            </a:r>
            <a:r>
              <a:rPr sz="1200" spc="36" dirty="0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&gt;</a:t>
            </a:r>
            <a:r>
              <a:rPr sz="1200" spc="-66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Liberation Mono"/>
                <a:cs typeface="Liberation Mono"/>
              </a:rPr>
              <a:t>Start</a:t>
            </a:r>
            <a:r>
              <a:rPr sz="1200" spc="36" dirty="0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select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1556" y="2317294"/>
            <a:ext cx="136877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0" dirty="0">
                <a:solidFill>
                  <a:srgbClr val="1F2937"/>
                </a:solidFill>
                <a:latin typeface="DejaVu Sans"/>
                <a:cs typeface="DejaVu Sans"/>
              </a:rPr>
              <a:t>robot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1F2937"/>
                </a:solidFill>
                <a:latin typeface="DejaVu Sans"/>
                <a:cs typeface="DejaVu Sans"/>
              </a:rPr>
              <a:t>execution.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48895" y="2317294"/>
            <a:ext cx="30233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to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957690" y="2317294"/>
            <a:ext cx="109887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1F2937"/>
                </a:solidFill>
                <a:latin typeface="DejaVu Sans"/>
                <a:cs typeface="DejaVu Sans"/>
              </a:rPr>
              <a:t>project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type.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51556" y="2607509"/>
            <a:ext cx="5226182" cy="4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278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15803D"/>
                </a:solidFill>
                <a:latin typeface="DejaVu Sans"/>
                <a:cs typeface="DejaVu Sans"/>
              </a:rPr>
              <a:t>Library:</a:t>
            </a:r>
            <a:r>
              <a:rPr sz="1200" b="1" spc="748" dirty="0">
                <a:solidFill>
                  <a:srgbClr val="15803D"/>
                </a:solidFill>
                <a:latin typeface="Times New Roman"/>
                <a:cs typeface="Times New Roman"/>
              </a:rPr>
              <a:t> </a:t>
            </a:r>
            <a:r>
              <a:rPr sz="1200" spc="-18" dirty="0">
                <a:solidFill>
                  <a:srgbClr val="1F2937"/>
                </a:solidFill>
                <a:latin typeface="DejaVu Sans"/>
                <a:cs typeface="DejaVu Sans"/>
              </a:rPr>
              <a:t>Creates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1F2937"/>
                </a:solidFill>
                <a:latin typeface="DejaVu Sans"/>
                <a:cs typeface="DejaVu Sans"/>
              </a:rPr>
              <a:t>reusable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components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(workﬂows)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be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used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as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dependencies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in</a:t>
            </a:r>
            <a:r>
              <a:rPr sz="1200" spc="-17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multiple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1F2937"/>
                </a:solidFill>
                <a:latin typeface="DejaVu Sans"/>
                <a:cs typeface="DejaVu Sans"/>
              </a:rPr>
              <a:t>processes.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48895" y="2612569"/>
            <a:ext cx="2356265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1F2937"/>
                </a:solidFill>
                <a:latin typeface="DejaVu Sans"/>
                <a:cs typeface="DejaVu Sans"/>
              </a:rPr>
              <a:t>Conﬁgure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1F2937"/>
                </a:solidFill>
                <a:latin typeface="DejaVu Sans"/>
                <a:cs typeface="DejaVu Sans"/>
              </a:rPr>
              <a:t>Name,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Description,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Location.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1556" y="3121859"/>
            <a:ext cx="5119652" cy="4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278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50" dirty="0">
                <a:solidFill>
                  <a:srgbClr val="A16207"/>
                </a:solidFill>
                <a:latin typeface="DejaVu Sans"/>
                <a:cs typeface="DejaVu Sans"/>
              </a:rPr>
              <a:t>Test</a:t>
            </a:r>
            <a:r>
              <a:rPr sz="1200" b="1" spc="31" dirty="0">
                <a:solidFill>
                  <a:srgbClr val="A16207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A16207"/>
                </a:solidFill>
                <a:latin typeface="DejaVu Sans"/>
                <a:cs typeface="DejaVu Sans"/>
              </a:rPr>
              <a:t>Automation:</a:t>
            </a:r>
            <a:r>
              <a:rPr sz="1200" b="1" spc="634" dirty="0">
                <a:solidFill>
                  <a:srgbClr val="A1620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Speciﬁcally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designing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1F2937"/>
                </a:solidFill>
                <a:latin typeface="DejaVu Sans"/>
                <a:cs typeface="DejaVu Sans"/>
              </a:rPr>
              <a:t>executing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test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automation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projects.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648895" y="3126919"/>
            <a:ext cx="2397540" cy="640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Choose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Compatibility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(e.g.,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8" dirty="0">
                <a:solidFill>
                  <a:srgbClr val="1F2937"/>
                </a:solidFill>
                <a:latin typeface="DejaVu Sans"/>
                <a:cs typeface="DejaVu Sans"/>
              </a:rPr>
              <a:t>Windows,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Cross-platform)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Language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(VB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C#).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6835" y="3631744"/>
            <a:ext cx="5115485" cy="216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31" dirty="0">
                <a:solidFill>
                  <a:srgbClr val="4338CA"/>
                </a:solidFill>
                <a:latin typeface="DejaVu Sans"/>
                <a:cs typeface="DejaVu Sans"/>
              </a:rPr>
              <a:t>Template:</a:t>
            </a:r>
            <a:r>
              <a:rPr sz="1200" b="1" spc="767" dirty="0">
                <a:solidFill>
                  <a:srgbClr val="4338CA"/>
                </a:solidFill>
                <a:latin typeface="Times New Roman"/>
                <a:cs typeface="Times New Roman"/>
              </a:rPr>
              <a:t> </a:t>
            </a: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Design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a</a:t>
            </a:r>
            <a:r>
              <a:rPr sz="1200" spc="-23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1F2937"/>
                </a:solidFill>
                <a:latin typeface="DejaVu Sans"/>
                <a:cs typeface="DejaVu Sans"/>
              </a:rPr>
              <a:t>process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publish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it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as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a</a:t>
            </a:r>
            <a:r>
              <a:rPr sz="1200" spc="-23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starting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point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for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51556" y="3850819"/>
            <a:ext cx="178875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other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similar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projects.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648895" y="3850819"/>
            <a:ext cx="2333111" cy="640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Note: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Compatibility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language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cannot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be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changed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7" dirty="0">
                <a:solidFill>
                  <a:srgbClr val="1F2937"/>
                </a:solidFill>
                <a:latin typeface="DejaVu Sans"/>
                <a:cs typeface="DejaVu Sans"/>
              </a:rPr>
              <a:t>after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creation.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36835" y="4146094"/>
            <a:ext cx="4411738" cy="216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7E22CE"/>
                </a:solidFill>
                <a:latin typeface="DejaVu Sans"/>
                <a:cs typeface="DejaVu Sans"/>
              </a:rPr>
              <a:t>Cross-platform:</a:t>
            </a:r>
            <a:r>
              <a:rPr sz="1200" b="1" spc="751" dirty="0">
                <a:solidFill>
                  <a:srgbClr val="7E22CE"/>
                </a:solidFill>
                <a:latin typeface="Times New Roman"/>
                <a:cs typeface="Times New Roman"/>
              </a:rPr>
              <a:t> </a:t>
            </a:r>
            <a:r>
              <a:rPr sz="1200" spc="-36" dirty="0">
                <a:solidFill>
                  <a:srgbClr val="1F2937"/>
                </a:solidFill>
                <a:latin typeface="DejaVu Sans"/>
                <a:cs typeface="DejaVu Sans"/>
              </a:rPr>
              <a:t>For</a:t>
            </a:r>
            <a:r>
              <a:rPr sz="1200" spc="18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unattended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automations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1F2937"/>
                </a:solidFill>
                <a:latin typeface="DejaVu Sans"/>
                <a:cs typeface="DejaVu Sans"/>
              </a:rPr>
              <a:t>web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51556" y="4365169"/>
            <a:ext cx="406504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automations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1F2937"/>
                </a:solidFill>
                <a:latin typeface="DejaVu Sans"/>
                <a:cs typeface="DejaVu Sans"/>
              </a:rPr>
              <a:t>executable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on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1F2937"/>
                </a:solidFill>
                <a:latin typeface="DejaVu Sans"/>
                <a:cs typeface="DejaVu Sans"/>
              </a:rPr>
              <a:t>Windows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&amp;</a:t>
            </a:r>
            <a:r>
              <a:rPr sz="1200" spc="-27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1F2937"/>
                </a:solidFill>
                <a:latin typeface="DejaVu Sans"/>
                <a:cs typeface="DejaVu Sans"/>
              </a:rPr>
              <a:t>Unix-like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1F2937"/>
                </a:solidFill>
                <a:latin typeface="DejaVu Sans"/>
                <a:cs typeface="DejaVu Sans"/>
              </a:rPr>
              <a:t>OS.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60549" y="5266271"/>
            <a:ext cx="4574282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E40AF"/>
                </a:solidFill>
                <a:latin typeface="DejaVu Sans"/>
                <a:cs typeface="DejaVu Sans"/>
              </a:rPr>
              <a:t>Project Folder</a:t>
            </a:r>
            <a:r>
              <a:rPr sz="2000" b="1" spc="20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1E40AF"/>
                </a:solidFill>
                <a:latin typeface="DejaVu Sans"/>
                <a:cs typeface="DejaVu Sans"/>
              </a:rPr>
              <a:t>Structure &amp;</a:t>
            </a:r>
            <a:r>
              <a:rPr sz="2000" b="1" spc="18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1E40AF"/>
                </a:solidFill>
                <a:latin typeface="DejaVu Sans"/>
                <a:cs typeface="DejaVu Sans"/>
              </a:rPr>
              <a:t>Key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dirty="0">
                <a:solidFill>
                  <a:srgbClr val="1E40AF"/>
                </a:solidFill>
                <a:latin typeface="DejaVu Sans"/>
                <a:cs typeface="DejaVu Sans"/>
              </a:rPr>
              <a:t>Files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882109" y="5304371"/>
            <a:ext cx="4629155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1E40AF"/>
                </a:solidFill>
                <a:latin typeface="DejaVu Sans"/>
                <a:cs typeface="DejaVu Sans"/>
              </a:rPr>
              <a:t>Saving</a:t>
            </a:r>
            <a:r>
              <a:rPr sz="2000" b="1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E40AF"/>
                </a:solidFill>
                <a:latin typeface="DejaVu Sans"/>
                <a:cs typeface="DejaVu Sans"/>
              </a:rPr>
              <a:t>and</a:t>
            </a:r>
            <a:r>
              <a:rPr sz="2000" b="1" dirty="0">
                <a:solidFill>
                  <a:srgbClr val="1E40AF"/>
                </a:solidFill>
                <a:latin typeface="DejaVu Sans"/>
                <a:cs typeface="DejaVu Sans"/>
              </a:rPr>
              <a:t> Publishing Projects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648895" y="5812969"/>
            <a:ext cx="504577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1F2937"/>
                </a:solidFill>
                <a:latin typeface="DejaVu Sans"/>
                <a:cs typeface="DejaVu Sans"/>
              </a:rPr>
              <a:t>Saving:</a:t>
            </a:r>
            <a:r>
              <a:rPr sz="1200" spc="-18" dirty="0">
                <a:solidFill>
                  <a:srgbClr val="1F2937"/>
                </a:solidFill>
                <a:latin typeface="DejaVu Sans"/>
                <a:cs typeface="DejaVu Sans"/>
              </a:rPr>
              <a:t>Projects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1F2937"/>
                </a:solidFill>
                <a:latin typeface="DejaVu Sans"/>
                <a:cs typeface="DejaVu Sans"/>
              </a:rPr>
              <a:t>are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auto-saved,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but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1F2937"/>
                </a:solidFill>
                <a:latin typeface="DejaVu Sans"/>
                <a:cs typeface="DejaVu Sans"/>
              </a:rPr>
              <a:t>manual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saving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1F2937"/>
                </a:solidFill>
                <a:latin typeface="DejaVu Sans"/>
                <a:cs typeface="DejaVu Sans"/>
              </a:rPr>
              <a:t>ensures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your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278438" y="6022519"/>
            <a:ext cx="243972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latest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changes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1F2937"/>
                </a:solidFill>
                <a:latin typeface="DejaVu Sans"/>
                <a:cs typeface="DejaVu Sans"/>
              </a:rPr>
              <a:t>are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committed.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718815" y="6070144"/>
            <a:ext cx="4216392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: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 The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default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main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workﬂow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ﬁle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21" dirty="0">
                <a:solidFill>
                  <a:srgbClr val="1F2937"/>
                </a:solidFill>
                <a:latin typeface="DejaVu Sans"/>
                <a:cs typeface="DejaVu Sans"/>
              </a:rPr>
              <a:t>where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automation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starts.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69900" y="6179687"/>
            <a:ext cx="959031" cy="207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1F2937"/>
                </a:solidFill>
                <a:latin typeface="Liberation Mono"/>
                <a:cs typeface="Liberation Mono"/>
              </a:rPr>
              <a:t>Main.xaml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648895" y="6327319"/>
            <a:ext cx="4609421" cy="640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1F2937"/>
                </a:solidFill>
                <a:latin typeface="DejaVu Sans"/>
                <a:cs typeface="DejaVu Sans"/>
              </a:rPr>
              <a:t>Publishing: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This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1F2937"/>
                </a:solidFill>
                <a:latin typeface="DejaVu Sans"/>
                <a:cs typeface="DejaVu Sans"/>
              </a:rPr>
              <a:t>packages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your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1F2937"/>
                </a:solidFill>
                <a:latin typeface="DejaVu Sans"/>
                <a:cs typeface="DejaVu Sans"/>
              </a:rPr>
              <a:t>project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into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a</a:t>
            </a:r>
            <a:r>
              <a:rPr sz="1200" spc="-23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`.nupkg`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ﬁle,</a:t>
            </a:r>
          </a:p>
          <a:p>
            <a:pPr marL="944016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making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it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available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1F2937"/>
                </a:solidFill>
                <a:latin typeface="DejaVu Sans"/>
                <a:cs typeface="DejaVu Sans"/>
              </a:rPr>
              <a:t>robots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1F2937"/>
                </a:solidFill>
                <a:latin typeface="DejaVu Sans"/>
                <a:cs typeface="DejaVu Sans"/>
              </a:rPr>
              <a:t>execute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via</a:t>
            </a:r>
          </a:p>
          <a:p>
            <a:pPr marL="944016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Orchestrator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31" dirty="0">
                <a:solidFill>
                  <a:srgbClr val="1F2937"/>
                </a:solidFill>
                <a:latin typeface="DejaVu Sans"/>
                <a:cs typeface="DejaVu Sans"/>
              </a:rPr>
              <a:t>locally.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987450" y="6584494"/>
            <a:ext cx="3728828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: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Contains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metadata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dependencies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your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automation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project.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69900" y="6694037"/>
            <a:ext cx="1227909" cy="207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1F2937"/>
                </a:solidFill>
                <a:latin typeface="Liberation Mono"/>
                <a:cs typeface="Liberation Mono"/>
              </a:rPr>
              <a:t>project.json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648895" y="7051219"/>
            <a:ext cx="92410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1F2937"/>
                </a:solidFill>
                <a:latin typeface="DejaVu Sans"/>
                <a:cs typeface="DejaVu Sans"/>
              </a:rPr>
              <a:t>Reusable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7759600" y="7051219"/>
            <a:ext cx="307167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Libraries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can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be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published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used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as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27335" y="7089319"/>
            <a:ext cx="5093719" cy="640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1F2937"/>
                </a:solidFill>
                <a:latin typeface="DejaVu Sans"/>
                <a:cs typeface="DejaVu Sans"/>
              </a:rPr>
              <a:t>Subfolders:</a:t>
            </a:r>
            <a:r>
              <a:rPr sz="1200" spc="-18" dirty="0">
                <a:solidFill>
                  <a:srgbClr val="1F2937"/>
                </a:solidFill>
                <a:latin typeface="DejaVu Sans"/>
                <a:cs typeface="DejaVu Sans"/>
              </a:rPr>
              <a:t>Projects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include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dedicated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folders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screenshots,</a:t>
            </a:r>
          </a:p>
          <a:p>
            <a:pPr marL="969615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local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data,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settings,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templates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28" dirty="0">
                <a:solidFill>
                  <a:srgbClr val="1F2937"/>
                </a:solidFill>
                <a:latin typeface="DejaVu Sans"/>
                <a:cs typeface="DejaVu Sans"/>
              </a:rPr>
              <a:t>keep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1F2937"/>
                </a:solidFill>
                <a:latin typeface="DejaVu Sans"/>
                <a:cs typeface="DejaVu Sans"/>
              </a:rPr>
              <a:t>resources</a:t>
            </a:r>
          </a:p>
          <a:p>
            <a:pPr marL="969615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organized.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6648895" y="7260769"/>
            <a:ext cx="484989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1F2937"/>
                </a:solidFill>
                <a:latin typeface="DejaVu Sans"/>
                <a:cs typeface="DejaVu Sans"/>
              </a:rPr>
              <a:t>Components:</a:t>
            </a: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dependencies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in</a:t>
            </a:r>
            <a:r>
              <a:rPr sz="1200" spc="-17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other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projects,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1F2937"/>
                </a:solidFill>
                <a:latin typeface="DejaVu Sans"/>
                <a:cs typeface="DejaVu Sans"/>
              </a:rPr>
              <a:t>promoting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code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7759600" y="7479844"/>
            <a:ext cx="61752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1F2937"/>
                </a:solidFill>
                <a:latin typeface="DejaVu Sans"/>
                <a:cs typeface="DejaVu Sans"/>
              </a:rPr>
              <a:t>reuse.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6648895" y="7775119"/>
            <a:ext cx="5074978" cy="640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1F2937"/>
                </a:solidFill>
                <a:latin typeface="DejaVu Sans"/>
                <a:cs typeface="DejaVu Sans"/>
              </a:rPr>
              <a:t>Cleanup: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Use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1F2937"/>
                </a:solidFill>
                <a:latin typeface="DejaVu Sans"/>
                <a:cs typeface="DejaVu Sans"/>
              </a:rPr>
              <a:t>`Remove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Unused`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1F2937"/>
                </a:solidFill>
                <a:latin typeface="DejaVu Sans"/>
                <a:cs typeface="DejaVu Sans"/>
              </a:rPr>
              <a:t>feature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1F2937"/>
                </a:solidFill>
                <a:latin typeface="DejaVu Sans"/>
                <a:cs typeface="DejaVu Sans"/>
              </a:rPr>
              <a:t>remove</a:t>
            </a:r>
          </a:p>
          <a:p>
            <a:pPr marL="741908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8" dirty="0">
                <a:solidFill>
                  <a:srgbClr val="1F2937"/>
                </a:solidFill>
                <a:latin typeface="DejaVu Sans"/>
                <a:cs typeface="DejaVu Sans"/>
              </a:rPr>
              <a:t>unreferenced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variables,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dependencies,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screenshots</a:t>
            </a:r>
          </a:p>
          <a:p>
            <a:pPr marL="741908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8" dirty="0">
                <a:solidFill>
                  <a:srgbClr val="1F2937"/>
                </a:solidFill>
                <a:latin typeface="DejaVu Sans"/>
                <a:cs typeface="DejaVu Sans"/>
              </a:rPr>
              <a:t>before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publishing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a</a:t>
            </a:r>
            <a:r>
              <a:rPr sz="1200" spc="-23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clean,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optimized</a:t>
            </a: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1F2937"/>
                </a:solidFill>
                <a:latin typeface="DejaVu Sans"/>
                <a:cs typeface="DejaVu Sans"/>
              </a:rPr>
              <a:t>package.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827335" y="7822744"/>
            <a:ext cx="1222512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1F2937"/>
                </a:solidFill>
                <a:latin typeface="DejaVu Sans"/>
                <a:cs typeface="DejaVu Sans"/>
              </a:rPr>
              <a:t>Naming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b="1" spc="-14" dirty="0">
                <a:solidFill>
                  <a:srgbClr val="1F2937"/>
                </a:solidFill>
                <a:latin typeface="DejaVu Sans"/>
                <a:cs typeface="DejaVu Sans"/>
              </a:rPr>
              <a:t>Restrictions: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2251620" y="7822744"/>
            <a:ext cx="3707118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31" dirty="0">
                <a:solidFill>
                  <a:srgbClr val="1F2937"/>
                </a:solidFill>
                <a:latin typeface="DejaVu Sans"/>
                <a:cs typeface="DejaVu Sans"/>
              </a:rPr>
              <a:t>Avoid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special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characters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1F2937"/>
                </a:solidFill>
                <a:latin typeface="DejaVu Sans"/>
                <a:cs typeface="DejaVu Sans"/>
              </a:rPr>
              <a:t>like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`\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/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:</a:t>
            </a: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*</a:t>
            </a:r>
            <a:r>
              <a:rPr sz="1200" spc="-2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?</a:t>
            </a:r>
            <a:r>
              <a:rPr sz="1200" spc="-2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"</a:t>
            </a:r>
            <a:r>
              <a:rPr sz="1200" spc="-18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&lt;</a:t>
            </a:r>
            <a:r>
              <a:rPr sz="1200" spc="-28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&gt;</a:t>
            </a:r>
            <a:r>
              <a:rPr sz="1200" spc="-28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|`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in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0" dirty="0">
                <a:solidFill>
                  <a:srgbClr val="1F2937"/>
                </a:solidFill>
                <a:latin typeface="DejaVu Sans"/>
                <a:cs typeface="DejaVu Sans"/>
              </a:rPr>
              <a:t>ﬁle</a:t>
            </a:r>
            <a:r>
              <a:rPr sz="1200" spc="-1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1F2937"/>
                </a:solidFill>
                <a:latin typeface="DejaVu Sans"/>
                <a:cs typeface="DejaVu Sans"/>
              </a:rPr>
              <a:t>names.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8222753" y="8699798"/>
            <a:ext cx="395101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Source: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About Automation Projects - UiPath</a:t>
            </a:r>
            <a:r>
              <a:rPr sz="1000" spc="11" dirty="0">
                <a:solidFill>
                  <a:srgbClr val="6B7280"/>
                </a:solidFill>
                <a:latin typeface="DejaVu Sans"/>
                <a:cs typeface="DejaVu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09901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5906" y="384816"/>
            <a:ext cx="7743850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F2937"/>
                </a:solidFill>
                <a:latin typeface="DejaVu Sans"/>
                <a:cs typeface="DejaVu Sans"/>
              </a:rPr>
              <a:t>Workﬂow</a:t>
            </a:r>
            <a:r>
              <a:rPr sz="3000" b="1" spc="3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F2937"/>
                </a:solidFill>
                <a:latin typeface="DejaVu Sans"/>
                <a:cs typeface="DejaVu Sans"/>
              </a:rPr>
              <a:t>Design:</a:t>
            </a:r>
            <a:r>
              <a:rPr sz="3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F2937"/>
                </a:solidFill>
                <a:latin typeface="DejaVu Sans"/>
                <a:cs typeface="DejaVu Sans"/>
              </a:rPr>
              <a:t>The</a:t>
            </a:r>
            <a:r>
              <a:rPr sz="3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F2937"/>
                </a:solidFill>
                <a:latin typeface="DejaVu Sans"/>
                <a:cs typeface="DejaVu Sans"/>
              </a:rPr>
              <a:t>Main</a:t>
            </a:r>
            <a:r>
              <a:rPr sz="3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F2937"/>
                </a:solidFill>
                <a:latin typeface="DejaVu Sans"/>
                <a:cs typeface="DejaVu Sans"/>
              </a:rPr>
              <a:t>Canvas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12197" y="1418044"/>
            <a:ext cx="3534352" cy="669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1F2937"/>
                </a:solidFill>
                <a:latin typeface="DejaVu Sans"/>
                <a:cs typeface="DejaVu Sans"/>
              </a:rPr>
              <a:t>Dragging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F2937"/>
                </a:solidFill>
                <a:latin typeface="DejaVu Sans"/>
                <a:cs typeface="DejaVu Sans"/>
              </a:rPr>
              <a:t>and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F2937"/>
                </a:solidFill>
                <a:latin typeface="DejaVu Sans"/>
                <a:cs typeface="DejaVu Sans"/>
              </a:rPr>
              <a:t>Dropping</a:t>
            </a:r>
          </a:p>
          <a:p>
            <a:pPr marL="0" marR="0">
              <a:lnSpc>
                <a:spcPts val="2346"/>
              </a:lnSpc>
              <a:spcBef>
                <a:spcPts val="328"/>
              </a:spcBef>
              <a:spcAft>
                <a:spcPts val="0"/>
              </a:spcAft>
            </a:pP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Activities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12197" y="2183062"/>
            <a:ext cx="4467244" cy="1265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Intuitively construct your automation by dragging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pre-built activities </a:t>
            </a:r>
            <a:r>
              <a:rPr sz="1350" spc="-12" dirty="0">
                <a:solidFill>
                  <a:srgbClr val="4B5563"/>
                </a:solidFill>
                <a:latin typeface="DejaVu Sans"/>
                <a:cs typeface="DejaVu Sans"/>
              </a:rPr>
              <a:t>from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the Activities </a:t>
            </a:r>
            <a:r>
              <a:rPr sz="1350" spc="-18" dirty="0">
                <a:solidFill>
                  <a:srgbClr val="4B5563"/>
                </a:solidFill>
                <a:latin typeface="DejaVu Sans"/>
                <a:cs typeface="DejaVu Sans"/>
              </a:rPr>
              <a:t>Panel</a:t>
            </a:r>
            <a:r>
              <a:rPr sz="1350" spc="15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dropping them onto the design canvas. This visual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approach accelerates development and simpliﬁes</a:t>
            </a:r>
          </a:p>
          <a:p>
            <a:pPr marL="0" marR="0">
              <a:lnSpc>
                <a:spcPts val="1564"/>
              </a:lnSpc>
              <a:spcBef>
                <a:spcPts val="46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complex process mapping.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40189" y="3622092"/>
            <a:ext cx="179381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1E40AF"/>
                </a:solidFill>
                <a:latin typeface="DejaVu Sans"/>
                <a:cs typeface="DejaVu Sans"/>
              </a:rPr>
              <a:t>Visual</a:t>
            </a:r>
            <a:r>
              <a:rPr sz="1200" b="1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1E40AF"/>
                </a:solidFill>
                <a:latin typeface="DejaVu Sans"/>
                <a:cs typeface="DejaVu Sans"/>
              </a:rPr>
              <a:t>Construction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93129" y="4487357"/>
            <a:ext cx="4472430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374151"/>
                </a:solidFill>
                <a:latin typeface="DejaVu Sans"/>
                <a:cs typeface="DejaVu Sans"/>
              </a:rPr>
              <a:t>The Design Area: Build with Sequences,</a:t>
            </a:r>
          </a:p>
          <a:p>
            <a:pPr marL="391566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b="1" dirty="0">
                <a:solidFill>
                  <a:srgbClr val="374151"/>
                </a:solidFill>
                <a:latin typeface="DejaVu Sans"/>
                <a:cs typeface="DejaVu Sans"/>
              </a:rPr>
              <a:t>Flowcharts, and State Machines.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112197" y="4656544"/>
            <a:ext cx="4297814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1F2937"/>
                </a:solidFill>
                <a:latin typeface="DejaVu Sans"/>
                <a:cs typeface="DejaVu Sans"/>
              </a:rPr>
              <a:t>Connecting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 Activities &amp;</a:t>
            </a:r>
            <a:r>
              <a:rPr sz="2000" b="1" spc="18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Flow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spc="10" dirty="0">
                <a:solidFill>
                  <a:srgbClr val="1F2937"/>
                </a:solidFill>
                <a:latin typeface="DejaVu Sans"/>
                <a:cs typeface="DejaVu Sans"/>
              </a:rPr>
              <a:t>Control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12197" y="5431087"/>
            <a:ext cx="4486989" cy="1255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Deﬁne the logic of your automation by connecting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activities. Use control ﬂow elements </a:t>
            </a:r>
            <a:r>
              <a:rPr sz="1350" spc="-18" dirty="0">
                <a:solidFill>
                  <a:srgbClr val="4B5563"/>
                </a:solidFill>
                <a:latin typeface="DejaVu Sans"/>
                <a:cs typeface="DejaVu Sans"/>
              </a:rPr>
              <a:t>like</a:t>
            </a:r>
            <a:r>
              <a:rPr sz="1350" spc="11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loops </a:t>
            </a:r>
            <a:r>
              <a:rPr sz="1350" spc="-20" dirty="0">
                <a:solidFill>
                  <a:srgbClr val="4B5563"/>
                </a:solidFill>
                <a:latin typeface="DejaVu Sans"/>
                <a:cs typeface="DejaVu Sans"/>
              </a:rPr>
              <a:t>(For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Each, While) and conditionals (If, Switch) to</a:t>
            </a:r>
          </a:p>
          <a:p>
            <a:pPr marL="0" marR="0">
              <a:lnSpc>
                <a:spcPts val="1564"/>
              </a:lnSpc>
              <a:spcBef>
                <a:spcPts val="46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manage the sequence of operations and handle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diﬀerent scenarios.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240189" y="6870117"/>
            <a:ext cx="178266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166534"/>
                </a:solidFill>
                <a:latin typeface="DejaVu Sans"/>
                <a:cs typeface="DejaVu Sans"/>
              </a:rPr>
              <a:t>Logical</a:t>
            </a:r>
            <a:r>
              <a:rPr sz="1200" b="1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166534"/>
                </a:solidFill>
                <a:latin typeface="DejaVu Sans"/>
                <a:cs typeface="DejaVu Sans"/>
              </a:rPr>
              <a:t>Sequencing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12197" y="7895044"/>
            <a:ext cx="3637220" cy="679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1F2937"/>
                </a:solidFill>
                <a:latin typeface="DejaVu Sans"/>
                <a:cs typeface="DejaVu Sans"/>
              </a:rPr>
              <a:t>Debugging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F2937"/>
                </a:solidFill>
                <a:latin typeface="DejaVu Sans"/>
                <a:cs typeface="DejaVu Sans"/>
              </a:rPr>
              <a:t>and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F2937"/>
                </a:solidFill>
                <a:latin typeface="DejaVu Sans"/>
                <a:cs typeface="DejaVu Sans"/>
              </a:rPr>
              <a:t>Running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Workﬂows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112197" y="8669587"/>
            <a:ext cx="4526588" cy="1265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60" dirty="0">
                <a:solidFill>
                  <a:srgbClr val="4B5563"/>
                </a:solidFill>
                <a:latin typeface="DejaVu Sans"/>
                <a:cs typeface="DejaVu Sans"/>
              </a:rPr>
              <a:t>Test</a:t>
            </a:r>
            <a:r>
              <a:rPr sz="1350" spc="55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and </a:t>
            </a:r>
            <a:r>
              <a:rPr sz="1350" spc="-10" dirty="0">
                <a:solidFill>
                  <a:srgbClr val="4B5563"/>
                </a:solidFill>
                <a:latin typeface="DejaVu Sans"/>
                <a:cs typeface="DejaVu Sans"/>
              </a:rPr>
              <a:t>reﬁne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your automation with powerful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debugging tools. Set breakpoints, step through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spc="-10" dirty="0">
                <a:solidFill>
                  <a:srgbClr val="4B5563"/>
                </a:solidFill>
                <a:latin typeface="DejaVu Sans"/>
                <a:cs typeface="DejaVu Sans"/>
              </a:rPr>
              <a:t>execution,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and monitor data in real-time. Once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perfected, run the workﬂow to see your automated</a:t>
            </a:r>
          </a:p>
          <a:p>
            <a:pPr marL="0" marR="0">
              <a:lnSpc>
                <a:spcPts val="1564"/>
              </a:lnSpc>
              <a:spcBef>
                <a:spcPts val="46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process in action.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240189" y="10108617"/>
            <a:ext cx="139685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50" dirty="0">
                <a:solidFill>
                  <a:srgbClr val="6B21A8"/>
                </a:solidFill>
                <a:latin typeface="DejaVu Sans"/>
                <a:cs typeface="DejaVu Sans"/>
              </a:rPr>
              <a:t>Test</a:t>
            </a:r>
            <a:r>
              <a:rPr sz="1200" b="1" spc="31" dirty="0">
                <a:solidFill>
                  <a:srgbClr val="6B21A8"/>
                </a:solidFill>
                <a:latin typeface="DejaVu Sans"/>
                <a:cs typeface="DejaVu Sans"/>
              </a:rPr>
              <a:t> </a:t>
            </a:r>
            <a:r>
              <a:rPr sz="1200" b="1" dirty="0">
                <a:solidFill>
                  <a:srgbClr val="6B21A8"/>
                </a:solidFill>
                <a:latin typeface="DejaVu Sans"/>
                <a:cs typeface="DejaVu Sans"/>
              </a:rPr>
              <a:t>&amp;</a:t>
            </a:r>
            <a:r>
              <a:rPr sz="1200" b="1" spc="-30" dirty="0">
                <a:solidFill>
                  <a:srgbClr val="6B21A8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6B21A8"/>
                </a:solidFill>
                <a:latin typeface="DejaVu Sans"/>
                <a:cs typeface="DejaVu Sans"/>
              </a:rPr>
              <a:t>Execute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95520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56369"/>
            <a:ext cx="5212195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075985"/>
                </a:solidFill>
                <a:latin typeface="DejaVu Sans"/>
                <a:cs typeface="DejaVu Sans"/>
              </a:rPr>
              <a:t>Best</a:t>
            </a:r>
            <a:r>
              <a:rPr sz="3000" b="1" dirty="0">
                <a:solidFill>
                  <a:srgbClr val="075985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075985"/>
                </a:solidFill>
                <a:latin typeface="DejaVu Sans"/>
                <a:cs typeface="DejaVu Sans"/>
              </a:rPr>
              <a:t>Practices</a:t>
            </a:r>
            <a:r>
              <a:rPr sz="3000" b="1" dirty="0">
                <a:solidFill>
                  <a:srgbClr val="075985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75985"/>
                </a:solidFill>
                <a:latin typeface="DejaVu Sans"/>
                <a:cs typeface="DejaVu Sans"/>
              </a:rPr>
              <a:t>and</a:t>
            </a:r>
            <a:r>
              <a:rPr sz="3000" b="1" dirty="0">
                <a:solidFill>
                  <a:srgbClr val="075985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075985"/>
                </a:solidFill>
                <a:latin typeface="DejaVu Sans"/>
                <a:cs typeface="DejaVu Sans"/>
              </a:rPr>
              <a:t>Tips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5976" y="1486355"/>
            <a:ext cx="426437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075985"/>
                </a:solidFill>
                <a:latin typeface="DejaVu Sans"/>
                <a:cs typeface="DejaVu Sans"/>
              </a:rPr>
              <a:t>Organizing</a:t>
            </a:r>
            <a:r>
              <a:rPr sz="1700" b="1" spc="-10" dirty="0">
                <a:solidFill>
                  <a:srgbClr val="075985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75985"/>
                </a:solidFill>
                <a:latin typeface="DejaVu Sans"/>
                <a:cs typeface="DejaVu Sans"/>
              </a:rPr>
              <a:t>Projects</a:t>
            </a:r>
            <a:r>
              <a:rPr sz="1700" b="1" dirty="0">
                <a:solidFill>
                  <a:srgbClr val="075985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75985"/>
                </a:solidFill>
                <a:latin typeface="DejaVu Sans"/>
                <a:cs typeface="DejaVu Sans"/>
              </a:rPr>
              <a:t>for</a:t>
            </a:r>
            <a:r>
              <a:rPr sz="1700" b="1" dirty="0">
                <a:solidFill>
                  <a:srgbClr val="075985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075985"/>
                </a:solidFill>
                <a:latin typeface="DejaVu Sans"/>
                <a:cs typeface="DejaVu Sans"/>
              </a:rPr>
              <a:t>Scalability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88967" y="1486355"/>
            <a:ext cx="4235630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075985"/>
                </a:solidFill>
                <a:latin typeface="DejaVu Sans"/>
                <a:cs typeface="DejaVu Sans"/>
              </a:rPr>
              <a:t>Using</a:t>
            </a:r>
            <a:r>
              <a:rPr sz="1700" b="1" dirty="0">
                <a:solidFill>
                  <a:srgbClr val="075985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75985"/>
                </a:solidFill>
                <a:latin typeface="DejaVu Sans"/>
                <a:cs typeface="DejaVu Sans"/>
              </a:rPr>
              <a:t>Comments</a:t>
            </a:r>
            <a:r>
              <a:rPr sz="1700" b="1" dirty="0">
                <a:solidFill>
                  <a:srgbClr val="075985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75985"/>
                </a:solidFill>
                <a:latin typeface="DejaVu Sans"/>
                <a:cs typeface="DejaVu Sans"/>
              </a:rPr>
              <a:t>and</a:t>
            </a:r>
            <a:r>
              <a:rPr sz="1700" b="1" dirty="0">
                <a:solidFill>
                  <a:srgbClr val="075985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75985"/>
                </a:solidFill>
                <a:latin typeface="DejaVu Sans"/>
                <a:cs typeface="DejaVu Sans"/>
              </a:rPr>
              <a:t>Annotations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55490" y="1983164"/>
            <a:ext cx="321983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0" dirty="0">
                <a:solidFill>
                  <a:srgbClr val="374151"/>
                </a:solidFill>
                <a:latin typeface="DejaVu Sans"/>
                <a:cs typeface="DejaVu Sans"/>
              </a:rPr>
              <a:t>Break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down complex processes into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467301" y="1983164"/>
            <a:ext cx="387200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Use comments and annotations to describe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43545" y="2005201"/>
            <a:ext cx="147245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75985"/>
                </a:solidFill>
                <a:latin typeface="DejaVu Sans"/>
                <a:cs typeface="DejaVu Sans"/>
              </a:rPr>
              <a:t>Modular</a:t>
            </a:r>
            <a:r>
              <a:rPr sz="1200" b="1" dirty="0">
                <a:solidFill>
                  <a:srgbClr val="075985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75985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86536" y="2005201"/>
            <a:ext cx="84154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75985"/>
                </a:solidFill>
                <a:latin typeface="DejaVu Sans"/>
                <a:cs typeface="DejaVu Sans"/>
              </a:rPr>
              <a:t>Purpose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6984" y="2240339"/>
            <a:ext cx="4843269" cy="484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smaller, reusable components for eﬃciency and easier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maintenance.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79976" y="2240339"/>
            <a:ext cx="4668822" cy="484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techniques, application behavior, or complex logic in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detail.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6984" y="2830889"/>
            <a:ext cx="5072648" cy="836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9391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Use clear, consistent names for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ﬁles, activities, and variables to improve </a:t>
            </a:r>
            <a:r>
              <a:rPr sz="1350" spc="-21" dirty="0">
                <a:solidFill>
                  <a:srgbClr val="374151"/>
                </a:solidFill>
                <a:latin typeface="DejaVu Sans"/>
                <a:cs typeface="DejaVu Sans"/>
              </a:rPr>
              <a:t>readability.</a:t>
            </a:r>
          </a:p>
          <a:p>
            <a:pPr marL="1598562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Integrate with systems </a:t>
            </a:r>
            <a:r>
              <a:rPr sz="1350" spc="-18" dirty="0">
                <a:solidFill>
                  <a:srgbClr val="374151"/>
                </a:solidFill>
                <a:latin typeface="DejaVu Sans"/>
                <a:cs typeface="DejaVu Sans"/>
              </a:rPr>
              <a:t>like</a:t>
            </a:r>
            <a:r>
              <a:rPr sz="1350" spc="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Git to track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479976" y="2830889"/>
            <a:ext cx="4724873" cy="836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51941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Improves understanding for other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developers who may work on the project.</a:t>
            </a:r>
          </a:p>
          <a:p>
            <a:pPr marL="85338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Explains complex logic or speciﬁc decisions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43545" y="2852926"/>
            <a:ext cx="189330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115E59"/>
                </a:solidFill>
                <a:latin typeface="DejaVu Sans"/>
                <a:cs typeface="DejaVu Sans"/>
              </a:rPr>
              <a:t>Naming</a:t>
            </a:r>
            <a:r>
              <a:rPr sz="1200" b="1" dirty="0">
                <a:solidFill>
                  <a:srgbClr val="115E59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115E59"/>
                </a:solidFill>
                <a:latin typeface="DejaVu Sans"/>
                <a:cs typeface="DejaVu Sans"/>
              </a:rPr>
              <a:t>Conventions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86536" y="2852926"/>
            <a:ext cx="110641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115E59"/>
                </a:solidFill>
                <a:latin typeface="DejaVu Sans"/>
                <a:cs typeface="DejaVu Sans"/>
              </a:rPr>
              <a:t>Readability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43545" y="3453001"/>
            <a:ext cx="145252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5" dirty="0">
                <a:solidFill>
                  <a:srgbClr val="3730A3"/>
                </a:solidFill>
                <a:latin typeface="DejaVu Sans"/>
                <a:cs typeface="DejaVu Sans"/>
              </a:rPr>
              <a:t>Version</a:t>
            </a:r>
            <a:r>
              <a:rPr sz="1200" b="1" dirty="0">
                <a:solidFill>
                  <a:srgbClr val="3730A3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3730A3"/>
                </a:solidFill>
                <a:latin typeface="DejaVu Sans"/>
                <a:cs typeface="DejaVu Sans"/>
              </a:rPr>
              <a:t>Control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586536" y="3453001"/>
            <a:ext cx="70758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2" dirty="0">
                <a:solidFill>
                  <a:srgbClr val="3730A3"/>
                </a:solidFill>
                <a:latin typeface="DejaVu Sans"/>
                <a:cs typeface="DejaVu Sans"/>
              </a:rPr>
              <a:t>Clarity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36984" y="3688139"/>
            <a:ext cx="325053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changes and enhance collaboration.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79976" y="3688139"/>
            <a:ext cx="483525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made within the workﬂow, providing essential context.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43545" y="4031039"/>
            <a:ext cx="436088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6B21A8"/>
                </a:solidFill>
                <a:latin typeface="DejaVu Sans"/>
                <a:cs typeface="DejaVu Sans"/>
              </a:rPr>
              <a:t>Orchestrator</a:t>
            </a:r>
            <a:r>
              <a:rPr sz="1200" b="1" spc="1097" dirty="0">
                <a:solidFill>
                  <a:srgbClr val="6B21A8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Utilize Orchestrator for large-scale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479976" y="4031039"/>
            <a:ext cx="4202285" cy="741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56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6B21A8"/>
                </a:solidFill>
                <a:latin typeface="DejaVu Sans"/>
                <a:cs typeface="DejaVu Sans"/>
              </a:rPr>
              <a:t>Maintainability</a:t>
            </a:r>
            <a:r>
              <a:rPr sz="1200" b="1" spc="1090" dirty="0">
                <a:solidFill>
                  <a:srgbClr val="6B21A8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Aids in future debugging and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modiﬁcations by providing a clear </a:t>
            </a:r>
            <a:r>
              <a:rPr sz="1350" spc="-14" dirty="0">
                <a:solidFill>
                  <a:srgbClr val="374151"/>
                </a:solidFill>
                <a:latin typeface="DejaVu Sans"/>
                <a:cs typeface="DejaVu Sans"/>
              </a:rPr>
              <a:t>record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of the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automation's design.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36984" y="4288214"/>
            <a:ext cx="468644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operations, load balancing, and queue management.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45976" y="5629730"/>
            <a:ext cx="368934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075985"/>
                </a:solidFill>
                <a:latin typeface="DejaVu Sans"/>
                <a:cs typeface="DejaVu Sans"/>
              </a:rPr>
              <a:t>Error</a:t>
            </a:r>
            <a:r>
              <a:rPr sz="1700" b="1" dirty="0">
                <a:solidFill>
                  <a:srgbClr val="075985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75985"/>
                </a:solidFill>
                <a:latin typeface="DejaVu Sans"/>
                <a:cs typeface="DejaVu Sans"/>
              </a:rPr>
              <a:t>and</a:t>
            </a:r>
            <a:r>
              <a:rPr sz="1700" b="1" dirty="0">
                <a:solidFill>
                  <a:srgbClr val="075985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75985"/>
                </a:solidFill>
                <a:latin typeface="DejaVu Sans"/>
                <a:cs typeface="DejaVu Sans"/>
              </a:rPr>
              <a:t>Exception</a:t>
            </a:r>
            <a:r>
              <a:rPr sz="1700" b="1" dirty="0">
                <a:solidFill>
                  <a:srgbClr val="075985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75985"/>
                </a:solidFill>
                <a:latin typeface="DejaVu Sans"/>
                <a:cs typeface="DejaVu Sans"/>
              </a:rPr>
              <a:t>Handling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988967" y="5629730"/>
            <a:ext cx="3395460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075985"/>
                </a:solidFill>
                <a:latin typeface="DejaVu Sans"/>
                <a:cs typeface="DejaVu Sans"/>
              </a:rPr>
              <a:t>Importance</a:t>
            </a:r>
            <a:r>
              <a:rPr sz="1700" b="1" dirty="0">
                <a:solidFill>
                  <a:srgbClr val="075985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75985"/>
                </a:solidFill>
                <a:latin typeface="DejaVu Sans"/>
                <a:cs typeface="DejaVu Sans"/>
              </a:rPr>
              <a:t>of</a:t>
            </a:r>
            <a:r>
              <a:rPr sz="1700" b="1" dirty="0">
                <a:solidFill>
                  <a:srgbClr val="075985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75985"/>
                </a:solidFill>
                <a:latin typeface="DejaVu Sans"/>
                <a:cs typeface="DejaVu Sans"/>
              </a:rPr>
              <a:t>Screenshots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614165" y="6117014"/>
            <a:ext cx="315945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Implement </a:t>
            </a:r>
            <a:r>
              <a:rPr sz="1350" spc="-10" dirty="0">
                <a:solidFill>
                  <a:srgbClr val="374151"/>
                </a:solidFill>
                <a:latin typeface="DejaVu Sans"/>
                <a:cs typeface="DejaVu Sans"/>
              </a:rPr>
              <a:t>strong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spc="-17" dirty="0">
                <a:solidFill>
                  <a:srgbClr val="374151"/>
                </a:solidFill>
                <a:latin typeface="DejaVu Sans"/>
                <a:cs typeface="DejaVu Sans"/>
              </a:rPr>
              <a:t>error</a:t>
            </a:r>
            <a:r>
              <a:rPr sz="1350" spc="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handling to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896373" y="6117014"/>
            <a:ext cx="361396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Screenshots provide clear visual context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43545" y="6139051"/>
            <a:ext cx="183120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75985"/>
                </a:solidFill>
                <a:latin typeface="DejaVu Sans"/>
                <a:cs typeface="DejaVu Sans"/>
              </a:rPr>
              <a:t>Robust</a:t>
            </a:r>
            <a:r>
              <a:rPr sz="1200" b="1" dirty="0">
                <a:solidFill>
                  <a:srgbClr val="075985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75985"/>
                </a:solidFill>
                <a:latin typeface="DejaVu Sans"/>
                <a:cs typeface="DejaVu Sans"/>
              </a:rPr>
              <a:t>Mechanisms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586536" y="6139051"/>
            <a:ext cx="127040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075985"/>
                </a:solidFill>
                <a:latin typeface="DejaVu Sans"/>
                <a:cs typeface="DejaVu Sans"/>
              </a:rPr>
              <a:t>Visual</a:t>
            </a:r>
            <a:r>
              <a:rPr sz="1200" b="1" dirty="0">
                <a:solidFill>
                  <a:srgbClr val="075985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075985"/>
                </a:solidFill>
                <a:latin typeface="DejaVu Sans"/>
                <a:cs typeface="DejaVu Sans"/>
              </a:rPr>
              <a:t>Clarity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36984" y="6374189"/>
            <a:ext cx="4524563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manage exceptions gracefully and prevent process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crashes.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479976" y="6374189"/>
            <a:ext cx="4612864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for UI automation steps, making workﬂows easier to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understand.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326183" y="6974264"/>
            <a:ext cx="340203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Use </a:t>
            </a:r>
            <a:r>
              <a:rPr sz="1350" spc="-23" dirty="0">
                <a:solidFill>
                  <a:srgbClr val="374151"/>
                </a:solidFill>
                <a:latin typeface="DejaVu Sans"/>
                <a:cs typeface="DejaVu Sans"/>
              </a:rPr>
              <a:t>`Try-Catch`</a:t>
            </a:r>
            <a:r>
              <a:rPr sz="1350" spc="18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blocks to isolate code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8141492" y="6974264"/>
            <a:ext cx="317395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Help identify issues by showing the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743545" y="6996301"/>
            <a:ext cx="154321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31" dirty="0">
                <a:solidFill>
                  <a:srgbClr val="115E59"/>
                </a:solidFill>
                <a:latin typeface="DejaVu Sans"/>
                <a:cs typeface="DejaVu Sans"/>
              </a:rPr>
              <a:t>Try-Catch</a:t>
            </a:r>
            <a:r>
              <a:rPr sz="1200" b="1" dirty="0">
                <a:solidFill>
                  <a:srgbClr val="115E59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115E59"/>
                </a:solidFill>
                <a:latin typeface="DejaVu Sans"/>
                <a:cs typeface="DejaVu Sans"/>
              </a:rPr>
              <a:t>Blocks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6586536" y="6996301"/>
            <a:ext cx="153252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3" dirty="0">
                <a:solidFill>
                  <a:srgbClr val="115E59"/>
                </a:solidFill>
                <a:latin typeface="DejaVu Sans"/>
                <a:cs typeface="DejaVu Sans"/>
              </a:rPr>
              <a:t>Troubleshooting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36984" y="7231439"/>
            <a:ext cx="409074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that may fail and deﬁne a recovery sequence.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6479976" y="7231439"/>
            <a:ext cx="469109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0" dirty="0">
                <a:solidFill>
                  <a:srgbClr val="374151"/>
                </a:solidFill>
                <a:latin typeface="DejaVu Sans"/>
                <a:cs typeface="DejaVu Sans"/>
              </a:rPr>
              <a:t>exact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state of an application when an </a:t>
            </a:r>
            <a:r>
              <a:rPr sz="1350" spc="-17" dirty="0">
                <a:solidFill>
                  <a:srgbClr val="374151"/>
                </a:solidFill>
                <a:latin typeface="DejaVu Sans"/>
                <a:cs typeface="DejaVu Sans"/>
              </a:rPr>
              <a:t>error</a:t>
            </a:r>
            <a:r>
              <a:rPr sz="1350" spc="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spc="-10" dirty="0">
                <a:solidFill>
                  <a:srgbClr val="374151"/>
                </a:solidFill>
                <a:latin typeface="DejaVu Sans"/>
                <a:cs typeface="DejaVu Sans"/>
              </a:rPr>
              <a:t>occurred.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743545" y="7574339"/>
            <a:ext cx="465674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3730A3"/>
                </a:solidFill>
                <a:latin typeface="DejaVu Sans"/>
                <a:cs typeface="DejaVu Sans"/>
              </a:rPr>
              <a:t>Logging</a:t>
            </a:r>
            <a:r>
              <a:rPr sz="1200" b="1" spc="1090" dirty="0">
                <a:solidFill>
                  <a:srgbClr val="3730A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Utilize logging activities to track </a:t>
            </a:r>
            <a:r>
              <a:rPr sz="1350" spc="-11" dirty="0">
                <a:solidFill>
                  <a:srgbClr val="374151"/>
                </a:solidFill>
                <a:latin typeface="DejaVu Sans"/>
                <a:cs typeface="DejaVu Sans"/>
              </a:rPr>
              <a:t>execution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6586536" y="7574339"/>
            <a:ext cx="462295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3730A3"/>
                </a:solidFill>
                <a:latin typeface="DejaVu Sans"/>
                <a:cs typeface="DejaVu Sans"/>
              </a:rPr>
              <a:t>Documentation</a:t>
            </a:r>
            <a:r>
              <a:rPr sz="1200" b="1" spc="1092" dirty="0">
                <a:solidFill>
                  <a:srgbClr val="3730A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Enhance project documentation by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636984" y="7831514"/>
            <a:ext cx="410023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paths, which is invaluable for troubleshooting.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6479976" y="7831514"/>
            <a:ext cx="498341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visually illustrating steps, conﬁgurations, or </a:t>
            </a:r>
            <a:r>
              <a:rPr sz="1350" spc="-17" dirty="0">
                <a:solidFill>
                  <a:srgbClr val="374151"/>
                </a:solidFill>
                <a:latin typeface="DejaVu Sans"/>
                <a:cs typeface="DejaVu Sans"/>
              </a:rPr>
              <a:t>error</a:t>
            </a:r>
            <a:r>
              <a:rPr sz="1350" spc="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states.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636984" y="8164889"/>
            <a:ext cx="5131130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50193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Conﬁgure a Global Exception Handler to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deﬁne a consistent </a:t>
            </a:r>
            <a:r>
              <a:rPr sz="1350" spc="-17" dirty="0">
                <a:solidFill>
                  <a:srgbClr val="374151"/>
                </a:solidFill>
                <a:latin typeface="DejaVu Sans"/>
                <a:cs typeface="DejaVu Sans"/>
              </a:rPr>
              <a:t>error</a:t>
            </a:r>
            <a:r>
              <a:rPr sz="1350" spc="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response </a:t>
            </a:r>
            <a:r>
              <a:rPr sz="1350" spc="-10" dirty="0">
                <a:solidFill>
                  <a:srgbClr val="374151"/>
                </a:solidFill>
                <a:latin typeface="DejaVu Sans"/>
                <a:cs typeface="DejaVu Sans"/>
              </a:rPr>
              <a:t>across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the project.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6479976" y="8164889"/>
            <a:ext cx="4382561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873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5" dirty="0">
                <a:solidFill>
                  <a:srgbClr val="374151"/>
                </a:solidFill>
                <a:latin typeface="DejaVu Sans"/>
                <a:cs typeface="DejaVu Sans"/>
              </a:rPr>
              <a:t>UiPath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can automatically generate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informative screenshots for UI activities.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743545" y="8186926"/>
            <a:ext cx="140421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6B21A8"/>
                </a:solidFill>
                <a:latin typeface="DejaVu Sans"/>
                <a:cs typeface="DejaVu Sans"/>
              </a:rPr>
              <a:t>Global</a:t>
            </a:r>
            <a:r>
              <a:rPr sz="1200" b="1" dirty="0">
                <a:solidFill>
                  <a:srgbClr val="6B21A8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6B21A8"/>
                </a:solidFill>
                <a:latin typeface="DejaVu Sans"/>
                <a:cs typeface="DejaVu Sans"/>
              </a:rPr>
              <a:t>Handler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6586536" y="8186926"/>
            <a:ext cx="113317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6B21A8"/>
                </a:solidFill>
                <a:latin typeface="DejaVu Sans"/>
                <a:cs typeface="DejaVu Sans"/>
              </a:rPr>
              <a:t>Informative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11954735" y="9309398"/>
            <a:ext cx="21909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9416" y="1847526"/>
            <a:ext cx="10585176" cy="1583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7332" marR="0" algn="ctr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latin typeface="DejaVu Sans"/>
                <a:cs typeface="DejaVu Sans"/>
              </a:rPr>
              <a:t>Understanding User</a:t>
            </a:r>
          </a:p>
          <a:p>
            <a:pPr marL="0" marR="0" algn="ctr">
              <a:lnSpc>
                <a:spcPts val="5866"/>
              </a:lnSpc>
              <a:spcBef>
                <a:spcPts val="433"/>
              </a:spcBef>
              <a:spcAft>
                <a:spcPts val="0"/>
              </a:spcAft>
            </a:pPr>
            <a:r>
              <a:rPr sz="5050" b="1" dirty="0">
                <a:latin typeface="DejaVu Sans"/>
                <a:cs typeface="DejaVu Sans"/>
              </a:rPr>
              <a:t>Interfaces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813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56877"/>
            <a:ext cx="6561925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8" dirty="0">
                <a:solidFill>
                  <a:srgbClr val="1E3A8A"/>
                </a:solidFill>
                <a:latin typeface="DejaVu Sans"/>
                <a:cs typeface="DejaVu Sans"/>
              </a:rPr>
              <a:t>What</a:t>
            </a:r>
            <a:r>
              <a:rPr sz="3000" b="1" dirty="0">
                <a:solidFill>
                  <a:srgbClr val="1E3A8A"/>
                </a:solidFill>
                <a:latin typeface="DejaVu Sans"/>
                <a:cs typeface="DejaVu Sans"/>
              </a:rPr>
              <a:t> is</a:t>
            </a:r>
            <a:r>
              <a:rPr sz="3000" b="1" spc="14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dirty="0">
                <a:solidFill>
                  <a:srgbClr val="1E3A8A"/>
                </a:solidFill>
                <a:latin typeface="DejaVu Sans"/>
                <a:cs typeface="DejaVu Sans"/>
              </a:rPr>
              <a:t>a</a:t>
            </a:r>
            <a:r>
              <a:rPr sz="3000" b="1" spc="23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E3A8A"/>
                </a:solidFill>
                <a:latin typeface="DejaVu Sans"/>
                <a:cs typeface="DejaVu Sans"/>
              </a:rPr>
              <a:t>User</a:t>
            </a:r>
            <a:r>
              <a:rPr sz="30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1E3A8A"/>
                </a:solidFill>
                <a:latin typeface="DejaVu Sans"/>
                <a:cs typeface="DejaVu Sans"/>
              </a:rPr>
              <a:t>Interface</a:t>
            </a:r>
            <a:r>
              <a:rPr sz="3000" b="1" spc="10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1" dirty="0">
                <a:solidFill>
                  <a:srgbClr val="1E3A8A"/>
                </a:solidFill>
                <a:latin typeface="DejaVu Sans"/>
                <a:cs typeface="DejaVu Sans"/>
              </a:rPr>
              <a:t>(UI)?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7278" y="1123404"/>
            <a:ext cx="156670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5803D"/>
                </a:solidFill>
                <a:latin typeface="DejaVu Sans"/>
                <a:cs typeface="DejaVu Sans"/>
              </a:rPr>
              <a:t>Deﬁnition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0999" y="1611443"/>
            <a:ext cx="6419601" cy="8521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1E3A8A"/>
                </a:solidFill>
                <a:latin typeface="DejaVu Sans"/>
                <a:cs typeface="DejaVu Sans"/>
              </a:rPr>
              <a:t>The point of interaction between humans and computers. It's the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1E3A8A"/>
                </a:solidFill>
                <a:latin typeface="DejaVu Sans"/>
                <a:cs typeface="DejaVu Sans"/>
              </a:rPr>
              <a:t>space where</a:t>
            </a:r>
            <a:r>
              <a:rPr sz="1500" spc="1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1E3A8A"/>
                </a:solidFill>
                <a:latin typeface="DejaVu Sans"/>
                <a:cs typeface="DejaVu Sans"/>
              </a:rPr>
              <a:t>users and machines meet to exchange</a:t>
            </a:r>
            <a:r>
              <a:rPr sz="1500" spc="10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1E3A8A"/>
                </a:solidFill>
                <a:latin typeface="DejaVu Sans"/>
                <a:cs typeface="DejaVu Sans"/>
              </a:rPr>
              <a:t>information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1E3A8A"/>
                </a:solidFill>
                <a:latin typeface="DejaVu Sans"/>
                <a:cs typeface="DejaVu Sans"/>
              </a:rPr>
              <a:t>and commands.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7278" y="2704554"/>
            <a:ext cx="1333797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15803D"/>
                </a:solidFill>
                <a:latin typeface="DejaVu Sans"/>
                <a:cs typeface="DejaVu Sans"/>
              </a:rPr>
              <a:t>Purpose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0999" y="3183068"/>
            <a:ext cx="6516339" cy="861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1E3A8A"/>
                </a:solidFill>
                <a:latin typeface="DejaVu Sans"/>
                <a:cs typeface="DejaVu Sans"/>
              </a:rPr>
              <a:t>Enabling users to control and interact with software/hardware. UIs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spc="-10" dirty="0">
                <a:solidFill>
                  <a:srgbClr val="1E3A8A"/>
                </a:solidFill>
                <a:latin typeface="DejaVu Sans"/>
                <a:cs typeface="DejaVu Sans"/>
              </a:rPr>
              <a:t>are</a:t>
            </a:r>
            <a:r>
              <a:rPr sz="1500" spc="2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1E3A8A"/>
                </a:solidFill>
                <a:latin typeface="DejaVu Sans"/>
                <a:cs typeface="DejaVu Sans"/>
              </a:rPr>
              <a:t>designed to be intuitive and eﬃcient, facilitating seamless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1E3A8A"/>
                </a:solidFill>
                <a:latin typeface="DejaVu Sans"/>
                <a:cs typeface="DejaVu Sans"/>
              </a:rPr>
              <a:t>communication.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47278" y="4285705"/>
            <a:ext cx="152907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15803D"/>
                </a:solidFill>
                <a:latin typeface="DejaVu Sans"/>
                <a:cs typeface="DejaVu Sans"/>
              </a:rPr>
              <a:t>Examples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9663" y="4764218"/>
            <a:ext cx="612267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E3A8A"/>
                </a:solidFill>
                <a:latin typeface="DejaVu Sans"/>
                <a:cs typeface="DejaVu Sans"/>
              </a:rPr>
              <a:t>Websites:</a:t>
            </a:r>
            <a:r>
              <a:rPr sz="1500" b="1" spc="-37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1E3A8A"/>
                </a:solidFill>
                <a:latin typeface="DejaVu Sans"/>
                <a:cs typeface="DejaVu Sans"/>
              </a:rPr>
              <a:t>Navigating online content, e-commerce platforms.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9663" y="5107118"/>
            <a:ext cx="569698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E3A8A"/>
                </a:solidFill>
                <a:latin typeface="DejaVu Sans"/>
                <a:cs typeface="DejaVu Sans"/>
              </a:rPr>
              <a:t>Mobile Apps:</a:t>
            </a:r>
            <a:r>
              <a:rPr sz="1500" b="1" spc="-44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1E3A8A"/>
                </a:solidFill>
                <a:latin typeface="DejaVu Sans"/>
                <a:cs typeface="DejaVu Sans"/>
              </a:rPr>
              <a:t>Interacting with apps on smartphones and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80999" y="5402393"/>
            <a:ext cx="87511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1E3A8A"/>
                </a:solidFill>
                <a:latin typeface="DejaVu Sans"/>
                <a:cs typeface="DejaVu Sans"/>
              </a:rPr>
              <a:t>tablets.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9663" y="5745293"/>
            <a:ext cx="5690422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E3A8A"/>
                </a:solidFill>
                <a:latin typeface="DejaVu Sans"/>
                <a:cs typeface="DejaVu Sans"/>
              </a:rPr>
              <a:t>Operating Systems:</a:t>
            </a:r>
            <a:r>
              <a:rPr sz="1500" b="1" spc="-43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1E3A8A"/>
                </a:solidFill>
                <a:latin typeface="DejaVu Sans"/>
                <a:cs typeface="DejaVu Sans"/>
              </a:rPr>
              <a:t>The graphical environment of your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80999" y="6050093"/>
            <a:ext cx="113952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10" dirty="0">
                <a:solidFill>
                  <a:srgbClr val="1E3A8A"/>
                </a:solidFill>
                <a:latin typeface="DejaVu Sans"/>
                <a:cs typeface="DejaVu Sans"/>
              </a:rPr>
              <a:t>computer.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00980" y="6966002"/>
            <a:ext cx="157375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166534"/>
                </a:solidFill>
                <a:latin typeface="DejaVu Sans"/>
                <a:cs typeface="DejaVu Sans"/>
              </a:rPr>
              <a:t>Interaction</a:t>
            </a:r>
            <a:r>
              <a:rPr sz="1200" b="1" spc="-12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166534"/>
                </a:solidFill>
                <a:latin typeface="DejaVu Sans"/>
                <a:cs typeface="DejaVu Sans"/>
              </a:rPr>
              <a:t>Point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225105" y="6966002"/>
            <a:ext cx="989879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901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1E40AF"/>
                </a:solidFill>
                <a:latin typeface="DejaVu Sans"/>
                <a:cs typeface="DejaVu Sans"/>
              </a:rPr>
              <a:t>Control</a:t>
            </a:r>
            <a:r>
              <a:rPr sz="1200" b="1" dirty="0">
                <a:solidFill>
                  <a:srgbClr val="1E40AF"/>
                </a:solidFill>
                <a:latin typeface="DejaVu Sans"/>
                <a:cs typeface="DejaVu Sans"/>
              </a:rPr>
              <a:t> &amp;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b="1" spc="-20" dirty="0">
                <a:solidFill>
                  <a:srgbClr val="1E40AF"/>
                </a:solidFill>
                <a:latin typeface="DejaVu Sans"/>
                <a:cs typeface="DejaVu Sans"/>
              </a:rPr>
              <a:t>Command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351263" y="6966002"/>
            <a:ext cx="1201510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854D0E"/>
                </a:solidFill>
                <a:latin typeface="DejaVu Sans"/>
                <a:cs typeface="DejaVu Sans"/>
              </a:rPr>
              <a:t>User-Centric</a:t>
            </a:r>
          </a:p>
          <a:p>
            <a:pPr marL="235148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b="1" spc="-15" dirty="0">
                <a:solidFill>
                  <a:srgbClr val="854D0E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071639" y="8546339"/>
            <a:ext cx="8082300" cy="177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94"/>
              </a:lnSpc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6B7280"/>
                </a:solidFill>
                <a:latin typeface="DejaVu Sans"/>
                <a:cs typeface="DejaVu Sans"/>
              </a:rPr>
              <a:t>Source: Human-Computer Interaction | </a:t>
            </a:r>
            <a:r>
              <a:rPr sz="950" spc="-10" dirty="0">
                <a:solidFill>
                  <a:srgbClr val="6B7280"/>
                </a:solidFill>
                <a:latin typeface="DejaVu Sans"/>
                <a:cs typeface="DejaVu Sans"/>
              </a:rPr>
              <a:t>EBSCO</a:t>
            </a:r>
            <a:r>
              <a:rPr sz="950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950" spc="-15" dirty="0">
                <a:solidFill>
                  <a:srgbClr val="6B7280"/>
                </a:solidFill>
                <a:latin typeface="DejaVu Sans"/>
                <a:cs typeface="DejaVu Sans"/>
              </a:rPr>
              <a:t>Research</a:t>
            </a:r>
            <a:r>
              <a:rPr sz="950" dirty="0">
                <a:solidFill>
                  <a:srgbClr val="6B7280"/>
                </a:solidFill>
                <a:latin typeface="DejaVu Sans"/>
                <a:cs typeface="DejaVu Sans"/>
              </a:rPr>
              <a:t> Starters, Input Devices and Interaction </a:t>
            </a:r>
            <a:r>
              <a:rPr sz="950" spc="-20" dirty="0">
                <a:solidFill>
                  <a:srgbClr val="6B7280"/>
                </a:solidFill>
                <a:latin typeface="DejaVu Sans"/>
                <a:cs typeface="DejaVu Sans"/>
              </a:rPr>
              <a:t>Techniques</a:t>
            </a:r>
            <a:r>
              <a:rPr sz="950" spc="12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950" dirty="0">
                <a:solidFill>
                  <a:srgbClr val="6B7280"/>
                </a:solidFill>
                <a:latin typeface="DejaVu Sans"/>
                <a:cs typeface="DejaVu Sans"/>
              </a:rPr>
              <a:t>for Advanced Computing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83524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65906" y="333300"/>
            <a:ext cx="8877651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1E3A8A"/>
                </a:solidFill>
                <a:latin typeface="DejaVu Sans"/>
                <a:cs typeface="DejaVu Sans"/>
              </a:rPr>
              <a:t>Introducing</a:t>
            </a:r>
            <a:r>
              <a:rPr sz="405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1E3A8A"/>
                </a:solidFill>
                <a:latin typeface="DejaVu Sans"/>
                <a:cs typeface="DejaVu Sans"/>
              </a:rPr>
              <a:t>the</a:t>
            </a:r>
            <a:r>
              <a:rPr sz="405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4050" b="1" spc="-138" dirty="0">
                <a:solidFill>
                  <a:srgbClr val="1E3A8A"/>
                </a:solidFill>
                <a:latin typeface="DejaVu Sans"/>
                <a:cs typeface="DejaVu Sans"/>
              </a:rPr>
              <a:t>Task</a:t>
            </a:r>
            <a:r>
              <a:rPr sz="4050" b="1" spc="120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1E3A8A"/>
                </a:solidFill>
                <a:latin typeface="DejaVu Sans"/>
                <a:cs typeface="DejaVu Sans"/>
              </a:rPr>
              <a:t>Recorder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171029"/>
            <a:ext cx="154059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2" dirty="0">
                <a:solidFill>
                  <a:srgbClr val="16A34A"/>
                </a:solidFill>
                <a:latin typeface="DejaVu Sans"/>
                <a:cs typeface="DejaVu Sans"/>
              </a:rPr>
              <a:t>What</a:t>
            </a:r>
            <a:r>
              <a:rPr sz="2000" b="1" dirty="0">
                <a:solidFill>
                  <a:srgbClr val="16A34A"/>
                </a:solidFill>
                <a:latin typeface="DejaVu Sans"/>
                <a:cs typeface="DejaVu Sans"/>
              </a:rPr>
              <a:t> it 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0999" y="1601918"/>
            <a:ext cx="6465338" cy="861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A</a:t>
            </a:r>
            <a:r>
              <a:rPr sz="1500" spc="11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500" spc="-56" dirty="0">
                <a:solidFill>
                  <a:srgbClr val="1E40AF"/>
                </a:solidFill>
                <a:latin typeface="DejaVu Sans"/>
                <a:cs typeface="DejaVu Sans"/>
              </a:rPr>
              <a:t>Task</a:t>
            </a:r>
            <a:r>
              <a:rPr sz="1500" spc="68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Recorder</a:t>
            </a:r>
            <a:r>
              <a:rPr sz="1500" spc="15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is a</a:t>
            </a:r>
            <a:r>
              <a:rPr sz="1500" spc="10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powerful tool designed to capture</a:t>
            </a:r>
            <a:r>
              <a:rPr sz="1500" spc="10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and replay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user actions within an application or web page. It automates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repetitive tasks by meticulously logging every interaction.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0999" y="2656929"/>
            <a:ext cx="202856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16A34A"/>
                </a:solidFill>
                <a:latin typeface="DejaVu Sans"/>
                <a:cs typeface="DejaVu Sans"/>
              </a:rPr>
              <a:t>How</a:t>
            </a:r>
            <a:r>
              <a:rPr sz="2000" b="1" dirty="0">
                <a:solidFill>
                  <a:srgbClr val="16A34A"/>
                </a:solidFill>
                <a:latin typeface="DejaVu Sans"/>
                <a:cs typeface="DejaVu Sans"/>
              </a:rPr>
              <a:t> it </a:t>
            </a:r>
            <a:r>
              <a:rPr sz="2000" b="1" spc="10" dirty="0">
                <a:solidFill>
                  <a:srgbClr val="16A34A"/>
                </a:solidFill>
                <a:latin typeface="DejaVu Sans"/>
                <a:cs typeface="DejaVu Sans"/>
              </a:rPr>
              <a:t>works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0999" y="3097343"/>
            <a:ext cx="6471348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The recorder</a:t>
            </a:r>
            <a:r>
              <a:rPr sz="1500" spc="10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operates by capturing a</a:t>
            </a:r>
            <a:r>
              <a:rPr sz="1500" spc="10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sequence of user inputs. Th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includes: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4878" y="3783143"/>
            <a:ext cx="559876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E40AF"/>
                </a:solidFill>
                <a:latin typeface="DejaVu Sans"/>
                <a:cs typeface="DejaVu Sans"/>
              </a:rPr>
              <a:t>Clicks:</a:t>
            </a: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Registering</a:t>
            </a:r>
            <a:r>
              <a:rPr sz="1500" spc="11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mouse clicks on speciﬁc UI elements.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4878" y="4164143"/>
            <a:ext cx="6173018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E40AF"/>
                </a:solidFill>
                <a:latin typeface="DejaVu Sans"/>
                <a:cs typeface="DejaVu Sans"/>
              </a:rPr>
              <a:t>Keystrokes:</a:t>
            </a: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Recording</a:t>
            </a:r>
            <a:r>
              <a:rPr sz="1500" spc="15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all keyboard</a:t>
            </a:r>
            <a:r>
              <a:rPr sz="1500" spc="15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inputs, including text</a:t>
            </a:r>
            <a:r>
              <a:rPr sz="1500" spc="10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entr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972121" y="4468943"/>
            <a:ext cx="153157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and shortcuts.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94878" y="4849943"/>
            <a:ext cx="600721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E40AF"/>
                </a:solidFill>
                <a:latin typeface="DejaVu Sans"/>
                <a:cs typeface="DejaVu Sans"/>
              </a:rPr>
              <a:t>Navigation:</a:t>
            </a: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Documenting movements between screens and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46076" y="5145218"/>
            <a:ext cx="79307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pages.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80999" y="5609680"/>
            <a:ext cx="134167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16A34A"/>
                </a:solidFill>
                <a:latin typeface="DejaVu Sans"/>
                <a:cs typeface="DejaVu Sans"/>
              </a:rPr>
              <a:t>Beneﬁts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546031" y="5861102"/>
            <a:ext cx="113624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Automation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124056" y="5861102"/>
            <a:ext cx="143407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FFFFFF"/>
                </a:solidFill>
                <a:latin typeface="DejaVu Sans"/>
                <a:cs typeface="DejaVu Sans"/>
              </a:rPr>
              <a:t>Reproducibility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772327" y="5861102"/>
            <a:ext cx="822369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34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Process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Capture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94878" y="6040568"/>
            <a:ext cx="551908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E40AF"/>
                </a:solidFill>
                <a:latin typeface="DejaVu Sans"/>
                <a:cs typeface="DejaVu Sans"/>
              </a:rPr>
              <a:t>Eﬃciency:</a:t>
            </a: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Automates repetitive tasks, saving time and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475784" y="6194477"/>
            <a:ext cx="1103248" cy="640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495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Automate</a:t>
            </a:r>
          </a:p>
          <a:p>
            <a:pPr marL="116978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repetitive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digital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tasks.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134176" y="6194477"/>
            <a:ext cx="942391" cy="859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577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5" dirty="0">
                <a:solidFill>
                  <a:srgbClr val="374151"/>
                </a:solidFill>
                <a:latin typeface="DejaVu Sans"/>
                <a:cs typeface="DejaVu Sans"/>
              </a:rPr>
              <a:t>Replay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actions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for</a:t>
            </a:r>
          </a:p>
          <a:p>
            <a:pPr marL="54322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testing 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&amp;</a:t>
            </a:r>
          </a:p>
          <a:p>
            <a:pPr marL="120699" marR="0">
              <a:lnSpc>
                <a:spcPts val="1368"/>
              </a:lnSpc>
              <a:spcBef>
                <a:spcPts val="356"/>
              </a:spcBef>
              <a:spcAft>
                <a:spcPts val="0"/>
              </a:spcAft>
            </a:pP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demos.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802457" y="6345368"/>
            <a:ext cx="2415398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reducing</a:t>
            </a:r>
            <a:r>
              <a:rPr sz="1500" spc="10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manual eﬀort.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0702527" y="6413552"/>
            <a:ext cx="983535" cy="640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8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Document</a:t>
            </a:r>
          </a:p>
          <a:p>
            <a:pPr marL="31402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workﬂows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27" dirty="0">
                <a:solidFill>
                  <a:srgbClr val="374151"/>
                </a:solidFill>
                <a:latin typeface="DejaVu Sans"/>
                <a:cs typeface="DejaVu Sans"/>
              </a:rPr>
              <a:t>accurately.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94878" y="6726368"/>
            <a:ext cx="5944104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E40AF"/>
                </a:solidFill>
                <a:latin typeface="DejaVu Sans"/>
                <a:cs typeface="DejaVu Sans"/>
              </a:rPr>
              <a:t>Consistency:</a:t>
            </a: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Ensures tasks </a:t>
            </a:r>
            <a:r>
              <a:rPr sz="1500" spc="-10" dirty="0">
                <a:solidFill>
                  <a:srgbClr val="1E40AF"/>
                </a:solidFill>
                <a:latin typeface="DejaVu Sans"/>
                <a:cs typeface="DejaVu Sans"/>
              </a:rPr>
              <a:t>are</a:t>
            </a:r>
            <a:r>
              <a:rPr sz="1500" spc="21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performed identically every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073175" y="7021643"/>
            <a:ext cx="3061573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time, minimizing human </a:t>
            </a:r>
            <a:r>
              <a:rPr sz="1500" spc="-28" dirty="0">
                <a:solidFill>
                  <a:srgbClr val="1E40AF"/>
                </a:solidFill>
                <a:latin typeface="DejaVu Sans"/>
                <a:cs typeface="DejaVu Sans"/>
              </a:rPr>
              <a:t>error.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94878" y="7412168"/>
            <a:ext cx="6091728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E40AF"/>
                </a:solidFill>
                <a:latin typeface="DejaVu Sans"/>
                <a:cs typeface="DejaVu Sans"/>
              </a:rPr>
              <a:t>Documentation:</a:t>
            </a: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Creates an accurate record</a:t>
            </a:r>
            <a:r>
              <a:rPr sz="1500" spc="17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of workﬂows for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427981" y="7707443"/>
            <a:ext cx="2217784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1E40AF"/>
                </a:solidFill>
                <a:latin typeface="DejaVu Sans"/>
                <a:cs typeface="DejaVu Sans"/>
              </a:rPr>
              <a:t>training and analysis.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817691" y="8100231"/>
            <a:ext cx="635609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Source: User interface interaction recorder within </a:t>
            </a:r>
            <a:r>
              <a:rPr sz="1000" spc="-27" dirty="0">
                <a:solidFill>
                  <a:srgbClr val="9CA3AF"/>
                </a:solidFill>
                <a:latin typeface="DejaVu Sans"/>
                <a:cs typeface="DejaVu Sans"/>
              </a:rPr>
              <a:t>RPA</a:t>
            </a:r>
            <a:r>
              <a:rPr sz="1000" spc="34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-research scope; UiPath</a:t>
            </a:r>
            <a:r>
              <a:rPr sz="1000" spc="11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Studio User Guide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56022" y="357892"/>
            <a:ext cx="8832213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2" dirty="0">
                <a:solidFill>
                  <a:srgbClr val="1E3A8A"/>
                </a:solidFill>
                <a:latin typeface="DejaVu Sans"/>
                <a:cs typeface="DejaVu Sans"/>
              </a:rPr>
              <a:t>Practical</a:t>
            </a:r>
            <a:r>
              <a:rPr sz="30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1E3A8A"/>
                </a:solidFill>
                <a:latin typeface="DejaVu Sans"/>
                <a:cs typeface="DejaVu Sans"/>
              </a:rPr>
              <a:t>Applications</a:t>
            </a:r>
            <a:r>
              <a:rPr sz="30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E3A8A"/>
                </a:solidFill>
                <a:latin typeface="DejaVu Sans"/>
                <a:cs typeface="DejaVu Sans"/>
              </a:rPr>
              <a:t>of</a:t>
            </a:r>
            <a:r>
              <a:rPr sz="30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-86" dirty="0">
                <a:solidFill>
                  <a:srgbClr val="1E3A8A"/>
                </a:solidFill>
                <a:latin typeface="DejaVu Sans"/>
                <a:cs typeface="DejaVu Sans"/>
              </a:rPr>
              <a:t>Task</a:t>
            </a:r>
            <a:r>
              <a:rPr sz="3000" b="1" spc="110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E3A8A"/>
                </a:solidFill>
                <a:latin typeface="DejaVu Sans"/>
                <a:cs typeface="DejaVu Sans"/>
              </a:rPr>
              <a:t>Recorders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8649" y="1316429"/>
            <a:ext cx="2872280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33" dirty="0">
                <a:solidFill>
                  <a:srgbClr val="1E3A8A"/>
                </a:solidFill>
                <a:latin typeface="DejaVu Sans"/>
                <a:cs typeface="DejaVu Sans"/>
              </a:rPr>
              <a:t>Training</a:t>
            </a:r>
            <a:r>
              <a:rPr sz="1700" b="1" spc="10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700" b="1" dirty="0">
                <a:solidFill>
                  <a:srgbClr val="1E3A8A"/>
                </a:solidFill>
                <a:latin typeface="DejaVu Sans"/>
                <a:cs typeface="DejaVu Sans"/>
              </a:rPr>
              <a:t>&amp;</a:t>
            </a:r>
            <a:r>
              <a:rPr sz="1700" b="1" spc="-25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1E3A8A"/>
                </a:solidFill>
                <a:latin typeface="DejaVu Sans"/>
                <a:cs typeface="DejaVu Sans"/>
              </a:rPr>
              <a:t>Onboarding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89205" y="1316429"/>
            <a:ext cx="2124000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25" dirty="0">
                <a:solidFill>
                  <a:srgbClr val="1E3A8A"/>
                </a:solidFill>
                <a:latin typeface="DejaVu Sans"/>
                <a:cs typeface="DejaVu Sans"/>
              </a:rPr>
              <a:t>Troubleshooting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9656" y="1756843"/>
            <a:ext cx="2867940" cy="1069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Create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step-by-step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guides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new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employees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users.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58" dirty="0">
                <a:solidFill>
                  <a:srgbClr val="374151"/>
                </a:solidFill>
                <a:latin typeface="DejaVu Sans"/>
                <a:cs typeface="DejaVu Sans"/>
              </a:rPr>
              <a:t>Task</a:t>
            </a:r>
            <a:r>
              <a:rPr sz="1200" spc="37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recordings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provide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visual,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interactive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tutorials,</a:t>
            </a:r>
          </a:p>
          <a:p>
            <a:pPr marL="0" marR="0">
              <a:lnSpc>
                <a:spcPts val="1368"/>
              </a:lnSpc>
              <a:spcBef>
                <a:spcPts val="356"/>
              </a:spcBef>
              <a:spcAft>
                <a:spcPts val="0"/>
              </a:spcAft>
            </a:pP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reducing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training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time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ensuring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28" dirty="0">
                <a:solidFill>
                  <a:srgbClr val="374151"/>
                </a:solidFill>
                <a:latin typeface="DejaVu Sans"/>
                <a:cs typeface="DejaVu Sans"/>
              </a:rPr>
              <a:t>consistency.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80213" y="1756843"/>
            <a:ext cx="3182384" cy="859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Document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issues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by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recording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374151"/>
                </a:solidFill>
                <a:latin typeface="DejaVu Sans"/>
                <a:cs typeface="DejaVu Sans"/>
              </a:rPr>
              <a:t>exact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steps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that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lead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to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43" dirty="0">
                <a:solidFill>
                  <a:srgbClr val="374151"/>
                </a:solidFill>
                <a:latin typeface="DejaVu Sans"/>
                <a:cs typeface="DejaVu Sans"/>
              </a:rPr>
              <a:t>error.</a:t>
            </a:r>
            <a:r>
              <a:rPr sz="1200" spc="27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This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provides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clear,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reproducible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evidence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support</a:t>
            </a:r>
          </a:p>
          <a:p>
            <a:pPr marL="0" marR="0">
              <a:lnSpc>
                <a:spcPts val="1368"/>
              </a:lnSpc>
              <a:spcBef>
                <a:spcPts val="356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teams,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accelerating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problem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diagnosis.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96581" y="2231583"/>
            <a:ext cx="2751100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E3A8A"/>
                </a:solidFill>
                <a:latin typeface="DejaVu Sans"/>
                <a:cs typeface="DejaVu Sans"/>
              </a:rPr>
              <a:t>Recorded </a:t>
            </a:r>
            <a:r>
              <a:rPr sz="1500" b="1" spc="-43" dirty="0">
                <a:solidFill>
                  <a:srgbClr val="1E3A8A"/>
                </a:solidFill>
                <a:latin typeface="DejaVu Sans"/>
                <a:cs typeface="DejaVu Sans"/>
              </a:rPr>
              <a:t>Task</a:t>
            </a:r>
            <a:r>
              <a:rPr sz="1500" b="1" spc="55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1E3A8A"/>
                </a:solidFill>
                <a:latin typeface="DejaVu Sans"/>
                <a:cs typeface="DejaVu Sans"/>
              </a:rPr>
              <a:t>Playback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4935" y="3262547"/>
            <a:ext cx="187862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A34A"/>
                </a:solidFill>
                <a:latin typeface="DejaVu Sans"/>
                <a:cs typeface="DejaVu Sans"/>
              </a:rPr>
              <a:t>KNOWLEDGE TRANSFER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465491" y="3262547"/>
            <a:ext cx="114191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DC2626"/>
                </a:solidFill>
                <a:latin typeface="DejaVu Sans"/>
                <a:cs typeface="DejaVu Sans"/>
              </a:rPr>
              <a:t>DIAGNOSTICS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889205" y="4088204"/>
            <a:ext cx="1085745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1E3A8A"/>
                </a:solidFill>
                <a:latin typeface="DejaVu Sans"/>
                <a:cs typeface="DejaVu Sans"/>
              </a:rPr>
              <a:t>Process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98649" y="4154879"/>
            <a:ext cx="2425743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1E3A8A"/>
                </a:solidFill>
                <a:latin typeface="DejaVu Sans"/>
                <a:cs typeface="DejaVu Sans"/>
              </a:rPr>
              <a:t>Automated</a:t>
            </a:r>
            <a:r>
              <a:rPr sz="17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700" b="1" spc="-41" dirty="0">
                <a:solidFill>
                  <a:srgbClr val="1E3A8A"/>
                </a:solidFill>
                <a:latin typeface="DejaVu Sans"/>
                <a:cs typeface="DejaVu Sans"/>
              </a:rPr>
              <a:t>Testing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889205" y="4393004"/>
            <a:ext cx="199294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1E3A8A"/>
                </a:solidFill>
                <a:latin typeface="DejaVu Sans"/>
                <a:cs typeface="DejaVu Sans"/>
              </a:rPr>
              <a:t>Documentation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89656" y="4595293"/>
            <a:ext cx="3201253" cy="850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Replicate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user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scenarios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automated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testing.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374151"/>
                </a:solidFill>
                <a:latin typeface="DejaVu Sans"/>
                <a:cs typeface="DejaVu Sans"/>
              </a:rPr>
              <a:t>Recorded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tasks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can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be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used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to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build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test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scripts,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ensuring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374151"/>
                </a:solidFill>
                <a:latin typeface="DejaVu Sans"/>
                <a:cs typeface="DejaVu Sans"/>
              </a:rPr>
              <a:t>software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functionality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identifying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regressions.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380213" y="4766743"/>
            <a:ext cx="3269493" cy="850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Standardize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workﬂows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by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capturing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documenting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best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practices.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This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ensures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adherence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 established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374151"/>
                </a:solidFill>
                <a:latin typeface="DejaVu Sans"/>
                <a:cs typeface="DejaVu Sans"/>
              </a:rPr>
              <a:t>procedures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facilitates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knowledge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374151"/>
                </a:solidFill>
                <a:latin typeface="DejaVu Sans"/>
                <a:cs typeface="DejaVu Sans"/>
              </a:rPr>
              <a:t>transfer.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463206" y="4996097"/>
            <a:ext cx="3417711" cy="358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4B5563"/>
                </a:solidFill>
                <a:latin typeface="DejaVu Sans"/>
                <a:cs typeface="DejaVu Sans"/>
              </a:rPr>
              <a:t>A visual example of a recorded user session, ready</a:t>
            </a:r>
          </a:p>
          <a:p>
            <a:pPr marL="79623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sz="1000" dirty="0">
                <a:solidFill>
                  <a:srgbClr val="4B5563"/>
                </a:solidFill>
                <a:latin typeface="DejaVu Sans"/>
                <a:cs typeface="DejaVu Sans"/>
              </a:rPr>
              <a:t>for playback and analysis.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74935" y="6100997"/>
            <a:ext cx="98519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563EB"/>
                </a:solidFill>
                <a:latin typeface="DejaVu Sans"/>
                <a:cs typeface="DejaVu Sans"/>
              </a:rPr>
              <a:t>EFFICIENCY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465491" y="6100997"/>
            <a:ext cx="153876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9333EA"/>
                </a:solidFill>
                <a:latin typeface="DejaVu Sans"/>
                <a:cs typeface="DejaVu Sans"/>
              </a:rPr>
              <a:t>STANDARDIZATION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698033" y="6605822"/>
            <a:ext cx="647570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Source: User interface interaction recorder within </a:t>
            </a:r>
            <a:r>
              <a:rPr sz="1000" spc="-27" dirty="0">
                <a:solidFill>
                  <a:srgbClr val="6B7280"/>
                </a:solidFill>
                <a:latin typeface="DejaVu Sans"/>
                <a:cs typeface="DejaVu Sans"/>
              </a:rPr>
              <a:t>RPA</a:t>
            </a:r>
            <a:r>
              <a:rPr sz="1000" spc="34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-research scope..., UiPath</a:t>
            </a:r>
            <a:r>
              <a:rPr sz="1000" spc="11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Studio User Guide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038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5906" y="346716"/>
            <a:ext cx="8997784" cy="913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1E3A8A"/>
                </a:solidFill>
                <a:latin typeface="DejaVu Sans"/>
                <a:cs typeface="DejaVu Sans"/>
              </a:rPr>
              <a:t>Advanced</a:t>
            </a:r>
            <a:r>
              <a:rPr sz="30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1E3A8A"/>
                </a:solidFill>
                <a:latin typeface="DejaVu Sans"/>
                <a:cs typeface="DejaVu Sans"/>
              </a:rPr>
              <a:t>UI</a:t>
            </a:r>
            <a:r>
              <a:rPr sz="30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1E3A8A"/>
                </a:solidFill>
                <a:latin typeface="DejaVu Sans"/>
                <a:cs typeface="DejaVu Sans"/>
              </a:rPr>
              <a:t>Interactions:</a:t>
            </a:r>
            <a:r>
              <a:rPr sz="30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E3A8A"/>
                </a:solidFill>
                <a:latin typeface="DejaVu Sans"/>
                <a:cs typeface="DejaVu Sans"/>
              </a:rPr>
              <a:t>Engaging</a:t>
            </a:r>
            <a:r>
              <a:rPr sz="3000" b="1" spc="10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1E3A8A"/>
                </a:solidFill>
                <a:latin typeface="DejaVu Sans"/>
                <a:cs typeface="DejaVu Sans"/>
              </a:rPr>
              <a:t>with</a:t>
            </a:r>
          </a:p>
          <a:p>
            <a:pPr marL="0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27" dirty="0">
                <a:solidFill>
                  <a:srgbClr val="1E3A8A"/>
                </a:solidFill>
                <a:latin typeface="DejaVu Sans"/>
                <a:cs typeface="DejaVu Sans"/>
              </a:rPr>
              <a:t>Technology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0549" y="1627594"/>
            <a:ext cx="371807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15803D"/>
                </a:solidFill>
                <a:latin typeface="DejaVu Sans"/>
                <a:cs typeface="DejaVu Sans"/>
              </a:rPr>
              <a:t>Beyond</a:t>
            </a:r>
            <a:r>
              <a:rPr sz="2000" b="1" dirty="0">
                <a:solidFill>
                  <a:srgbClr val="15803D"/>
                </a:solidFill>
                <a:latin typeface="DejaVu Sans"/>
                <a:cs typeface="DejaVu Sans"/>
              </a:rPr>
              <a:t> </a:t>
            </a:r>
            <a:r>
              <a:rPr sz="2000" b="1" spc="-11" dirty="0">
                <a:solidFill>
                  <a:srgbClr val="15803D"/>
                </a:solidFill>
                <a:latin typeface="DejaVu Sans"/>
                <a:cs typeface="DejaVu Sans"/>
              </a:rPr>
              <a:t>Traditional</a:t>
            </a:r>
            <a:r>
              <a:rPr sz="2000" b="1" spc="23" dirty="0">
                <a:solidFill>
                  <a:srgbClr val="15803D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5803D"/>
                </a:solidFill>
                <a:latin typeface="DejaVu Sans"/>
                <a:cs typeface="DejaVu Sans"/>
              </a:rPr>
              <a:t>Input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1556" y="2097337"/>
            <a:ext cx="6265533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Moving beyond the conventional mouse and </a:t>
            </a:r>
            <a:r>
              <a:rPr sz="1350" spc="-12" dirty="0">
                <a:solidFill>
                  <a:srgbClr val="1E3A8A"/>
                </a:solidFill>
                <a:latin typeface="DejaVu Sans"/>
                <a:cs typeface="DejaVu Sans"/>
              </a:rPr>
              <a:t>keyboard,</a:t>
            </a: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 advanced UI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interactions </a:t>
            </a:r>
            <a:r>
              <a:rPr sz="1350" spc="-12" dirty="0">
                <a:solidFill>
                  <a:srgbClr val="1E3A8A"/>
                </a:solidFill>
                <a:latin typeface="DejaVu Sans"/>
                <a:cs typeface="DejaVu Sans"/>
              </a:rPr>
              <a:t>explore</a:t>
            </a: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 new modalities for human-computer dialogue. This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includes: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6385" y="2954587"/>
            <a:ext cx="5825244" cy="741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-23" dirty="0">
                <a:solidFill>
                  <a:srgbClr val="1E3A8A"/>
                </a:solidFill>
                <a:latin typeface="DejaVu Sans"/>
                <a:cs typeface="DejaVu Sans"/>
              </a:rPr>
              <a:t>Touchless</a:t>
            </a:r>
            <a:r>
              <a:rPr sz="1350" b="1" spc="17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Interaction:</a:t>
            </a:r>
            <a:r>
              <a:rPr sz="1350" b="1" spc="-40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Utilizing gestures, gaze, and voice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commands for seamless control, especially in sterile or hands-free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environments.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46385" y="3764212"/>
            <a:ext cx="552661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Multimodal Interfaces:</a:t>
            </a:r>
            <a:r>
              <a:rPr sz="1350" b="1" spc="-4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Combining various input devices </a:t>
            </a:r>
            <a:r>
              <a:rPr sz="1350" spc="-18" dirty="0">
                <a:solidFill>
                  <a:srgbClr val="1E3A8A"/>
                </a:solidFill>
                <a:latin typeface="DejaVu Sans"/>
                <a:cs typeface="DejaVu Sans"/>
              </a:rPr>
              <a:t>like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46385" y="4021387"/>
            <a:ext cx="532527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cameras and sensors with AI to interpret complex user data.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38224" y="4253729"/>
            <a:ext cx="139021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6534"/>
                </a:solidFill>
                <a:latin typeface="DejaVu Sans"/>
                <a:cs typeface="DejaVu Sans"/>
              </a:rPr>
              <a:t>Multimodal Input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46385" y="4488112"/>
            <a:ext cx="604834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-11" dirty="0">
                <a:solidFill>
                  <a:srgbClr val="1E3A8A"/>
                </a:solidFill>
                <a:latin typeface="DejaVu Sans"/>
                <a:cs typeface="DejaVu Sans"/>
              </a:rPr>
              <a:t>Wearable</a:t>
            </a: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 Devices:</a:t>
            </a:r>
            <a:r>
              <a:rPr sz="1350" b="1" spc="-40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Integrating technology directly into accessories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46385" y="4745287"/>
            <a:ext cx="353726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for continuous and intuitive interaction.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60549" y="5551894"/>
            <a:ext cx="4082067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15803D"/>
                </a:solidFill>
                <a:latin typeface="DejaVu Sans"/>
                <a:cs typeface="DejaVu Sans"/>
              </a:rPr>
              <a:t>Enhancing</a:t>
            </a:r>
            <a:r>
              <a:rPr sz="2000" b="1" dirty="0">
                <a:solidFill>
                  <a:srgbClr val="15803D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5803D"/>
                </a:solidFill>
                <a:latin typeface="DejaVu Sans"/>
                <a:cs typeface="DejaVu Sans"/>
              </a:rPr>
              <a:t>User</a:t>
            </a:r>
            <a:r>
              <a:rPr sz="2000" b="1" dirty="0">
                <a:solidFill>
                  <a:srgbClr val="15803D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5803D"/>
                </a:solidFill>
                <a:latin typeface="DejaVu Sans"/>
                <a:cs typeface="DejaVu Sans"/>
              </a:rPr>
              <a:t>Experience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1556" y="6021637"/>
            <a:ext cx="5428219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The goal is to </a:t>
            </a:r>
            <a:r>
              <a:rPr sz="1350" spc="-10" dirty="0">
                <a:solidFill>
                  <a:srgbClr val="1E3A8A"/>
                </a:solidFill>
                <a:latin typeface="DejaVu Sans"/>
                <a:cs typeface="DejaVu Sans"/>
              </a:rPr>
              <a:t>create</a:t>
            </a: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350" spc="-15" dirty="0">
                <a:solidFill>
                  <a:srgbClr val="1E3A8A"/>
                </a:solidFill>
                <a:latin typeface="DejaVu Sans"/>
                <a:cs typeface="DejaVu Sans"/>
              </a:rPr>
              <a:t>more</a:t>
            </a: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 intuitive, pleasurable, and eﬃcient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interactions. </a:t>
            </a:r>
            <a:r>
              <a:rPr sz="1350" spc="-37" dirty="0">
                <a:solidFill>
                  <a:srgbClr val="1E3A8A"/>
                </a:solidFill>
                <a:latin typeface="DejaVu Sans"/>
                <a:cs typeface="DejaVu Sans"/>
              </a:rPr>
              <a:t>Key</a:t>
            </a:r>
            <a:r>
              <a:rPr sz="1350" spc="3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aspects include: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46385" y="6621712"/>
            <a:ext cx="589293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Natural Interaction:</a:t>
            </a:r>
            <a:r>
              <a:rPr sz="1350" b="1" spc="-40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Mimicking human-to-human communication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46385" y="6878887"/>
            <a:ext cx="233478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for </a:t>
            </a:r>
            <a:r>
              <a:rPr sz="1350" spc="-15" dirty="0">
                <a:solidFill>
                  <a:srgbClr val="1E3A8A"/>
                </a:solidFill>
                <a:latin typeface="DejaVu Sans"/>
                <a:cs typeface="DejaVu Sans"/>
              </a:rPr>
              <a:t>more</a:t>
            </a: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 intuitive control.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274813" y="6920728"/>
            <a:ext cx="133627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E40AF"/>
                </a:solidFill>
                <a:latin typeface="DejaVu Sans"/>
                <a:cs typeface="DejaVu Sans"/>
              </a:rPr>
              <a:t>Intuitive Control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46385" y="7174162"/>
            <a:ext cx="558758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Perceptual-Motor Interaction:</a:t>
            </a:r>
            <a:r>
              <a:rPr sz="1350" b="1" spc="-4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Linking user perceptions with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46385" y="7431337"/>
            <a:ext cx="367117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physical actions for immediate feedback.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611290" y="7473178"/>
            <a:ext cx="182375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B21A8"/>
                </a:solidFill>
                <a:latin typeface="DejaVu Sans"/>
                <a:cs typeface="DejaVu Sans"/>
              </a:rPr>
              <a:t>Immersive Experiences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46385" y="7726612"/>
            <a:ext cx="607551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User-Centered Design:</a:t>
            </a:r>
            <a:r>
              <a:rPr sz="1350" b="1" spc="-40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350" spc="-28" dirty="0">
                <a:solidFill>
                  <a:srgbClr val="1E3A8A"/>
                </a:solidFill>
                <a:latin typeface="DejaVu Sans"/>
                <a:cs typeface="DejaVu Sans"/>
              </a:rPr>
              <a:t>Tailoring</a:t>
            </a:r>
            <a:r>
              <a:rPr sz="1350" spc="20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technology to speciﬁc user needs,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46385" y="7983787"/>
            <a:ext cx="339352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ensuring ease of use and satisfaction.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960834" y="8753803"/>
            <a:ext cx="570531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15803D"/>
                </a:solidFill>
                <a:latin typeface="DejaVu Sans"/>
                <a:cs typeface="DejaVu Sans"/>
              </a:rPr>
              <a:t>The</a:t>
            </a:r>
            <a:r>
              <a:rPr sz="1700" b="1" dirty="0">
                <a:solidFill>
                  <a:srgbClr val="15803D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15803D"/>
                </a:solidFill>
                <a:latin typeface="DejaVu Sans"/>
                <a:cs typeface="DejaVu Sans"/>
              </a:rPr>
              <a:t>Evolution</a:t>
            </a:r>
            <a:r>
              <a:rPr sz="1700" b="1" spc="-10" dirty="0">
                <a:solidFill>
                  <a:srgbClr val="15803D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15803D"/>
                </a:solidFill>
                <a:latin typeface="DejaVu Sans"/>
                <a:cs typeface="DejaVu Sans"/>
              </a:rPr>
              <a:t>of</a:t>
            </a:r>
            <a:r>
              <a:rPr sz="1700" b="1" dirty="0">
                <a:solidFill>
                  <a:srgbClr val="15803D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15803D"/>
                </a:solidFill>
                <a:latin typeface="DejaVu Sans"/>
                <a:cs typeface="DejaVu Sans"/>
              </a:rPr>
              <a:t>Human-Computer</a:t>
            </a:r>
            <a:r>
              <a:rPr sz="1700" b="1" dirty="0">
                <a:solidFill>
                  <a:srgbClr val="15803D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15803D"/>
                </a:solidFill>
                <a:latin typeface="DejaVu Sans"/>
                <a:cs typeface="DejaVu Sans"/>
              </a:rPr>
              <a:t>Interaction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08992" y="9136312"/>
            <a:ext cx="10968606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HCI has evolved </a:t>
            </a:r>
            <a:r>
              <a:rPr sz="1350" spc="-12" dirty="0">
                <a:solidFill>
                  <a:srgbClr val="1E3A8A"/>
                </a:solidFill>
                <a:latin typeface="DejaVu Sans"/>
                <a:cs typeface="DejaVu Sans"/>
              </a:rPr>
              <a:t>from</a:t>
            </a: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 command-line interfaces to graphical user interfaces, and now towards </a:t>
            </a:r>
            <a:r>
              <a:rPr sz="1350" spc="-15" dirty="0">
                <a:solidFill>
                  <a:srgbClr val="1E3A8A"/>
                </a:solidFill>
                <a:latin typeface="DejaVu Sans"/>
                <a:cs typeface="DejaVu Sans"/>
              </a:rPr>
              <a:t>more</a:t>
            </a: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 sophisticated, natural, and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immersive interactions. The future promises seamless communication between human cognition and technology, making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E3A8A"/>
                </a:solidFill>
                <a:latin typeface="DejaVu Sans"/>
                <a:cs typeface="DejaVu Sans"/>
              </a:rPr>
              <a:t>interaction almost invisible.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0" y="9966496"/>
            <a:ext cx="11541388" cy="358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Source: Human-Computer Interaction | EBSCO Research</a:t>
            </a:r>
            <a:r>
              <a:rPr sz="1000" spc="12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Starters, Input Devices and Interaction </a:t>
            </a:r>
            <a:r>
              <a:rPr sz="1000" spc="-12" dirty="0">
                <a:solidFill>
                  <a:srgbClr val="9CA3AF"/>
                </a:solidFill>
                <a:latin typeface="DejaVu Sans"/>
                <a:cs typeface="DejaVu Sans"/>
              </a:rPr>
              <a:t>Techniques</a:t>
            </a:r>
            <a:r>
              <a:rPr sz="1000" spc="2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for Advanced Computing, </a:t>
            </a:r>
            <a:r>
              <a:rPr sz="1000" spc="-12" dirty="0">
                <a:solidFill>
                  <a:srgbClr val="9CA3AF"/>
                </a:solidFill>
                <a:latin typeface="DejaVu Sans"/>
                <a:cs typeface="DejaVu Sans"/>
              </a:rPr>
              <a:t>Touchless,</a:t>
            </a:r>
            <a:r>
              <a:rPr sz="1000" spc="18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Direct Input Methods for Human-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Computer Interaction to 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4386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5416" y="357385"/>
            <a:ext cx="10913352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1E3A8A"/>
                </a:solidFill>
                <a:latin typeface="DejaVu Sans"/>
                <a:cs typeface="DejaVu Sans"/>
              </a:rPr>
              <a:t>Input</a:t>
            </a:r>
            <a:r>
              <a:rPr sz="30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E3A8A"/>
                </a:solidFill>
                <a:latin typeface="DejaVu Sans"/>
                <a:cs typeface="DejaVu Sans"/>
              </a:rPr>
              <a:t>Methods:</a:t>
            </a:r>
            <a:r>
              <a:rPr sz="30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1E3A8A"/>
                </a:solidFill>
                <a:latin typeface="DejaVu Sans"/>
                <a:cs typeface="DejaVu Sans"/>
              </a:rPr>
              <a:t>New</a:t>
            </a:r>
            <a:r>
              <a:rPr sz="3000" b="1" spc="1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-47" dirty="0">
                <a:solidFill>
                  <a:srgbClr val="1E3A8A"/>
                </a:solidFill>
                <a:latin typeface="DejaVu Sans"/>
                <a:cs typeface="DejaVu Sans"/>
              </a:rPr>
              <a:t>Ways</a:t>
            </a:r>
            <a:r>
              <a:rPr sz="3000" b="1" spc="69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0" dirty="0">
                <a:solidFill>
                  <a:srgbClr val="1E3A8A"/>
                </a:solidFill>
                <a:latin typeface="DejaVu Sans"/>
                <a:cs typeface="DejaVu Sans"/>
              </a:rPr>
              <a:t>to</a:t>
            </a:r>
            <a:r>
              <a:rPr sz="3000" b="1" spc="12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1E3A8A"/>
                </a:solidFill>
                <a:latin typeface="DejaVu Sans"/>
                <a:cs typeface="DejaVu Sans"/>
              </a:rPr>
              <a:t>Command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75261" y="2068396"/>
            <a:ext cx="2303599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34" dirty="0">
                <a:solidFill>
                  <a:srgbClr val="059669"/>
                </a:solidFill>
                <a:latin typeface="DejaVu Sans"/>
                <a:cs typeface="DejaVu Sans"/>
              </a:rPr>
              <a:t>Voice</a:t>
            </a:r>
            <a:r>
              <a:rPr sz="1700" b="1" spc="14" dirty="0">
                <a:solidFill>
                  <a:srgbClr val="059669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59669"/>
                </a:solidFill>
                <a:latin typeface="DejaVu Sans"/>
                <a:cs typeface="DejaVu Sans"/>
              </a:rPr>
              <a:t>Recognition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56400" y="2068396"/>
            <a:ext cx="1673049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059669"/>
                </a:solidFill>
                <a:latin typeface="DejaVu Sans"/>
                <a:cs typeface="DejaVu Sans"/>
              </a:rPr>
              <a:t>Eye</a:t>
            </a:r>
            <a:r>
              <a:rPr sz="1700" b="1" dirty="0">
                <a:solidFill>
                  <a:srgbClr val="059669"/>
                </a:solidFill>
                <a:latin typeface="DejaVu Sans"/>
                <a:cs typeface="DejaVu Sans"/>
              </a:rPr>
              <a:t> </a:t>
            </a:r>
            <a:r>
              <a:rPr sz="1700" b="1" spc="-34" dirty="0">
                <a:solidFill>
                  <a:srgbClr val="059669"/>
                </a:solidFill>
                <a:latin typeface="DejaVu Sans"/>
                <a:cs typeface="DejaVu Sans"/>
              </a:rPr>
              <a:t>Tracking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75261" y="2442135"/>
            <a:ext cx="3319841" cy="1069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1E293B"/>
                </a:solidFill>
                <a:latin typeface="DejaVu Sans"/>
                <a:cs typeface="DejaVu Sans"/>
              </a:rPr>
              <a:t>Enables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1E293B"/>
                </a:solidFill>
                <a:latin typeface="DejaVu Sans"/>
                <a:cs typeface="DejaVu Sans"/>
              </a:rPr>
              <a:t>control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1E293B"/>
                </a:solidFill>
                <a:latin typeface="DejaVu Sans"/>
                <a:cs typeface="DejaVu Sans"/>
              </a:rPr>
              <a:t>through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1E293B"/>
                </a:solidFill>
                <a:latin typeface="DejaVu Sans"/>
                <a:cs typeface="DejaVu Sans"/>
              </a:rPr>
              <a:t>spoken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7" dirty="0">
                <a:solidFill>
                  <a:srgbClr val="1E293B"/>
                </a:solidFill>
                <a:latin typeface="DejaVu Sans"/>
                <a:cs typeface="DejaVu Sans"/>
              </a:rPr>
              <a:t>commands.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1E293B"/>
                </a:solidFill>
                <a:latin typeface="DejaVu Sans"/>
                <a:cs typeface="DejaVu Sans"/>
              </a:rPr>
              <a:t>Popular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1E293B"/>
                </a:solidFill>
                <a:latin typeface="DejaVu Sans"/>
                <a:cs typeface="DejaVu Sans"/>
              </a:rPr>
              <a:t>examples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include</a:t>
            </a:r>
            <a:r>
              <a:rPr sz="1200" spc="-10" dirty="0">
                <a:solidFill>
                  <a:srgbClr val="1E293B"/>
                </a:solidFill>
                <a:latin typeface="DejaVu Sans"/>
                <a:cs typeface="DejaVu Sans"/>
              </a:rPr>
              <a:t> Siri,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8" dirty="0">
                <a:solidFill>
                  <a:srgbClr val="1E293B"/>
                </a:solidFill>
                <a:latin typeface="DejaVu Sans"/>
                <a:cs typeface="DejaVu Sans"/>
              </a:rPr>
              <a:t>Alexa,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E293B"/>
                </a:solidFill>
                <a:latin typeface="DejaVu Sans"/>
                <a:cs typeface="DejaVu Sans"/>
              </a:rPr>
              <a:t>Google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Assistant,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allowing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hands-free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interaction with</a:t>
            </a:r>
            <a:r>
              <a:rPr sz="1200" spc="-1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devices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services.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56400" y="2442135"/>
            <a:ext cx="3189747" cy="1069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Allows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users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1E293B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1E293B"/>
                </a:solidFill>
                <a:latin typeface="DejaVu Sans"/>
                <a:cs typeface="DejaVu Sans"/>
              </a:rPr>
              <a:t>control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interfaces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navigate</a:t>
            </a:r>
            <a:r>
              <a:rPr sz="1200" spc="-1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E293B"/>
                </a:solidFill>
                <a:latin typeface="DejaVu Sans"/>
                <a:cs typeface="DejaVu Sans"/>
              </a:rPr>
              <a:t>content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simply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by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moving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their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gaze.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This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method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E293B"/>
                </a:solidFill>
                <a:latin typeface="DejaVu Sans"/>
                <a:cs typeface="DejaVu Sans"/>
              </a:rPr>
              <a:t>oﬀers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precise,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E293B"/>
                </a:solidFill>
                <a:latin typeface="DejaVu Sans"/>
                <a:cs typeface="DejaVu Sans"/>
              </a:rPr>
              <a:t>low-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4" dirty="0">
                <a:solidFill>
                  <a:srgbClr val="1E293B"/>
                </a:solidFill>
                <a:latin typeface="DejaVu Sans"/>
                <a:cs typeface="DejaVu Sans"/>
              </a:rPr>
              <a:t>eﬀort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interaction,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1E293B"/>
                </a:solidFill>
                <a:latin typeface="DejaVu Sans"/>
                <a:cs typeface="DejaVu Sans"/>
              </a:rPr>
              <a:t>particularly </a:t>
            </a:r>
            <a:r>
              <a:rPr sz="1200" spc="-14" dirty="0">
                <a:solidFill>
                  <a:srgbClr val="1E293B"/>
                </a:solidFill>
                <a:latin typeface="DejaVu Sans"/>
                <a:cs typeface="DejaVu Sans"/>
              </a:rPr>
              <a:t>useful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for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23" dirty="0">
                <a:solidFill>
                  <a:srgbClr val="1E293B"/>
                </a:solidFill>
                <a:latin typeface="DejaVu Sans"/>
                <a:cs typeface="DejaVu Sans"/>
              </a:rPr>
              <a:t>accessibility.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94270" y="2792296"/>
            <a:ext cx="2130930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56" dirty="0">
                <a:solidFill>
                  <a:srgbClr val="059669"/>
                </a:solidFill>
                <a:latin typeface="DejaVu Sans"/>
                <a:cs typeface="DejaVu Sans"/>
              </a:rPr>
              <a:t>Touch</a:t>
            </a:r>
            <a:r>
              <a:rPr sz="1700" b="1" spc="34" dirty="0">
                <a:solidFill>
                  <a:srgbClr val="059669"/>
                </a:solidFill>
                <a:latin typeface="DejaVu Sans"/>
                <a:cs typeface="DejaVu Sans"/>
              </a:rPr>
              <a:t> </a:t>
            </a:r>
            <a:r>
              <a:rPr sz="1700" b="1" dirty="0">
                <a:solidFill>
                  <a:srgbClr val="059669"/>
                </a:solidFill>
                <a:latin typeface="DejaVu Sans"/>
                <a:cs typeface="DejaVu Sans"/>
              </a:rPr>
              <a:t>&amp;</a:t>
            </a:r>
            <a:r>
              <a:rPr sz="1700" b="1" spc="-25" dirty="0">
                <a:solidFill>
                  <a:srgbClr val="059669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59669"/>
                </a:solidFill>
                <a:latin typeface="DejaVu Sans"/>
                <a:cs typeface="DejaVu Sans"/>
              </a:rPr>
              <a:t>Gesture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94270" y="3166035"/>
            <a:ext cx="3129046" cy="1069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1E293B"/>
                </a:solidFill>
                <a:latin typeface="DejaVu Sans"/>
                <a:cs typeface="DejaVu Sans"/>
              </a:rPr>
              <a:t>Utilizes </a:t>
            </a: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multi-touch</a:t>
            </a:r>
            <a:r>
              <a:rPr sz="1200" spc="-1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1E293B"/>
                </a:solidFill>
                <a:latin typeface="DejaVu Sans"/>
                <a:cs typeface="DejaVu Sans"/>
              </a:rPr>
              <a:t>screens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1E293B"/>
                </a:solidFill>
                <a:latin typeface="DejaVu Sans"/>
                <a:cs typeface="DejaVu Sans"/>
              </a:rPr>
              <a:t>intuitive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interactions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1E293B"/>
                </a:solidFill>
                <a:latin typeface="DejaVu Sans"/>
                <a:cs typeface="DejaVu Sans"/>
              </a:rPr>
              <a:t>like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swiping,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pinching,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tapping.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This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method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mimics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E293B"/>
                </a:solidFill>
                <a:latin typeface="DejaVu Sans"/>
                <a:cs typeface="DejaVu Sans"/>
              </a:rPr>
              <a:t>natural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8" dirty="0">
                <a:solidFill>
                  <a:srgbClr val="1E293B"/>
                </a:solidFill>
                <a:latin typeface="DejaVu Sans"/>
                <a:cs typeface="DejaVu Sans"/>
              </a:rPr>
              <a:t>human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hand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1E293B"/>
                </a:solidFill>
                <a:latin typeface="DejaVu Sans"/>
                <a:cs typeface="DejaVu Sans"/>
              </a:rPr>
              <a:t>movements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1E293B"/>
                </a:solidFill>
                <a:latin typeface="DejaVu Sans"/>
                <a:cs typeface="DejaVu Sans"/>
              </a:rPr>
              <a:t>direct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manipulation.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097113" y="4399979"/>
            <a:ext cx="76272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Intuitive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049392" y="4399979"/>
            <a:ext cx="69165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Natural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713391" y="4399979"/>
            <a:ext cx="90868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Accessible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94270" y="5992696"/>
            <a:ext cx="2147078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059669"/>
                </a:solidFill>
                <a:latin typeface="DejaVu Sans"/>
                <a:cs typeface="DejaVu Sans"/>
              </a:rPr>
              <a:t>Haptic</a:t>
            </a:r>
            <a:r>
              <a:rPr sz="1700" b="1" dirty="0">
                <a:solidFill>
                  <a:srgbClr val="059669"/>
                </a:solidFill>
                <a:latin typeface="DejaVu Sans"/>
                <a:cs typeface="DejaVu Sans"/>
              </a:rPr>
              <a:t> </a:t>
            </a:r>
            <a:r>
              <a:rPr sz="1700" b="1" spc="-23" dirty="0">
                <a:solidFill>
                  <a:srgbClr val="059669"/>
                </a:solidFill>
                <a:latin typeface="DejaVu Sans"/>
                <a:cs typeface="DejaVu Sans"/>
              </a:rPr>
              <a:t>Feedback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94270" y="6366435"/>
            <a:ext cx="3362850" cy="850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0" dirty="0">
                <a:solidFill>
                  <a:srgbClr val="1E293B"/>
                </a:solidFill>
                <a:latin typeface="DejaVu Sans"/>
                <a:cs typeface="DejaVu Sans"/>
              </a:rPr>
              <a:t>Provides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1E293B"/>
                </a:solidFill>
                <a:latin typeface="DejaVu Sans"/>
                <a:cs typeface="DejaVu Sans"/>
              </a:rPr>
              <a:t>tactile</a:t>
            </a: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 sensations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1E293B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 the</a:t>
            </a:r>
            <a:r>
              <a:rPr sz="1200" spc="-1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user,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4" dirty="0">
                <a:solidFill>
                  <a:srgbClr val="1E293B"/>
                </a:solidFill>
                <a:latin typeface="DejaVu Sans"/>
                <a:cs typeface="DejaVu Sans"/>
              </a:rPr>
              <a:t>enhancing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interaction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by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simulating</a:t>
            </a:r>
            <a:r>
              <a:rPr sz="1200" spc="-1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E293B"/>
                </a:solidFill>
                <a:latin typeface="DejaVu Sans"/>
                <a:cs typeface="DejaVu Sans"/>
              </a:rPr>
              <a:t>touch,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20" dirty="0">
                <a:solidFill>
                  <a:srgbClr val="1E293B"/>
                </a:solidFill>
                <a:latin typeface="DejaVu Sans"/>
                <a:cs typeface="DejaVu Sans"/>
              </a:rPr>
              <a:t>pressure,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vibration.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It</a:t>
            </a:r>
            <a:r>
              <a:rPr sz="1200" spc="-1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adds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a</a:t>
            </a:r>
            <a:r>
              <a:rPr sz="1200" spc="-23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physical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4" dirty="0">
                <a:solidFill>
                  <a:srgbClr val="1E293B"/>
                </a:solidFill>
                <a:latin typeface="DejaVu Sans"/>
                <a:cs typeface="DejaVu Sans"/>
              </a:rPr>
              <a:t>dimension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1E293B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digital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experiences.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475261" y="6716597"/>
            <a:ext cx="4018595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059669"/>
                </a:solidFill>
                <a:latin typeface="DejaVu Sans"/>
                <a:cs typeface="DejaVu Sans"/>
              </a:rPr>
              <a:t>Brain-Computer</a:t>
            </a:r>
            <a:r>
              <a:rPr sz="1700" b="1" dirty="0">
                <a:solidFill>
                  <a:srgbClr val="059669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59669"/>
                </a:solidFill>
                <a:latin typeface="DejaVu Sans"/>
                <a:cs typeface="DejaVu Sans"/>
              </a:rPr>
              <a:t>Interfaces</a:t>
            </a:r>
            <a:r>
              <a:rPr sz="1700" b="1" dirty="0">
                <a:solidFill>
                  <a:srgbClr val="059669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59669"/>
                </a:solidFill>
                <a:latin typeface="DejaVu Sans"/>
                <a:cs typeface="DejaVu Sans"/>
              </a:rPr>
              <a:t>(BCI)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475261" y="7090335"/>
            <a:ext cx="6969197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Directly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translates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E293B"/>
                </a:solidFill>
                <a:latin typeface="DejaVu Sans"/>
                <a:cs typeface="DejaVu Sans"/>
              </a:rPr>
              <a:t>neural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1E293B"/>
                </a:solidFill>
                <a:latin typeface="DejaVu Sans"/>
                <a:cs typeface="DejaVu Sans"/>
              </a:rPr>
              <a:t>activity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1E293B"/>
                </a:solidFill>
                <a:latin typeface="DejaVu Sans"/>
                <a:cs typeface="DejaVu Sans"/>
              </a:rPr>
              <a:t>into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1E293B"/>
                </a:solidFill>
                <a:latin typeface="DejaVu Sans"/>
                <a:cs typeface="DejaVu Sans"/>
              </a:rPr>
              <a:t>commands,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oﬀering</a:t>
            </a:r>
            <a:r>
              <a:rPr sz="1200" spc="-1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unprecedented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1E293B"/>
                </a:solidFill>
                <a:latin typeface="DejaVu Sans"/>
                <a:cs typeface="DejaVu Sans"/>
              </a:rPr>
              <a:t>control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for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individuals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with</a:t>
            </a:r>
            <a:r>
              <a:rPr sz="1200" spc="-1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limited mobility</a:t>
            </a:r>
            <a:r>
              <a:rPr sz="1200" spc="-1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E293B"/>
                </a:solidFill>
                <a:latin typeface="DejaVu Sans"/>
                <a:cs typeface="DejaVu Sans"/>
              </a:rPr>
              <a:t>opening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new</a:t>
            </a:r>
            <a:r>
              <a:rPr sz="1200" spc="-12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frontiers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in</a:t>
            </a:r>
            <a:r>
              <a:rPr sz="1200" spc="-17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293B"/>
                </a:solidFill>
                <a:latin typeface="DejaVu Sans"/>
                <a:cs typeface="DejaVu Sans"/>
              </a:rPr>
              <a:t>human-computer</a:t>
            </a:r>
            <a:r>
              <a:rPr sz="1200" dirty="0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E293B"/>
                </a:solidFill>
                <a:latin typeface="DejaVu Sans"/>
                <a:cs typeface="DejaVu Sans"/>
              </a:rPr>
              <a:t>interaction.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952749" y="7686104"/>
            <a:ext cx="90711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Immersive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781108" y="7686104"/>
            <a:ext cx="84748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Futuristic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517998" y="8234089"/>
            <a:ext cx="865576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Source: Human-Computer Interaction | EBSCO Research</a:t>
            </a:r>
            <a:r>
              <a:rPr sz="1000" spc="12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Starters, Input Devices and Interaction </a:t>
            </a:r>
            <a:r>
              <a:rPr sz="1000" spc="-12" dirty="0">
                <a:solidFill>
                  <a:srgbClr val="6B7280"/>
                </a:solidFill>
                <a:latin typeface="DejaVu Sans"/>
                <a:cs typeface="DejaVu Sans"/>
              </a:rPr>
              <a:t>Techniques</a:t>
            </a:r>
            <a:r>
              <a:rPr sz="1000" spc="20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for Advanced Computing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147765" y="37046"/>
            <a:ext cx="12191999" cy="131334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5906" y="394469"/>
            <a:ext cx="10663239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000" b="1" spc="15" dirty="0">
                <a:solidFill>
                  <a:srgbClr val="1E3A8A"/>
                </a:solidFill>
                <a:latin typeface="DejaVu Sans"/>
                <a:cs typeface="DejaVu Sans"/>
              </a:rPr>
              <a:t>O</a:t>
            </a:r>
            <a:r>
              <a:rPr sz="3000" b="1" spc="15" dirty="0" err="1">
                <a:solidFill>
                  <a:srgbClr val="1E3A8A"/>
                </a:solidFill>
                <a:latin typeface="DejaVu Sans"/>
                <a:cs typeface="DejaVu Sans"/>
              </a:rPr>
              <a:t>utput</a:t>
            </a:r>
            <a:r>
              <a:rPr sz="30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E3A8A"/>
                </a:solidFill>
                <a:latin typeface="DejaVu Sans"/>
                <a:cs typeface="DejaVu Sans"/>
              </a:rPr>
              <a:t>Methods:</a:t>
            </a:r>
            <a:r>
              <a:rPr sz="30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E3A8A"/>
                </a:solidFill>
                <a:latin typeface="DejaVu Sans"/>
                <a:cs typeface="DejaVu Sans"/>
              </a:rPr>
              <a:t>Immersive</a:t>
            </a:r>
            <a:r>
              <a:rPr sz="3000" b="1" dirty="0">
                <a:solidFill>
                  <a:srgbClr val="1E3A8A"/>
                </a:solidFill>
                <a:latin typeface="DejaVu Sans"/>
                <a:cs typeface="DejaVu Sans"/>
              </a:rPr>
              <a:t> Feedback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7835" y="3218396"/>
            <a:ext cx="363345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1E3A8A"/>
                </a:solidFill>
                <a:latin typeface="DejaVu Sans"/>
                <a:cs typeface="DejaVu Sans"/>
              </a:rPr>
              <a:t>Augmented</a:t>
            </a:r>
            <a:r>
              <a:rPr sz="2000" b="1" dirty="0">
                <a:solidFill>
                  <a:srgbClr val="1E3A8A"/>
                </a:solidFill>
                <a:latin typeface="DejaVu Sans"/>
                <a:cs typeface="DejaVu Sans"/>
              </a:rPr>
              <a:t> Reality </a:t>
            </a:r>
            <a:r>
              <a:rPr sz="2000" b="1" spc="10" dirty="0">
                <a:solidFill>
                  <a:srgbClr val="1E3A8A"/>
                </a:solidFill>
                <a:latin typeface="DejaVu Sans"/>
                <a:cs typeface="DejaVu Sans"/>
              </a:rPr>
              <a:t>(AR)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60826" y="3218396"/>
            <a:ext cx="294075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E3A8A"/>
                </a:solidFill>
                <a:latin typeface="DejaVu Sans"/>
                <a:cs typeface="DejaVu Sans"/>
              </a:rPr>
              <a:t>Virtual Reality </a:t>
            </a:r>
            <a:r>
              <a:rPr sz="2000" b="1" spc="10" dirty="0">
                <a:solidFill>
                  <a:srgbClr val="1E3A8A"/>
                </a:solidFill>
                <a:latin typeface="DejaVu Sans"/>
                <a:cs typeface="DejaVu Sans"/>
              </a:rPr>
              <a:t>(VR)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1556" y="3688139"/>
            <a:ext cx="4944393" cy="1008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AR overlays digital information onto the </a:t>
            </a:r>
            <a:r>
              <a:rPr sz="1350" spc="-14" dirty="0">
                <a:solidFill>
                  <a:srgbClr val="374151"/>
                </a:solidFill>
                <a:latin typeface="DejaVu Sans"/>
                <a:cs typeface="DejaVu Sans"/>
              </a:rPr>
              <a:t>real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world,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enhancing perception and interaction. It blends virtual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objects with physical environments, creating interactive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experiences.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94548" y="3688139"/>
            <a:ext cx="5078200" cy="1008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VR creates fully immersive simulated environments,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transporting users to digital worlds. It provides a sense of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presence and allows for deep engagement with virtual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content.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8117" y="4850944"/>
            <a:ext cx="103290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6B21A8"/>
                </a:solidFill>
                <a:latin typeface="DejaVu Sans"/>
                <a:cs typeface="DejaVu Sans"/>
              </a:rPr>
              <a:t>Immersive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01109" y="4850944"/>
            <a:ext cx="107119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2" dirty="0">
                <a:solidFill>
                  <a:srgbClr val="3730A3"/>
                </a:solidFill>
                <a:latin typeface="DejaVu Sans"/>
                <a:cs typeface="DejaVu Sans"/>
              </a:rPr>
              <a:t>Interactive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17835" y="7571321"/>
            <a:ext cx="183982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1E3A8A"/>
                </a:solidFill>
                <a:latin typeface="DejaVu Sans"/>
                <a:cs typeface="DejaVu Sans"/>
              </a:rPr>
              <a:t>3D</a:t>
            </a:r>
            <a:r>
              <a:rPr sz="2000" b="1" dirty="0">
                <a:solidFill>
                  <a:srgbClr val="1E3A8A"/>
                </a:solidFill>
                <a:latin typeface="DejaVu Sans"/>
                <a:cs typeface="DejaVu Sans"/>
              </a:rPr>
              <a:t> Displays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60826" y="7571321"/>
            <a:ext cx="182098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1E3A8A"/>
                </a:solidFill>
                <a:latin typeface="DejaVu Sans"/>
                <a:cs typeface="DejaVu Sans"/>
              </a:rPr>
              <a:t>Holography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51556" y="8041064"/>
            <a:ext cx="5384030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These displays provide stereoscopic visuals without the need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for special glasses, oﬀering depth perception and a </a:t>
            </a:r>
            <a:r>
              <a:rPr sz="1350" spc="-15" dirty="0">
                <a:solidFill>
                  <a:srgbClr val="374151"/>
                </a:solidFill>
                <a:latin typeface="DejaVu Sans"/>
                <a:cs typeface="DejaVu Sans"/>
              </a:rPr>
              <a:t>more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natural viewing experience for digital content.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94548" y="8041064"/>
            <a:ext cx="5284152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Holography projects true 3D images into space, allowing for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interaction with virtual objects that appear to exist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spc="-20" dirty="0">
                <a:solidFill>
                  <a:srgbClr val="374151"/>
                </a:solidFill>
                <a:latin typeface="DejaVu Sans"/>
                <a:cs typeface="DejaVu Sans"/>
              </a:rPr>
              <a:t>physically.</a:t>
            </a:r>
            <a:r>
              <a:rPr sz="1350" spc="15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It oﬀers unparalleled realism in visual output.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8117" y="9203869"/>
            <a:ext cx="87188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2" dirty="0">
                <a:solidFill>
                  <a:srgbClr val="115E59"/>
                </a:solidFill>
                <a:latin typeface="DejaVu Sans"/>
                <a:cs typeface="DejaVu Sans"/>
              </a:rPr>
              <a:t>Realistic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01109" y="9203869"/>
            <a:ext cx="193471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9D174D"/>
                </a:solidFill>
                <a:latin typeface="DejaVu Sans"/>
                <a:cs typeface="DejaVu Sans"/>
              </a:rPr>
              <a:t>Enhanced</a:t>
            </a:r>
            <a:r>
              <a:rPr sz="1200" b="1" dirty="0">
                <a:solidFill>
                  <a:srgbClr val="9D174D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9D174D"/>
                </a:solidFill>
                <a:latin typeface="DejaVu Sans"/>
                <a:cs typeface="DejaVu Sans"/>
              </a:rPr>
              <a:t>Perception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51556" y="10039805"/>
            <a:ext cx="436275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1E3A8A"/>
                </a:solidFill>
                <a:latin typeface="DejaVu Sans"/>
                <a:cs typeface="DejaVu Sans"/>
              </a:rPr>
              <a:t>The</a:t>
            </a:r>
            <a:r>
              <a:rPr sz="17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1E3A8A"/>
                </a:solidFill>
                <a:latin typeface="DejaVu Sans"/>
                <a:cs typeface="DejaVu Sans"/>
              </a:rPr>
              <a:t>Importance</a:t>
            </a:r>
            <a:r>
              <a:rPr sz="17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1E3A8A"/>
                </a:solidFill>
                <a:latin typeface="DejaVu Sans"/>
                <a:cs typeface="DejaVu Sans"/>
              </a:rPr>
              <a:t>of</a:t>
            </a:r>
            <a:r>
              <a:rPr sz="17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700" b="1" spc="-23" dirty="0">
                <a:solidFill>
                  <a:srgbClr val="1E3A8A"/>
                </a:solidFill>
                <a:latin typeface="DejaVu Sans"/>
                <a:cs typeface="DejaVu Sans"/>
              </a:rPr>
              <a:t>Feedback</a:t>
            </a:r>
            <a:r>
              <a:rPr sz="1700" b="1" dirty="0">
                <a:solidFill>
                  <a:srgbClr val="1E3A8A"/>
                </a:solidFill>
                <a:latin typeface="DejaVu Sans"/>
                <a:cs typeface="DejaVu Sans"/>
              </a:rPr>
              <a:t> in</a:t>
            </a:r>
            <a:r>
              <a:rPr sz="1700" b="1" spc="-15" dirty="0">
                <a:solidFill>
                  <a:srgbClr val="1E3A8A"/>
                </a:solidFill>
                <a:latin typeface="DejaVu Sans"/>
                <a:cs typeface="DejaVu Sans"/>
              </a:rPr>
              <a:t> HCI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51556" y="10431839"/>
            <a:ext cx="10463758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Output devices </a:t>
            </a:r>
            <a:r>
              <a:rPr sz="1350" spc="-18" dirty="0">
                <a:solidFill>
                  <a:srgbClr val="374151"/>
                </a:solidFill>
                <a:latin typeface="DejaVu Sans"/>
                <a:cs typeface="DejaVu Sans"/>
              </a:rPr>
              <a:t>are</a:t>
            </a:r>
            <a:r>
              <a:rPr sz="1350" spc="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crucial for providing feedback to the user, closing the loop in human-computer interaction. The </a:t>
            </a:r>
            <a:r>
              <a:rPr sz="1350" spc="-15" dirty="0">
                <a:solidFill>
                  <a:srgbClr val="374151"/>
                </a:solidFill>
                <a:latin typeface="DejaVu Sans"/>
                <a:cs typeface="DejaVu Sans"/>
              </a:rPr>
              <a:t>more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sophisticated this feedback, the </a:t>
            </a:r>
            <a:r>
              <a:rPr sz="1350" spc="-15" dirty="0">
                <a:solidFill>
                  <a:srgbClr val="374151"/>
                </a:solidFill>
                <a:latin typeface="DejaVu Sans"/>
                <a:cs typeface="DejaVu Sans"/>
              </a:rPr>
              <a:t>more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eﬀectively users can accomplish tasks.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65435" y="11061244"/>
            <a:ext cx="3246394" cy="850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1E40AF"/>
                </a:solidFill>
                <a:latin typeface="DejaVu Sans"/>
                <a:cs typeface="DejaVu Sans"/>
              </a:rPr>
              <a:t>Perceptual-Motor</a:t>
            </a:r>
            <a:r>
              <a:rPr sz="1200" b="1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1E40AF"/>
                </a:solidFill>
                <a:latin typeface="DejaVu Sans"/>
                <a:cs typeface="DejaVu Sans"/>
              </a:rPr>
              <a:t>Interaction:</a:t>
            </a:r>
            <a:r>
              <a:rPr sz="1200" b="1" spc="-38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00"/>
                </a:solidFill>
                <a:latin typeface="DejaVu Sans"/>
                <a:cs typeface="DejaVu Sans"/>
              </a:rPr>
              <a:t>Users'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000000"/>
                </a:solidFill>
                <a:latin typeface="DejaVu Sans"/>
                <a:cs typeface="DejaVu Sans"/>
              </a:rPr>
              <a:t>perceptions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000000"/>
                </a:solidFill>
                <a:latin typeface="DejaVu Sans"/>
                <a:cs typeface="DejaVu Sans"/>
              </a:rPr>
              <a:t>are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000000"/>
                </a:solidFill>
                <a:latin typeface="DejaVu Sans"/>
                <a:cs typeface="DejaVu Sans"/>
              </a:rPr>
              <a:t>linked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0000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0000"/>
                </a:solidFill>
                <a:latin typeface="DejaVu Sans"/>
                <a:cs typeface="DejaVu Sans"/>
              </a:rPr>
              <a:t>their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00"/>
                </a:solidFill>
                <a:latin typeface="DejaVu Sans"/>
                <a:cs typeface="DejaVu Sans"/>
              </a:rPr>
              <a:t>physical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000000"/>
                </a:solidFill>
                <a:latin typeface="DejaVu Sans"/>
                <a:cs typeface="DejaVu Sans"/>
              </a:rPr>
              <a:t>actions,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0000"/>
                </a:solidFill>
                <a:latin typeface="DejaVu Sans"/>
                <a:cs typeface="DejaVu Sans"/>
              </a:rPr>
              <a:t>with</a:t>
            </a:r>
            <a:r>
              <a:rPr sz="1200" spc="-1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00"/>
                </a:solidFill>
                <a:latin typeface="DejaVu Sans"/>
                <a:cs typeface="DejaVu Sans"/>
              </a:rPr>
              <a:t>systems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00"/>
                </a:solidFill>
                <a:latin typeface="DejaVu Sans"/>
                <a:cs typeface="DejaVu Sans"/>
              </a:rPr>
              <a:t>providing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00"/>
                </a:solidFill>
                <a:latin typeface="DejaVu Sans"/>
                <a:cs typeface="DejaVu Sans"/>
              </a:rPr>
              <a:t>feedback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0" dirty="0">
                <a:solidFill>
                  <a:srgbClr val="000000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000000"/>
                </a:solidFill>
                <a:latin typeface="DejaVu Sans"/>
                <a:cs typeface="DejaVu Sans"/>
              </a:rPr>
              <a:t> guide</a:t>
            </a:r>
            <a:r>
              <a:rPr sz="1200" spc="-1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00"/>
                </a:solidFill>
                <a:latin typeface="DejaVu Sans"/>
                <a:cs typeface="DejaVu Sans"/>
              </a:rPr>
              <a:t>subsequent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00"/>
                </a:solidFill>
                <a:latin typeface="DejaVu Sans"/>
                <a:cs typeface="DejaVu Sans"/>
              </a:rPr>
              <a:t>moves.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618582" y="11061244"/>
            <a:ext cx="3418120" cy="850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33" dirty="0">
                <a:solidFill>
                  <a:srgbClr val="1E40AF"/>
                </a:solidFill>
                <a:latin typeface="DejaVu Sans"/>
                <a:cs typeface="DejaVu Sans"/>
              </a:rPr>
              <a:t>Tactile</a:t>
            </a:r>
            <a:r>
              <a:rPr sz="1200" b="1" dirty="0">
                <a:solidFill>
                  <a:srgbClr val="1E40AF"/>
                </a:solidFill>
                <a:latin typeface="DejaVu Sans"/>
                <a:cs typeface="DejaVu Sans"/>
              </a:rPr>
              <a:t> &amp;</a:t>
            </a:r>
            <a:r>
              <a:rPr sz="1200" b="1" spc="-30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200" b="1" spc="-27" dirty="0">
                <a:solidFill>
                  <a:srgbClr val="1E40AF"/>
                </a:solidFill>
                <a:latin typeface="DejaVu Sans"/>
                <a:cs typeface="DejaVu Sans"/>
              </a:rPr>
              <a:t>Force</a:t>
            </a:r>
            <a:r>
              <a:rPr sz="1200" b="1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200" b="1" spc="-23" dirty="0">
                <a:solidFill>
                  <a:srgbClr val="1E40AF"/>
                </a:solidFill>
                <a:latin typeface="DejaVu Sans"/>
                <a:cs typeface="DejaVu Sans"/>
              </a:rPr>
              <a:t>Feedback:</a:t>
            </a:r>
            <a:r>
              <a:rPr sz="1200" b="1" spc="-31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000000"/>
                </a:solidFill>
                <a:latin typeface="DejaVu Sans"/>
                <a:cs typeface="DejaVu Sans"/>
              </a:rPr>
              <a:t>Providing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000000"/>
                </a:solidFill>
                <a:latin typeface="DejaVu Sans"/>
                <a:cs typeface="DejaVu Sans"/>
              </a:rPr>
              <a:t>physical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00"/>
                </a:solidFill>
                <a:latin typeface="DejaVu Sans"/>
                <a:cs typeface="DejaVu Sans"/>
              </a:rPr>
              <a:t>sensations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0000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00"/>
                </a:solidFill>
                <a:latin typeface="DejaVu Sans"/>
                <a:cs typeface="DejaVu Sans"/>
              </a:rPr>
              <a:t>enhance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00"/>
                </a:solidFill>
                <a:latin typeface="DejaVu Sans"/>
                <a:cs typeface="DejaVu Sans"/>
              </a:rPr>
              <a:t>realism and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000000"/>
                </a:solidFill>
                <a:latin typeface="DejaVu Sans"/>
                <a:cs typeface="DejaVu Sans"/>
              </a:rPr>
              <a:t>inform user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00"/>
                </a:solidFill>
                <a:latin typeface="DejaVu Sans"/>
                <a:cs typeface="DejaVu Sans"/>
              </a:rPr>
              <a:t>actions,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0000"/>
                </a:solidFill>
                <a:latin typeface="DejaVu Sans"/>
                <a:cs typeface="DejaVu Sans"/>
              </a:rPr>
              <a:t>especially</a:t>
            </a:r>
            <a:r>
              <a:rPr sz="1200" spc="-1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in</a:t>
            </a:r>
            <a:r>
              <a:rPr sz="1200" spc="-17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0000"/>
                </a:solidFill>
                <a:latin typeface="DejaVu Sans"/>
                <a:cs typeface="DejaVu Sans"/>
              </a:rPr>
              <a:t>virtual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5" dirty="0">
                <a:solidFill>
                  <a:srgbClr val="000000"/>
                </a:solidFill>
                <a:latin typeface="DejaVu Sans"/>
                <a:cs typeface="DejaVu Sans"/>
              </a:rPr>
              <a:t>environments.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371730" y="11061244"/>
            <a:ext cx="3362127" cy="850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1E40AF"/>
                </a:solidFill>
                <a:latin typeface="DejaVu Sans"/>
                <a:cs typeface="DejaVu Sans"/>
              </a:rPr>
              <a:t>Reduced</a:t>
            </a:r>
            <a:r>
              <a:rPr sz="1200" b="1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1E40AF"/>
                </a:solidFill>
                <a:latin typeface="DejaVu Sans"/>
                <a:cs typeface="DejaVu Sans"/>
              </a:rPr>
              <a:t>Cognitive</a:t>
            </a:r>
            <a:r>
              <a:rPr sz="1200" b="1" spc="-10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1E40AF"/>
                </a:solidFill>
                <a:latin typeface="DejaVu Sans"/>
                <a:cs typeface="DejaVu Sans"/>
              </a:rPr>
              <a:t>Load:</a:t>
            </a:r>
            <a:r>
              <a:rPr sz="1200" b="1" spc="-36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00"/>
                </a:solidFill>
                <a:latin typeface="DejaVu Sans"/>
                <a:cs typeface="DejaVu Sans"/>
              </a:rPr>
              <a:t>Eﬀective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solidFill>
                  <a:srgbClr val="000000"/>
                </a:solidFill>
                <a:latin typeface="DejaVu Sans"/>
                <a:cs typeface="DejaVu Sans"/>
              </a:rPr>
              <a:t>feedback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00"/>
                </a:solidFill>
                <a:latin typeface="DejaVu Sans"/>
                <a:cs typeface="DejaVu Sans"/>
              </a:rPr>
              <a:t>can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00"/>
                </a:solidFill>
                <a:latin typeface="DejaVu Sans"/>
                <a:cs typeface="DejaVu Sans"/>
              </a:rPr>
              <a:t>diminish</a:t>
            </a:r>
            <a:r>
              <a:rPr sz="1200" spc="-1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00"/>
                </a:solidFill>
                <a:latin typeface="DejaVu Sans"/>
                <a:cs typeface="DejaVu Sans"/>
              </a:rPr>
              <a:t>processing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000000"/>
                </a:solidFill>
                <a:latin typeface="DejaVu Sans"/>
                <a:cs typeface="DejaVu Sans"/>
              </a:rPr>
              <a:t>demands,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00"/>
                </a:solidFill>
                <a:latin typeface="DejaVu Sans"/>
                <a:cs typeface="DejaVu Sans"/>
              </a:rPr>
              <a:t>freeing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00"/>
                </a:solidFill>
                <a:latin typeface="DejaVu Sans"/>
                <a:cs typeface="DejaVu Sans"/>
              </a:rPr>
              <a:t>up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0000"/>
                </a:solidFill>
                <a:latin typeface="DejaVu Sans"/>
                <a:cs typeface="DejaVu Sans"/>
              </a:rPr>
              <a:t>cognitive</a:t>
            </a:r>
            <a:r>
              <a:rPr sz="1200" spc="-1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00"/>
                </a:solidFill>
                <a:latin typeface="DejaVu Sans"/>
                <a:cs typeface="DejaVu Sans"/>
              </a:rPr>
              <a:t>capacity</a:t>
            </a:r>
            <a:r>
              <a:rPr sz="1200" spc="-1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0000"/>
                </a:solidFill>
                <a:latin typeface="DejaVu Sans"/>
                <a:cs typeface="DejaVu Sans"/>
              </a:rPr>
              <a:t>for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4" dirty="0">
                <a:solidFill>
                  <a:srgbClr val="000000"/>
                </a:solidFill>
                <a:latin typeface="DejaVu Sans"/>
                <a:cs typeface="DejaVu Sans"/>
              </a:rPr>
              <a:t>other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00"/>
                </a:solidFill>
                <a:latin typeface="DejaVu Sans"/>
                <a:cs typeface="DejaVu Sans"/>
              </a:rPr>
              <a:t>tasks.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60214" y="12089189"/>
            <a:ext cx="10967102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"The </a:t>
            </a:r>
            <a:r>
              <a:rPr sz="1350" spc="-15" dirty="0">
                <a:solidFill>
                  <a:srgbClr val="4B5563"/>
                </a:solidFill>
                <a:latin typeface="DejaVu Sans"/>
                <a:cs typeface="DejaVu Sans"/>
              </a:rPr>
              <a:t>more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sophisticated the interaction between input and output devices—the </a:t>
            </a:r>
            <a:r>
              <a:rPr sz="1350" spc="-15" dirty="0">
                <a:solidFill>
                  <a:srgbClr val="4B5563"/>
                </a:solidFill>
                <a:latin typeface="DejaVu Sans"/>
                <a:cs typeface="DejaVu Sans"/>
              </a:rPr>
              <a:t>more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complex the feedback loop between the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two directions of information ﬂow—the </a:t>
            </a:r>
            <a:r>
              <a:rPr sz="1350" spc="-15" dirty="0">
                <a:solidFill>
                  <a:srgbClr val="4B5563"/>
                </a:solidFill>
                <a:latin typeface="DejaVu Sans"/>
                <a:cs typeface="DejaVu Sans"/>
              </a:rPr>
              <a:t>more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the human user will be able to accomplish with the machine."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603277" y="12890798"/>
            <a:ext cx="865576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Source: Human-Computer Interaction | EBSCO Research</a:t>
            </a:r>
            <a:r>
              <a:rPr sz="1000" spc="12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Starters, Input Devices and Interaction </a:t>
            </a:r>
            <a:r>
              <a:rPr sz="1000" spc="-12" dirty="0">
                <a:solidFill>
                  <a:srgbClr val="6B7280"/>
                </a:solidFill>
                <a:latin typeface="DejaVu Sans"/>
                <a:cs typeface="DejaVu Sans"/>
              </a:rPr>
              <a:t>Techniques</a:t>
            </a:r>
            <a:r>
              <a:rPr sz="1000" spc="20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for Advanced Computing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094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82066" y="332791"/>
            <a:ext cx="11180285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1E3A8A"/>
                </a:solidFill>
                <a:latin typeface="DejaVu Sans"/>
                <a:cs typeface="DejaVu Sans"/>
              </a:rPr>
              <a:t>The</a:t>
            </a:r>
            <a:r>
              <a:rPr sz="405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4050" b="1" spc="-43" dirty="0">
                <a:solidFill>
                  <a:srgbClr val="1E3A8A"/>
                </a:solidFill>
                <a:latin typeface="DejaVu Sans"/>
                <a:cs typeface="DejaVu Sans"/>
              </a:rPr>
              <a:t>Future</a:t>
            </a:r>
            <a:r>
              <a:rPr sz="4050" b="1" spc="23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1E3A8A"/>
                </a:solidFill>
                <a:latin typeface="DejaVu Sans"/>
                <a:cs typeface="DejaVu Sans"/>
              </a:rPr>
              <a:t>of</a:t>
            </a:r>
            <a:r>
              <a:rPr sz="405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1E3A8A"/>
                </a:solidFill>
                <a:latin typeface="DejaVu Sans"/>
                <a:cs typeface="DejaVu Sans"/>
              </a:rPr>
              <a:t>UI:</a:t>
            </a:r>
            <a:r>
              <a:rPr sz="405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1E3A8A"/>
                </a:solidFill>
                <a:latin typeface="DejaVu Sans"/>
                <a:cs typeface="DejaVu Sans"/>
              </a:rPr>
              <a:t>Seamless</a:t>
            </a:r>
            <a:r>
              <a:rPr sz="4050" b="1" dirty="0">
                <a:solidFill>
                  <a:srgbClr val="1E3A8A"/>
                </a:solidFill>
                <a:latin typeface="DejaVu Sans"/>
                <a:cs typeface="DejaVu Sans"/>
              </a:rPr>
              <a:t> &amp;</a:t>
            </a:r>
            <a:r>
              <a:rPr sz="4050" b="1" spc="-23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1E3A8A"/>
                </a:solidFill>
                <a:latin typeface="DejaVu Sans"/>
                <a:cs typeface="DejaVu Sans"/>
              </a:rPr>
              <a:t>Intuitive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60630" y="1353005"/>
            <a:ext cx="2682464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1E40AF"/>
                </a:solidFill>
                <a:latin typeface="DejaVu Sans"/>
                <a:cs typeface="DejaVu Sans"/>
              </a:rPr>
              <a:t>Integration</a:t>
            </a:r>
            <a:r>
              <a:rPr sz="1700" b="1" spc="-10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1E40AF"/>
                </a:solidFill>
                <a:latin typeface="DejaVu Sans"/>
                <a:cs typeface="DejaVu Sans"/>
              </a:rPr>
              <a:t>with</a:t>
            </a:r>
            <a:r>
              <a:rPr sz="1700" b="1" spc="-10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1E40AF"/>
                </a:solidFill>
                <a:latin typeface="DejaVu Sans"/>
                <a:cs typeface="DejaVu Sans"/>
              </a:rPr>
              <a:t>AI</a:t>
            </a:r>
            <a:r>
              <a:rPr sz="1700" b="1" dirty="0">
                <a:solidFill>
                  <a:srgbClr val="1E40AF"/>
                </a:solidFill>
                <a:latin typeface="DejaVu Sans"/>
                <a:cs typeface="DejaVu Sans"/>
              </a:rPr>
              <a:t> &amp;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20" dirty="0">
                <a:solidFill>
                  <a:srgbClr val="1E40AF"/>
                </a:solidFill>
                <a:latin typeface="DejaVu Sans"/>
                <a:cs typeface="DejaVu Sans"/>
              </a:rPr>
              <a:t>ML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70074" y="1476830"/>
            <a:ext cx="1938456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1E40AF"/>
                </a:solidFill>
                <a:latin typeface="DejaVu Sans"/>
                <a:cs typeface="DejaVu Sans"/>
              </a:rPr>
              <a:t>Context-Aware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1" dirty="0">
                <a:solidFill>
                  <a:srgbClr val="1E40AF"/>
                </a:solidFill>
                <a:latin typeface="DejaVu Sans"/>
                <a:cs typeface="DejaVu Sans"/>
              </a:rPr>
              <a:t>Interfaces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79630" y="2060873"/>
            <a:ext cx="107970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54D0E"/>
                </a:solidFill>
                <a:latin typeface="DejaVu Sans"/>
                <a:cs typeface="DejaVu Sans"/>
              </a:rPr>
              <a:t>INTELLIGENT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9074" y="2184698"/>
            <a:ext cx="87211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E40AF"/>
                </a:solidFill>
                <a:latin typeface="DejaVu Sans"/>
                <a:cs typeface="DejaVu Sans"/>
              </a:rPr>
              <a:t>ADAPTIVE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351638" y="2412544"/>
            <a:ext cx="2621160" cy="631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AI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machine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learning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will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be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foundational,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enabling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predictive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capabilities,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natural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language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61081" y="2536369"/>
            <a:ext cx="3299819" cy="850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UIs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will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intelligently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adapt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 the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user's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environment,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activities,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intentions,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proactively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providing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relevant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information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minimizing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explicit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commands.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351638" y="3050719"/>
            <a:ext cx="3253104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understanding,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sophisticated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pattern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recognition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intelligent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interactions.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9074" y="4010480"/>
            <a:ext cx="2076448" cy="894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9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1E40AF"/>
                </a:solidFill>
                <a:latin typeface="DejaVu Sans"/>
                <a:cs typeface="DejaVu Sans"/>
              </a:rPr>
              <a:t>Personalized</a:t>
            </a:r>
          </a:p>
          <a:p>
            <a:pPr marL="380999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b="1" spc="-12" dirty="0">
                <a:solidFill>
                  <a:srgbClr val="1E40AF"/>
                </a:solidFill>
                <a:latin typeface="DejaVu Sans"/>
                <a:cs typeface="DejaVu Sans"/>
              </a:rPr>
              <a:t>Experiences</a:t>
            </a:r>
          </a:p>
          <a:p>
            <a:pPr marL="0" marR="0">
              <a:lnSpc>
                <a:spcPts val="1173"/>
              </a:lnSpc>
              <a:spcBef>
                <a:spcPts val="1168"/>
              </a:spcBef>
              <a:spcAft>
                <a:spcPts val="0"/>
              </a:spcAft>
            </a:pPr>
            <a:r>
              <a:rPr sz="1000" b="1" dirty="0">
                <a:solidFill>
                  <a:srgbClr val="6B21A8"/>
                </a:solidFill>
                <a:latin typeface="DejaVu Sans"/>
                <a:cs typeface="DejaVu Sans"/>
              </a:rPr>
              <a:t>PREDICTIVE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860630" y="4162880"/>
            <a:ext cx="2844373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1E40AF"/>
                </a:solidFill>
                <a:latin typeface="DejaVu Sans"/>
                <a:cs typeface="DejaVu Sans"/>
              </a:rPr>
              <a:t>Ethical</a:t>
            </a:r>
            <a:r>
              <a:rPr sz="1700" b="1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1E40AF"/>
                </a:solidFill>
                <a:latin typeface="DejaVu Sans"/>
                <a:cs typeface="DejaVu Sans"/>
              </a:rPr>
              <a:t>Considerations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479630" y="4632623"/>
            <a:ext cx="75653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991B1B"/>
                </a:solidFill>
                <a:latin typeface="DejaVu Sans"/>
                <a:cs typeface="DejaVu Sans"/>
              </a:rPr>
              <a:t>ETHICAL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351638" y="4984294"/>
            <a:ext cx="3402425" cy="1069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As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UIs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become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374151"/>
                </a:solidFill>
                <a:latin typeface="DejaVu Sans"/>
                <a:cs typeface="DejaVu Sans"/>
              </a:rPr>
              <a:t>more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pervasive,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ethical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design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is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paramount.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This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includes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ensuring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privacy,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algorithmic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fairness,</a:t>
            </a:r>
          </a:p>
          <a:p>
            <a:pPr marL="0" marR="0">
              <a:lnSpc>
                <a:spcPts val="1368"/>
              </a:lnSpc>
              <a:spcBef>
                <a:spcPts val="356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preventing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manipulative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design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patterns.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61081" y="5070019"/>
            <a:ext cx="3275554" cy="850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Interfaces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will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be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highly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customized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to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individual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preferences,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behaviors,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learning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styles,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with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adaptive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layouts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content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that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evolve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with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40" dirty="0">
                <a:solidFill>
                  <a:srgbClr val="374151"/>
                </a:solidFill>
                <a:latin typeface="DejaVu Sans"/>
                <a:cs typeface="DejaVu Sans"/>
              </a:rPr>
              <a:t>user.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61081" y="6677480"/>
            <a:ext cx="4568355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1E3A8A"/>
                </a:solidFill>
                <a:latin typeface="DejaVu Sans"/>
                <a:cs typeface="DejaVu Sans"/>
              </a:rPr>
              <a:t>The</a:t>
            </a:r>
            <a:r>
              <a:rPr sz="17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1E3A8A"/>
                </a:solidFill>
                <a:latin typeface="DejaVu Sans"/>
                <a:cs typeface="DejaVu Sans"/>
              </a:rPr>
              <a:t>Promise</a:t>
            </a:r>
            <a:r>
              <a:rPr sz="17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1E3A8A"/>
                </a:solidFill>
                <a:latin typeface="DejaVu Sans"/>
                <a:cs typeface="DejaVu Sans"/>
              </a:rPr>
              <a:t>of</a:t>
            </a:r>
            <a:r>
              <a:rPr sz="17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1E3A8A"/>
                </a:solidFill>
                <a:latin typeface="DejaVu Sans"/>
                <a:cs typeface="DejaVu Sans"/>
              </a:rPr>
              <a:t>Seamless</a:t>
            </a:r>
            <a:r>
              <a:rPr sz="170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1E3A8A"/>
                </a:solidFill>
                <a:latin typeface="DejaVu Sans"/>
                <a:cs typeface="DejaVu Sans"/>
              </a:rPr>
              <a:t>Interaction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61081" y="7051219"/>
            <a:ext cx="929032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The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ultimate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goal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is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31" dirty="0">
                <a:solidFill>
                  <a:srgbClr val="374151"/>
                </a:solidFill>
                <a:latin typeface="DejaVu Sans"/>
                <a:cs typeface="DejaVu Sans"/>
              </a:rPr>
              <a:t>make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technology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disappear,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allowing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users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 focus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on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their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goals,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not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interface.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This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involves: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67506" y="7356019"/>
            <a:ext cx="8802016" cy="716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4B5563"/>
                </a:solidFill>
                <a:latin typeface="DejaVu Sans"/>
                <a:cs typeface="DejaVu Sans"/>
              </a:rPr>
              <a:t>Ubiquitous</a:t>
            </a:r>
            <a:r>
              <a:rPr sz="1200" b="1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4B5563"/>
                </a:solidFill>
                <a:latin typeface="DejaVu Sans"/>
                <a:cs typeface="DejaVu Sans"/>
              </a:rPr>
              <a:t>Computing:</a:t>
            </a:r>
            <a:r>
              <a:rPr sz="1200" b="1" spc="-37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33" dirty="0">
                <a:solidFill>
                  <a:srgbClr val="4B5563"/>
                </a:solidFill>
                <a:latin typeface="DejaVu Sans"/>
                <a:cs typeface="DejaVu Sans"/>
              </a:rPr>
              <a:t>Technology</a:t>
            </a:r>
            <a:r>
              <a:rPr sz="1200" spc="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4B5563"/>
                </a:solidFill>
                <a:latin typeface="DejaVu Sans"/>
                <a:cs typeface="DejaVu Sans"/>
              </a:rPr>
              <a:t>embedded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seamlessly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into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everyday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objects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environments.</a:t>
            </a:r>
          </a:p>
          <a:p>
            <a:pPr marL="0" marR="0">
              <a:lnSpc>
                <a:spcPts val="1368"/>
              </a:lnSpc>
              <a:spcBef>
                <a:spcPts val="606"/>
              </a:spcBef>
              <a:spcAft>
                <a:spcPts val="0"/>
              </a:spcAft>
            </a:pPr>
            <a:r>
              <a:rPr sz="1200" b="1" spc="-15" dirty="0">
                <a:solidFill>
                  <a:srgbClr val="4B5563"/>
                </a:solidFill>
                <a:latin typeface="DejaVu Sans"/>
                <a:cs typeface="DejaVu Sans"/>
              </a:rPr>
              <a:t>Natural</a:t>
            </a:r>
            <a:r>
              <a:rPr sz="1200" b="1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4B5563"/>
                </a:solidFill>
                <a:latin typeface="DejaVu Sans"/>
                <a:cs typeface="DejaVu Sans"/>
              </a:rPr>
              <a:t>Dialogues:</a:t>
            </a:r>
            <a:r>
              <a:rPr sz="1200" b="1" spc="-37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Interactions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that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mimic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4B5563"/>
                </a:solidFill>
                <a:latin typeface="DejaVu Sans"/>
                <a:cs typeface="DejaVu Sans"/>
              </a:rPr>
              <a:t>human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communication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4B5563"/>
                </a:solidFill>
                <a:latin typeface="DejaVu Sans"/>
                <a:cs typeface="DejaVu Sans"/>
              </a:rPr>
              <a:t>through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voice,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4B5563"/>
                </a:solidFill>
                <a:latin typeface="DejaVu Sans"/>
                <a:cs typeface="DejaVu Sans"/>
              </a:rPr>
              <a:t>gesture,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even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thought.</a:t>
            </a:r>
          </a:p>
          <a:p>
            <a:pPr marL="0" marR="0">
              <a:lnSpc>
                <a:spcPts val="1368"/>
              </a:lnSpc>
              <a:spcBef>
                <a:spcPts val="531"/>
              </a:spcBef>
              <a:spcAft>
                <a:spcPts val="0"/>
              </a:spcAft>
            </a:pPr>
            <a:r>
              <a:rPr sz="1200" b="1" spc="-17" dirty="0">
                <a:solidFill>
                  <a:srgbClr val="4B5563"/>
                </a:solidFill>
                <a:latin typeface="DejaVu Sans"/>
                <a:cs typeface="DejaVu Sans"/>
              </a:rPr>
              <a:t>Reduced</a:t>
            </a:r>
            <a:r>
              <a:rPr sz="1200" b="1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4B5563"/>
                </a:solidFill>
                <a:latin typeface="DejaVu Sans"/>
                <a:cs typeface="DejaVu Sans"/>
              </a:rPr>
              <a:t>Cognitive</a:t>
            </a:r>
            <a:r>
              <a:rPr sz="1200" b="1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4B5563"/>
                </a:solidFill>
                <a:latin typeface="DejaVu Sans"/>
                <a:cs typeface="DejaVu Sans"/>
              </a:rPr>
              <a:t>Load:</a:t>
            </a:r>
            <a:r>
              <a:rPr sz="1200" b="1" spc="-36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Interfaces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that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4B5563"/>
                </a:solidFill>
                <a:latin typeface="DejaVu Sans"/>
                <a:cs typeface="DejaVu Sans"/>
              </a:rPr>
              <a:t>require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minimal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mental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eﬀort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4B5563"/>
                </a:solidFill>
                <a:latin typeface="DejaVu Sans"/>
                <a:cs typeface="DejaVu Sans"/>
              </a:rPr>
              <a:t>more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ﬂuid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enjoyable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experiences.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69739" y="8194973"/>
            <a:ext cx="10949728" cy="358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4B5563"/>
                </a:solidFill>
                <a:latin typeface="DejaVu Sans"/>
                <a:cs typeface="DejaVu Sans"/>
              </a:rPr>
              <a:t>"As HCI advances... notions of the computer as an object separate from</a:t>
            </a:r>
            <a:r>
              <a:rPr sz="1000" spc="14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4B5563"/>
                </a:solidFill>
                <a:latin typeface="DejaVu Sans"/>
                <a:cs typeface="DejaVu Sans"/>
              </a:rPr>
              <a:t>the user may eventually be relegated to the archives of technological history, to be replaced by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sz="1000" dirty="0">
                <a:solidFill>
                  <a:srgbClr val="4B5563"/>
                </a:solidFill>
                <a:latin typeface="DejaVu Sans"/>
                <a:cs typeface="DejaVu Sans"/>
              </a:rPr>
              <a:t>wearable machine interfaces..."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517998" y="8852198"/>
            <a:ext cx="865576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Source: Human-Computer Interaction | EBSCO Research</a:t>
            </a:r>
            <a:r>
              <a:rPr sz="1000" spc="12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Starters, Input Devices and Interaction </a:t>
            </a:r>
            <a:r>
              <a:rPr sz="1000" spc="-12" dirty="0">
                <a:solidFill>
                  <a:srgbClr val="9CA3AF"/>
                </a:solidFill>
                <a:latin typeface="DejaVu Sans"/>
                <a:cs typeface="DejaVu Sans"/>
              </a:rPr>
              <a:t>Techniques</a:t>
            </a:r>
            <a:r>
              <a:rPr sz="1000" spc="2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for Advanced Computing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2639</Words>
  <Application>Microsoft Office PowerPoint</Application>
  <PresentationFormat>Widescreen</PresentationFormat>
  <Paragraphs>481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DejaVu Sans</vt:lpstr>
      <vt:lpstr>Times New Roman</vt:lpstr>
      <vt:lpstr>Calibri</vt:lpstr>
      <vt:lpstr>Liberation Mono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Dakshith</dc:creator>
  <cp:lastModifiedBy>R Sarath Babu</cp:lastModifiedBy>
  <cp:revision>3</cp:revision>
  <cp:lastPrinted>2025-07-30T17:28:49Z</cp:lastPrinted>
  <dcterms:modified xsi:type="dcterms:W3CDTF">2025-08-07T05:16:15Z</dcterms:modified>
</cp:coreProperties>
</file>