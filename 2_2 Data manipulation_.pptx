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04280" y="458610"/>
            <a:ext cx="8135763" cy="932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b="1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6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d3d3d3"/>
                </a:solidFill>
                <a:latin typeface="DejaVu Sans"/>
                <a:cs typeface="DejaVu Sans"/>
              </a:rPr>
              <a:t>Manipulation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35349" y="1420635"/>
            <a:ext cx="6312919" cy="932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spc="-27" b="1">
                <a:solidFill>
                  <a:srgbClr val="ff6e00"/>
                </a:solidFill>
                <a:latin typeface="DejaVu Sans"/>
                <a:cs typeface="DejaVu Sans"/>
              </a:rPr>
              <a:t>Fundamentals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9990" y="2598620"/>
            <a:ext cx="868420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>
                <a:solidFill>
                  <a:srgbClr val="d3d3d3"/>
                </a:solidFill>
                <a:latin typeface="DejaVu Sans"/>
                <a:cs typeface="DejaVu Sans"/>
              </a:rPr>
              <a:t>Understanding</a:t>
            </a:r>
            <a:r>
              <a:rPr dirty="0" sz="2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500" spc="-10">
                <a:solidFill>
                  <a:srgbClr val="d3d3d3"/>
                </a:solidFill>
                <a:latin typeface="DejaVu Sans"/>
                <a:cs typeface="DejaVu Sans"/>
              </a:rPr>
              <a:t>Variables,</a:t>
            </a:r>
            <a:r>
              <a:rPr dirty="0" sz="2500" spc="23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500">
                <a:solidFill>
                  <a:srgbClr val="d3d3d3"/>
                </a:solidFill>
                <a:latin typeface="DejaVu Sans"/>
                <a:cs typeface="DejaVu Sans"/>
              </a:rPr>
              <a:t>Collections,</a:t>
            </a:r>
            <a:r>
              <a:rPr dirty="0" sz="2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2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500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612932" y="6155129"/>
            <a:ext cx="130470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64">
                <a:solidFill>
                  <a:srgbClr val="d3d3d3"/>
                </a:solidFill>
                <a:latin typeface="DejaVu Sans"/>
                <a:cs typeface="DejaVu Sans"/>
              </a:rPr>
              <a:t>Your</a:t>
            </a:r>
            <a:r>
              <a:rPr dirty="0" sz="1700" spc="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d3d3d3"/>
                </a:solidFill>
                <a:latin typeface="DejaVu Sans"/>
                <a:cs typeface="DejaVu Sans"/>
              </a:rPr>
              <a:t>Name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04280" y="458610"/>
            <a:ext cx="8135763" cy="932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b="1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6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6050" b="1">
                <a:solidFill>
                  <a:srgbClr val="d3d3d3"/>
                </a:solidFill>
                <a:latin typeface="DejaVu Sans"/>
                <a:cs typeface="DejaVu Sans"/>
              </a:rPr>
              <a:t>Manipulation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35349" y="1420635"/>
            <a:ext cx="6312919" cy="9322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4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spc="-27" b="1">
                <a:solidFill>
                  <a:srgbClr val="ff6e00"/>
                </a:solidFill>
                <a:latin typeface="DejaVu Sans"/>
                <a:cs typeface="DejaVu Sans"/>
              </a:rPr>
              <a:t>Fundamentals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9990" y="2598620"/>
            <a:ext cx="868420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>
                <a:solidFill>
                  <a:srgbClr val="d3d3d3"/>
                </a:solidFill>
                <a:latin typeface="DejaVu Sans"/>
                <a:cs typeface="DejaVu Sans"/>
              </a:rPr>
              <a:t>Understanding</a:t>
            </a:r>
            <a:r>
              <a:rPr dirty="0" sz="2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500" spc="-10">
                <a:solidFill>
                  <a:srgbClr val="d3d3d3"/>
                </a:solidFill>
                <a:latin typeface="DejaVu Sans"/>
                <a:cs typeface="DejaVu Sans"/>
              </a:rPr>
              <a:t>Variables,</a:t>
            </a:r>
            <a:r>
              <a:rPr dirty="0" sz="2500" spc="23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500">
                <a:solidFill>
                  <a:srgbClr val="d3d3d3"/>
                </a:solidFill>
                <a:latin typeface="DejaVu Sans"/>
                <a:cs typeface="DejaVu Sans"/>
              </a:rPr>
              <a:t>Collections,</a:t>
            </a:r>
            <a:r>
              <a:rPr dirty="0" sz="2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2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500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612932" y="6155129"/>
            <a:ext cx="130470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64">
                <a:solidFill>
                  <a:srgbClr val="d3d3d3"/>
                </a:solidFill>
                <a:latin typeface="DejaVu Sans"/>
                <a:cs typeface="DejaVu Sans"/>
              </a:rPr>
              <a:t>Your</a:t>
            </a:r>
            <a:r>
              <a:rPr dirty="0" sz="1700" spc="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d3d3d3"/>
                </a:solidFill>
                <a:latin typeface="DejaVu Sans"/>
                <a:cs typeface="DejaVu Sans"/>
              </a:rPr>
              <a:t>Name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995261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40110" y="333300"/>
            <a:ext cx="8663996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34" b="1">
                <a:solidFill>
                  <a:srgbClr val="ff6e00"/>
                </a:solidFill>
                <a:latin typeface="DejaVu Sans"/>
                <a:cs typeface="DejaVu Sans"/>
              </a:rPr>
              <a:t>Variables</a:t>
            </a:r>
            <a:r>
              <a:rPr dirty="0" sz="4050" b="1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4050" spc="-14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d1d5db"/>
                </a:solidFill>
                <a:latin typeface="DejaVu Sans"/>
                <a:cs typeface="DejaVu Sans"/>
              </a:rPr>
              <a:t>Storage</a:t>
            </a:r>
            <a:r>
              <a:rPr dirty="0" sz="40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40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d1d5db"/>
                </a:solidFill>
                <a:latin typeface="DejaVu Sans"/>
                <a:cs typeface="DejaVu Sans"/>
              </a:rPr>
              <a:t>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86497" y="1416504"/>
            <a:ext cx="3775240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5" b="1">
                <a:solidFill>
                  <a:srgbClr val="ff6e00"/>
                </a:solidFill>
                <a:latin typeface="DejaVu Sans"/>
                <a:cs typeface="DejaVu Sans"/>
              </a:rPr>
              <a:t>What</a:t>
            </a:r>
            <a:r>
              <a:rPr dirty="0" sz="25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ff6e00"/>
                </a:solidFill>
                <a:latin typeface="DejaVu Sans"/>
                <a:cs typeface="DejaVu Sans"/>
              </a:rPr>
              <a:t>are</a:t>
            </a:r>
            <a:r>
              <a:rPr dirty="0" sz="25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ff6e00"/>
                </a:solidFill>
                <a:latin typeface="DejaVu Sans"/>
                <a:cs typeface="DejaVu Sans"/>
              </a:rPr>
              <a:t>Variables?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86497" y="1954343"/>
            <a:ext cx="376173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Named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containers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holding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data.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86497" y="2344868"/>
            <a:ext cx="5721273" cy="642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Store,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manage,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pass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information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in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workﬂows.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Fundamental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building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block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dynamic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40">
                <a:solidFill>
                  <a:srgbClr val="d1d5db"/>
                </a:solidFill>
                <a:latin typeface="DejaVu Sans"/>
                <a:cs typeface="DejaVu Sans"/>
              </a:rPr>
              <a:t>RPA</a:t>
            </a:r>
            <a:r>
              <a:rPr dirty="0" sz="1500" spc="5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processes.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14489" y="3213907"/>
            <a:ext cx="124715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46" b="1">
                <a:solidFill>
                  <a:srgbClr val="e5e7eb"/>
                </a:solidFill>
                <a:latin typeface="DejaVu Sans"/>
                <a:cs typeface="DejaVu Sans"/>
              </a:rPr>
              <a:t>DATA</a:t>
            </a:r>
            <a:r>
              <a:rPr dirty="0" sz="1000" spc="55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e5e7eb"/>
                </a:solidFill>
                <a:latin typeface="DejaVu Sans"/>
                <a:cs typeface="DejaVu Sans"/>
              </a:rPr>
              <a:t>STORAGE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93245" y="3213907"/>
            <a:ext cx="125278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40" b="1">
                <a:solidFill>
                  <a:srgbClr val="e5e7eb"/>
                </a:solidFill>
                <a:latin typeface="DejaVu Sans"/>
                <a:cs typeface="DejaVu Sans"/>
              </a:rPr>
              <a:t>RPA</a:t>
            </a:r>
            <a:r>
              <a:rPr dirty="0" sz="1000" spc="49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e5e7eb"/>
                </a:solidFill>
                <a:latin typeface="DejaVu Sans"/>
                <a:cs typeface="DejaVu Sans"/>
              </a:rPr>
              <a:t>ESSENTIAL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98649" y="4201488"/>
            <a:ext cx="259703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d1d5db"/>
                </a:solidFill>
                <a:latin typeface="DejaVu Sans"/>
                <a:cs typeface="DejaVu Sans"/>
              </a:rPr>
              <a:t>Common</a:t>
            </a:r>
            <a:r>
              <a:rPr dirty="0" sz="17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7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50" b="1">
                <a:solidFill>
                  <a:srgbClr val="d1d5db"/>
                </a:solidFill>
                <a:latin typeface="DejaVu Sans"/>
                <a:cs typeface="DejaVu Sans"/>
              </a:rPr>
              <a:t>Types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13065" y="4201488"/>
            <a:ext cx="290603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d1d5db"/>
                </a:solidFill>
                <a:latin typeface="DejaVu Sans"/>
                <a:cs typeface="DejaVu Sans"/>
              </a:rPr>
              <a:t>Declaring</a:t>
            </a:r>
            <a:r>
              <a:rPr dirty="0" sz="1700" spc="-1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d1d5db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d1d5db"/>
                </a:solidFill>
                <a:latin typeface="DejaVu Sans"/>
                <a:cs typeface="DejaVu Sans"/>
              </a:rPr>
              <a:t>Initializing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4935" y="4650673"/>
            <a:ext cx="143377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 spc="-66">
                <a:solidFill>
                  <a:srgbClr val="d1d5db"/>
                </a:solidFill>
                <a:latin typeface="DejaVu Sans"/>
                <a:cs typeface="DejaVu Sans"/>
              </a:rPr>
              <a:t>Text</a:t>
            </a:r>
            <a:r>
              <a:rPr dirty="0" sz="1350" spc="6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(String)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89352" y="4650673"/>
            <a:ext cx="3090670" cy="8368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ade80"/>
                </a:solidFill>
                <a:latin typeface="DejaVu Sans"/>
                <a:cs typeface="DejaVu Sans"/>
              </a:rPr>
              <a:t>✓</a:t>
            </a:r>
            <a:r>
              <a:rPr dirty="0" sz="1350" spc="328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Deﬁne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name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type.</a:t>
            </a:r>
          </a:p>
          <a:p>
            <a:pPr marL="0" marR="0">
              <a:lnSpc>
                <a:spcPts val="1564"/>
              </a:lnSpc>
              <a:spcBef>
                <a:spcPts val="835"/>
              </a:spcBef>
              <a:spcAft>
                <a:spcPts val="0"/>
              </a:spcAft>
            </a:pPr>
            <a:r>
              <a:rPr dirty="0" sz="1350">
                <a:solidFill>
                  <a:srgbClr val="4ade80"/>
                </a:solidFill>
                <a:latin typeface="DejaVu Sans"/>
                <a:cs typeface="DejaVu Sans"/>
              </a:rPr>
              <a:t>✓</a:t>
            </a:r>
            <a:r>
              <a:rPr dirty="0" sz="1350" spc="328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Assign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initial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(default)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value.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4ade80"/>
                </a:solidFill>
                <a:latin typeface="DejaVu Sans"/>
                <a:cs typeface="DejaVu Sans"/>
              </a:rPr>
              <a:t>✓</a:t>
            </a:r>
            <a:r>
              <a:rPr dirty="0" sz="1350" spc="328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Allocates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memory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data.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4935" y="4955473"/>
            <a:ext cx="2203055" cy="8273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Number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(Int,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Double)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Boolean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30">
                <a:solidFill>
                  <a:srgbClr val="d1d5db"/>
                </a:solidFill>
                <a:latin typeface="DejaVu Sans"/>
                <a:cs typeface="DejaVu Sans"/>
              </a:rPr>
              <a:t>(True/False)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DateTime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Arrays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4935" y="5957107"/>
            <a:ext cx="110429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TYPE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SAFETY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82675" y="5957107"/>
            <a:ext cx="167088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20" b="1">
                <a:solidFill>
                  <a:srgbClr val="d1d5db"/>
                </a:solidFill>
                <a:latin typeface="DejaVu Sans"/>
                <a:cs typeface="DejaVu Sans"/>
              </a:rPr>
              <a:t>VALUE</a:t>
            </a:r>
            <a:r>
              <a:rPr dirty="0" sz="1000" spc="28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SIGNIFICANCE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89352" y="5957107"/>
            <a:ext cx="149602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WORKFLOW</a:t>
            </a:r>
            <a:r>
              <a:rPr dirty="0" sz="1000" spc="1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BUILD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088807" y="5957107"/>
            <a:ext cx="173250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MEMORY</a:t>
            </a:r>
            <a:r>
              <a:rPr dirty="0" sz="1000" spc="12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ALLOCATION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70074" y="6868489"/>
            <a:ext cx="273295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d1d5db"/>
                </a:solidFill>
                <a:latin typeface="DejaVu Sans"/>
                <a:cs typeface="DejaVu Sans"/>
              </a:rPr>
              <a:t>Understanding</a:t>
            </a:r>
            <a:r>
              <a:rPr dirty="0" sz="17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d1d5db"/>
                </a:solidFill>
                <a:latin typeface="DejaVu Sans"/>
                <a:cs typeface="DejaVu Sans"/>
              </a:rPr>
              <a:t>Scope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941640" y="6868489"/>
            <a:ext cx="186768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d1d5db"/>
                </a:solidFill>
                <a:latin typeface="DejaVu Sans"/>
                <a:cs typeface="DejaVu Sans"/>
              </a:rPr>
              <a:t>Best</a:t>
            </a:r>
            <a:r>
              <a:rPr dirty="0" sz="17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d1d5db"/>
                </a:solidFill>
                <a:latin typeface="DejaVu Sans"/>
                <a:cs typeface="DejaVu Sans"/>
              </a:rPr>
              <a:t>Practices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27174" y="7317672"/>
            <a:ext cx="4604327" cy="579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"Local: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Limited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its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container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(e.g.,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Sequence)."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"Global: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Accessible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throughout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entire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20">
                <a:solidFill>
                  <a:srgbClr val="d1d5db"/>
                </a:solidFill>
                <a:latin typeface="DejaVu Sans"/>
                <a:cs typeface="DejaVu Sans"/>
              </a:rPr>
              <a:t>workﬂow."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517926" y="7317672"/>
            <a:ext cx="4077174" cy="8368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Use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descriptive,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clear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naming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conventions.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Prefer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local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scope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avoid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conﬂicts.</a:t>
            </a:r>
          </a:p>
          <a:p>
            <a:pPr marL="0" marR="0">
              <a:lnSpc>
                <a:spcPts val="1564"/>
              </a:lnSpc>
              <a:spcBef>
                <a:spcPts val="835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Initialize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variables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declaration.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517926" y="8213022"/>
            <a:ext cx="343490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Manage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variable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lifetime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23">
                <a:solidFill>
                  <a:srgbClr val="d1d5db"/>
                </a:solidFill>
                <a:latin typeface="DejaVu Sans"/>
                <a:cs typeface="DejaVu Sans"/>
              </a:rPr>
              <a:t>eﬃciently.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6360" y="8624106"/>
            <a:ext cx="61739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LOCAL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62670" y="8624106"/>
            <a:ext cx="72609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GLOBAL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187624" y="8624106"/>
            <a:ext cx="98318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46" b="1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000" spc="55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FLOW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517926" y="8624106"/>
            <a:ext cx="121041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CODE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QUALITY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831781" y="8624106"/>
            <a:ext cx="142830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MAINTAINABILITY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130027" y="9375827"/>
            <a:ext cx="808418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"Best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practices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naming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variables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31">
                <a:solidFill>
                  <a:srgbClr val="9ca3af"/>
                </a:solidFill>
                <a:latin typeface="DejaVu Sans"/>
                <a:cs typeface="DejaVu Sans"/>
              </a:rPr>
              <a:t>make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them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easier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to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distinguish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manage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in</a:t>
            </a: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complex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workﬂows."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223098" y="9748056"/>
            <a:ext cx="59506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UiPath</a:t>
            </a:r>
            <a:r>
              <a:rPr dirty="0" sz="1000" spc="11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Documentation,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roboautomator.com,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forum.uipath.com,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stackoverﬂow.com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995261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40110" y="333300"/>
            <a:ext cx="8663996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34" b="1">
                <a:solidFill>
                  <a:srgbClr val="ff6e00"/>
                </a:solidFill>
                <a:latin typeface="DejaVu Sans"/>
                <a:cs typeface="DejaVu Sans"/>
              </a:rPr>
              <a:t>Variables</a:t>
            </a:r>
            <a:r>
              <a:rPr dirty="0" sz="4050" b="1">
                <a:solidFill>
                  <a:srgbClr val="d1d5db"/>
                </a:solidFill>
                <a:latin typeface="DejaVu Sans"/>
                <a:cs typeface="DejaVu Sans"/>
              </a:rPr>
              <a:t>:</a:t>
            </a:r>
            <a:r>
              <a:rPr dirty="0" sz="4050" spc="-14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d1d5db"/>
                </a:solidFill>
                <a:latin typeface="DejaVu Sans"/>
                <a:cs typeface="DejaVu Sans"/>
              </a:rPr>
              <a:t>Storage</a:t>
            </a:r>
            <a:r>
              <a:rPr dirty="0" sz="40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40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d1d5db"/>
                </a:solidFill>
                <a:latin typeface="DejaVu Sans"/>
                <a:cs typeface="DejaVu Sans"/>
              </a:rPr>
              <a:t>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86497" y="1416504"/>
            <a:ext cx="3775240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5" b="1">
                <a:solidFill>
                  <a:srgbClr val="ff6e00"/>
                </a:solidFill>
                <a:latin typeface="DejaVu Sans"/>
                <a:cs typeface="DejaVu Sans"/>
              </a:rPr>
              <a:t>What</a:t>
            </a:r>
            <a:r>
              <a:rPr dirty="0" sz="25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ff6e00"/>
                </a:solidFill>
                <a:latin typeface="DejaVu Sans"/>
                <a:cs typeface="DejaVu Sans"/>
              </a:rPr>
              <a:t>are</a:t>
            </a:r>
            <a:r>
              <a:rPr dirty="0" sz="25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ff6e00"/>
                </a:solidFill>
                <a:latin typeface="DejaVu Sans"/>
                <a:cs typeface="DejaVu Sans"/>
              </a:rPr>
              <a:t>Variables?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86497" y="1954343"/>
            <a:ext cx="376173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Named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containers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holding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data.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86497" y="2344868"/>
            <a:ext cx="5721273" cy="642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Store,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manage,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pass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information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in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workﬂows.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500" spc="303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Fundamental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building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block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dynamic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40">
                <a:solidFill>
                  <a:srgbClr val="d1d5db"/>
                </a:solidFill>
                <a:latin typeface="DejaVu Sans"/>
                <a:cs typeface="DejaVu Sans"/>
              </a:rPr>
              <a:t>RPA</a:t>
            </a:r>
            <a:r>
              <a:rPr dirty="0" sz="1500" spc="5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processes.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14489" y="3213907"/>
            <a:ext cx="124715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46" b="1">
                <a:solidFill>
                  <a:srgbClr val="e5e7eb"/>
                </a:solidFill>
                <a:latin typeface="DejaVu Sans"/>
                <a:cs typeface="DejaVu Sans"/>
              </a:rPr>
              <a:t>DATA</a:t>
            </a:r>
            <a:r>
              <a:rPr dirty="0" sz="1000" spc="55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e5e7eb"/>
                </a:solidFill>
                <a:latin typeface="DejaVu Sans"/>
                <a:cs typeface="DejaVu Sans"/>
              </a:rPr>
              <a:t>STORAGE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93245" y="3213907"/>
            <a:ext cx="125278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40" b="1">
                <a:solidFill>
                  <a:srgbClr val="e5e7eb"/>
                </a:solidFill>
                <a:latin typeface="DejaVu Sans"/>
                <a:cs typeface="DejaVu Sans"/>
              </a:rPr>
              <a:t>RPA</a:t>
            </a:r>
            <a:r>
              <a:rPr dirty="0" sz="1000" spc="49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e5e7eb"/>
                </a:solidFill>
                <a:latin typeface="DejaVu Sans"/>
                <a:cs typeface="DejaVu Sans"/>
              </a:rPr>
              <a:t>ESSENTIAL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98649" y="4201488"/>
            <a:ext cx="259703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d1d5db"/>
                </a:solidFill>
                <a:latin typeface="DejaVu Sans"/>
                <a:cs typeface="DejaVu Sans"/>
              </a:rPr>
              <a:t>Common</a:t>
            </a:r>
            <a:r>
              <a:rPr dirty="0" sz="17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7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50" b="1">
                <a:solidFill>
                  <a:srgbClr val="d1d5db"/>
                </a:solidFill>
                <a:latin typeface="DejaVu Sans"/>
                <a:cs typeface="DejaVu Sans"/>
              </a:rPr>
              <a:t>Types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13065" y="4201488"/>
            <a:ext cx="290603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d1d5db"/>
                </a:solidFill>
                <a:latin typeface="DejaVu Sans"/>
                <a:cs typeface="DejaVu Sans"/>
              </a:rPr>
              <a:t>Declaring</a:t>
            </a:r>
            <a:r>
              <a:rPr dirty="0" sz="1700" spc="-1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d1d5db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d1d5db"/>
                </a:solidFill>
                <a:latin typeface="DejaVu Sans"/>
                <a:cs typeface="DejaVu Sans"/>
              </a:rPr>
              <a:t>Initializing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4935" y="4650673"/>
            <a:ext cx="143377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 spc="-66">
                <a:solidFill>
                  <a:srgbClr val="d1d5db"/>
                </a:solidFill>
                <a:latin typeface="DejaVu Sans"/>
                <a:cs typeface="DejaVu Sans"/>
              </a:rPr>
              <a:t>Text</a:t>
            </a:r>
            <a:r>
              <a:rPr dirty="0" sz="1350" spc="6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(String)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89352" y="4650673"/>
            <a:ext cx="3090670" cy="8368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ade80"/>
                </a:solidFill>
                <a:latin typeface="DejaVu Sans"/>
                <a:cs typeface="DejaVu Sans"/>
              </a:rPr>
              <a:t>✓</a:t>
            </a:r>
            <a:r>
              <a:rPr dirty="0" sz="1350" spc="328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Deﬁne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name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type.</a:t>
            </a:r>
          </a:p>
          <a:p>
            <a:pPr marL="0" marR="0">
              <a:lnSpc>
                <a:spcPts val="1564"/>
              </a:lnSpc>
              <a:spcBef>
                <a:spcPts val="835"/>
              </a:spcBef>
              <a:spcAft>
                <a:spcPts val="0"/>
              </a:spcAft>
            </a:pPr>
            <a:r>
              <a:rPr dirty="0" sz="1350">
                <a:solidFill>
                  <a:srgbClr val="4ade80"/>
                </a:solidFill>
                <a:latin typeface="DejaVu Sans"/>
                <a:cs typeface="DejaVu Sans"/>
              </a:rPr>
              <a:t>✓</a:t>
            </a:r>
            <a:r>
              <a:rPr dirty="0" sz="1350" spc="328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Assign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initial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(default)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value.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4ade80"/>
                </a:solidFill>
                <a:latin typeface="DejaVu Sans"/>
                <a:cs typeface="DejaVu Sans"/>
              </a:rPr>
              <a:t>✓</a:t>
            </a:r>
            <a:r>
              <a:rPr dirty="0" sz="1350" spc="328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Allocates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memory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data.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4935" y="4955473"/>
            <a:ext cx="2203055" cy="8273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Number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(Int,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Double)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Boolean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30">
                <a:solidFill>
                  <a:srgbClr val="d1d5db"/>
                </a:solidFill>
                <a:latin typeface="DejaVu Sans"/>
                <a:cs typeface="DejaVu Sans"/>
              </a:rPr>
              <a:t>(True/False)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DateTime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Arrays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4935" y="5957107"/>
            <a:ext cx="110429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TYPE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SAFETY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82675" y="5957107"/>
            <a:ext cx="167088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20" b="1">
                <a:solidFill>
                  <a:srgbClr val="d1d5db"/>
                </a:solidFill>
                <a:latin typeface="DejaVu Sans"/>
                <a:cs typeface="DejaVu Sans"/>
              </a:rPr>
              <a:t>VALUE</a:t>
            </a:r>
            <a:r>
              <a:rPr dirty="0" sz="1000" spc="28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SIGNIFICANCE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89352" y="5957107"/>
            <a:ext cx="149602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WORKFLOW</a:t>
            </a:r>
            <a:r>
              <a:rPr dirty="0" sz="1000" spc="1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BUILD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088807" y="5957107"/>
            <a:ext cx="173250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MEMORY</a:t>
            </a:r>
            <a:r>
              <a:rPr dirty="0" sz="1000" spc="12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ALLOCATION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70074" y="6868489"/>
            <a:ext cx="273295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d1d5db"/>
                </a:solidFill>
                <a:latin typeface="DejaVu Sans"/>
                <a:cs typeface="DejaVu Sans"/>
              </a:rPr>
              <a:t>Understanding</a:t>
            </a:r>
            <a:r>
              <a:rPr dirty="0" sz="17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d1d5db"/>
                </a:solidFill>
                <a:latin typeface="DejaVu Sans"/>
                <a:cs typeface="DejaVu Sans"/>
              </a:rPr>
              <a:t>Scope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941640" y="6868489"/>
            <a:ext cx="186768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d1d5db"/>
                </a:solidFill>
                <a:latin typeface="DejaVu Sans"/>
                <a:cs typeface="DejaVu Sans"/>
              </a:rPr>
              <a:t>Best</a:t>
            </a:r>
            <a:r>
              <a:rPr dirty="0" sz="17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d1d5db"/>
                </a:solidFill>
                <a:latin typeface="DejaVu Sans"/>
                <a:cs typeface="DejaVu Sans"/>
              </a:rPr>
              <a:t>Practices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27174" y="7317672"/>
            <a:ext cx="4604327" cy="579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"Local: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Limited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its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container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(e.g.,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Sequence)."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"Global: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Accessible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throughout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entire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20">
                <a:solidFill>
                  <a:srgbClr val="d1d5db"/>
                </a:solidFill>
                <a:latin typeface="DejaVu Sans"/>
                <a:cs typeface="DejaVu Sans"/>
              </a:rPr>
              <a:t>workﬂow."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517926" y="7317672"/>
            <a:ext cx="4077174" cy="8368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Use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descriptive,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clear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naming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conventions.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Prefer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local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scope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avoid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conﬂicts.</a:t>
            </a:r>
          </a:p>
          <a:p>
            <a:pPr marL="0" marR="0">
              <a:lnSpc>
                <a:spcPts val="1564"/>
              </a:lnSpc>
              <a:spcBef>
                <a:spcPts val="835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Initialize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variables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declaration.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517926" y="8213022"/>
            <a:ext cx="343490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350" spc="757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Manage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variable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lifetime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23">
                <a:solidFill>
                  <a:srgbClr val="d1d5db"/>
                </a:solidFill>
                <a:latin typeface="DejaVu Sans"/>
                <a:cs typeface="DejaVu Sans"/>
              </a:rPr>
              <a:t>eﬃciently.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6360" y="8624106"/>
            <a:ext cx="61739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LOCAL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62670" y="8624106"/>
            <a:ext cx="72609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GLOBAL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187624" y="8624106"/>
            <a:ext cx="98318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46" b="1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000" spc="55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FLOW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517926" y="8624106"/>
            <a:ext cx="121041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CODE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QUALITY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831781" y="8624106"/>
            <a:ext cx="142830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MAINTAINABILITY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130027" y="9375827"/>
            <a:ext cx="808418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"Best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practices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naming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variables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31">
                <a:solidFill>
                  <a:srgbClr val="9ca3af"/>
                </a:solidFill>
                <a:latin typeface="DejaVu Sans"/>
                <a:cs typeface="DejaVu Sans"/>
              </a:rPr>
              <a:t>make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them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easier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to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distinguish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manage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in</a:t>
            </a:r>
            <a:r>
              <a:rPr dirty="0" sz="1200" spc="-17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complex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workﬂows."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223098" y="9748056"/>
            <a:ext cx="59506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UiPath</a:t>
            </a:r>
            <a:r>
              <a:rPr dirty="0" sz="1000" spc="11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Documentation,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roboautomator.com,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forum.uipath.com,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stackoverﬂow.com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11718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77776" y="333300"/>
            <a:ext cx="8388740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ff6e00"/>
                </a:solidFill>
                <a:latin typeface="DejaVu Sans"/>
                <a:cs typeface="DejaVu Sans"/>
              </a:rPr>
              <a:t>Collections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:</a:t>
            </a:r>
            <a:r>
              <a:rPr dirty="0" sz="4050" spc="-14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d3d3d3"/>
                </a:solidFill>
                <a:latin typeface="DejaVu Sans"/>
                <a:cs typeface="DejaVu Sans"/>
              </a:rPr>
              <a:t>Organizing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85581" y="1343988"/>
            <a:ext cx="172240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d3d3d3"/>
                </a:solidFill>
                <a:latin typeface="DejaVu Sans"/>
                <a:cs typeface="DejaVu Sans"/>
              </a:rPr>
              <a:t>Lists</a:t>
            </a:r>
            <a:r>
              <a:rPr dirty="0" sz="17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d3d3d3"/>
                </a:solidFill>
                <a:latin typeface="DejaVu Sans"/>
                <a:cs typeface="DejaVu Sans"/>
              </a:rPr>
              <a:t>/</a:t>
            </a:r>
            <a:r>
              <a:rPr dirty="0" sz="1700" spc="-15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23" b="1">
                <a:solidFill>
                  <a:srgbClr val="d3d3d3"/>
                </a:solidFill>
                <a:latin typeface="DejaVu Sans"/>
                <a:cs typeface="DejaVu Sans"/>
              </a:rPr>
              <a:t>Arrays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97198" y="1552029"/>
            <a:ext cx="304002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4" b="1">
                <a:solidFill>
                  <a:srgbClr val="d3d3d3"/>
                </a:solidFill>
                <a:latin typeface="DejaVu Sans"/>
                <a:cs typeface="DejaVu Sans"/>
              </a:rPr>
              <a:t>Why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-55" b="1">
                <a:solidFill>
                  <a:srgbClr val="d3d3d3"/>
                </a:solidFill>
                <a:latin typeface="DejaVu Sans"/>
                <a:cs typeface="DejaVu Sans"/>
              </a:rPr>
              <a:t>We</a:t>
            </a:r>
            <a:r>
              <a:rPr dirty="0" sz="2000" spc="7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Need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Them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85581" y="1678873"/>
            <a:ext cx="5341141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2">
                <a:solidFill>
                  <a:srgbClr val="9ca3af"/>
                </a:solidFill>
                <a:latin typeface="DejaVu Sans"/>
                <a:cs typeface="DejaVu Sans"/>
              </a:rPr>
              <a:t>Ordered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sequences,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mutable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(changeable),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accessed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by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index.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5084" y="2163893"/>
            <a:ext cx="366707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-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Eﬃciently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manage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multiple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values.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92142" y="2309032"/>
            <a:ext cx="73065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Indexed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68739" y="2309032"/>
            <a:ext cx="111460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Dynamic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Size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5084" y="2544893"/>
            <a:ext cx="3733639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-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Handle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structured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unstructured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85581" y="3048963"/>
            <a:ext cx="245833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d3d3d3"/>
                </a:solidFill>
                <a:latin typeface="DejaVu Sans"/>
                <a:cs typeface="DejaVu Sans"/>
              </a:rPr>
              <a:t>Dictionaries</a:t>
            </a:r>
            <a:r>
              <a:rPr dirty="0" sz="17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d3d3d3"/>
                </a:solidFill>
                <a:latin typeface="DejaVu Sans"/>
                <a:cs typeface="DejaVu Sans"/>
              </a:rPr>
              <a:t>/</a:t>
            </a:r>
            <a:r>
              <a:rPr dirty="0" sz="1700" spc="-15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d3d3d3"/>
                </a:solidFill>
                <a:latin typeface="DejaVu Sans"/>
                <a:cs typeface="DejaVu Sans"/>
              </a:rPr>
              <a:t>Maps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5084" y="3230693"/>
            <a:ext cx="3401586" cy="642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-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Streamline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40">
                <a:solidFill>
                  <a:srgbClr val="d3d3d3"/>
                </a:solidFill>
                <a:latin typeface="DejaVu Sans"/>
                <a:cs typeface="DejaVu Sans"/>
              </a:rPr>
              <a:t>RPA</a:t>
            </a:r>
            <a:r>
              <a:rPr dirty="0" sz="1500" spc="5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workﬂow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logic.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-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Enhance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processing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speed.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085581" y="3383848"/>
            <a:ext cx="567577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20">
                <a:solidFill>
                  <a:srgbClr val="9ca3af"/>
                </a:solidFill>
                <a:latin typeface="DejaVu Sans"/>
                <a:cs typeface="DejaVu Sans"/>
              </a:rPr>
              <a:t>Key-value</a:t>
            </a:r>
            <a:r>
              <a:rPr dirty="0" sz="1350" spc="12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pairs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structured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data,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oﬀering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fast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retrieval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by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 spc="-62">
                <a:solidFill>
                  <a:srgbClr val="9ca3af"/>
                </a:solidFill>
                <a:latin typeface="DejaVu Sans"/>
                <a:cs typeface="DejaVu Sans"/>
              </a:rPr>
              <a:t>key.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192142" y="3756832"/>
            <a:ext cx="97331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Associative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311329" y="3756832"/>
            <a:ext cx="113254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Keyed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Access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085581" y="4496763"/>
            <a:ext cx="67975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d3d3d3"/>
                </a:solidFill>
                <a:latin typeface="DejaVu Sans"/>
                <a:cs typeface="DejaVu Sans"/>
              </a:rPr>
              <a:t>Sets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085581" y="4841173"/>
            <a:ext cx="472117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0">
                <a:solidFill>
                  <a:srgbClr val="9ca3af"/>
                </a:solidFill>
                <a:latin typeface="DejaVu Sans"/>
                <a:cs typeface="DejaVu Sans"/>
              </a:rPr>
              <a:t>Unordered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collections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of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unique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elements,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perfect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membership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tests.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73633" y="5346752"/>
            <a:ext cx="139300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3d3d3"/>
                </a:solidFill>
                <a:latin typeface="DejaVu Sans"/>
                <a:cs typeface="DejaVu Sans"/>
              </a:rPr>
              <a:t>Structuring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726084" y="5346752"/>
            <a:ext cx="120523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54">
                <a:solidFill>
                  <a:srgbClr val="d3d3d3"/>
                </a:solidFill>
                <a:latin typeface="DejaVu Sans"/>
                <a:cs typeface="DejaVu Sans"/>
              </a:rPr>
              <a:t>RPA</a:t>
            </a:r>
            <a:r>
              <a:rPr dirty="0" sz="1200" spc="28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DejaVu Sans"/>
                <a:cs typeface="DejaVu Sans"/>
              </a:rPr>
              <a:t>Eﬃciency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192142" y="5461807"/>
            <a:ext cx="115516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No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Duplicates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493346" y="5461807"/>
            <a:ext cx="104444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Membership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36984" y="6371680"/>
            <a:ext cx="309087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d3d3d3"/>
                </a:solidFill>
                <a:latin typeface="DejaVu Sans"/>
                <a:cs typeface="DejaVu Sans"/>
              </a:rPr>
              <a:t>Common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Operations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50862" y="6850193"/>
            <a:ext cx="2063019" cy="1033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Adding</a:t>
            </a:r>
            <a:r>
              <a:rPr dirty="0" sz="1500" spc="1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elements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Removing</a:t>
            </a:r>
            <a:r>
              <a:rPr dirty="0" sz="1500" spc="14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elements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Accessing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164609" y="7659064"/>
            <a:ext cx="4884293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7" b="1">
                <a:solidFill>
                  <a:srgbClr val="d3d3d3"/>
                </a:solidFill>
                <a:latin typeface="DejaVu Sans"/>
                <a:cs typeface="DejaVu Sans"/>
              </a:rPr>
              <a:t>Transforming</a:t>
            </a:r>
            <a:r>
              <a:rPr dirty="0" sz="17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d3d3d3"/>
                </a:solidFill>
                <a:latin typeface="DejaVu Sans"/>
                <a:cs typeface="DejaVu Sans"/>
              </a:rPr>
              <a:t>Raw</a:t>
            </a:r>
            <a:r>
              <a:rPr dirty="0" sz="1700" spc="-1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7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d3d3d3"/>
                </a:solidFill>
                <a:latin typeface="DejaVu Sans"/>
                <a:cs typeface="DejaVu Sans"/>
              </a:rPr>
              <a:t>into</a:t>
            </a:r>
            <a:r>
              <a:rPr dirty="0" sz="1700" spc="-1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d3d3d3"/>
                </a:solidFill>
                <a:latin typeface="DejaVu Sans"/>
                <a:cs typeface="DejaVu Sans"/>
              </a:rPr>
              <a:t>Structured</a:t>
            </a:r>
          </a:p>
          <a:p>
            <a:pPr marL="165720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0" b="1">
                <a:solidFill>
                  <a:srgbClr val="d3d3d3"/>
                </a:solidFill>
                <a:latin typeface="DejaVu Sans"/>
                <a:cs typeface="DejaVu Sans"/>
              </a:rPr>
              <a:t>Intelligence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50862" y="8002718"/>
            <a:ext cx="2021400" cy="652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Iterating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through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Checking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existence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687615" y="8842427"/>
            <a:ext cx="1096715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DejaVu Sans"/>
                <a:cs typeface="DejaVu Sans"/>
              </a:rPr>
              <a:t>Unorganized</a:t>
            </a:r>
          </a:p>
          <a:p>
            <a:pPr marL="292447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210995" y="8842427"/>
            <a:ext cx="968949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d3d3d3"/>
                </a:solidFill>
                <a:latin typeface="DejaVu Sans"/>
                <a:cs typeface="DejaVu Sans"/>
              </a:rPr>
              <a:t>Collections</a:t>
            </a:r>
          </a:p>
          <a:p>
            <a:pPr marL="212973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8">
                <a:solidFill>
                  <a:srgbClr val="d3d3d3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0609212" y="8842427"/>
            <a:ext cx="918922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DejaVu Sans"/>
                <a:cs typeface="DejaVu Sans"/>
              </a:rPr>
              <a:t>Organized</a:t>
            </a:r>
          </a:p>
          <a:p>
            <a:pPr marL="90041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1">
                <a:solidFill>
                  <a:srgbClr val="d3d3d3"/>
                </a:solidFill>
                <a:latin typeface="DejaVu Sans"/>
                <a:cs typeface="DejaVu Sans"/>
              </a:rPr>
              <a:t>Insights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64976" y="10290227"/>
            <a:ext cx="111749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Manipulation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070943" y="10290227"/>
            <a:ext cx="60629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Query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779840" y="10833906"/>
            <a:ext cx="413785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UiPath</a:t>
            </a:r>
            <a:r>
              <a:rPr dirty="0" sz="1000" spc="11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Documentation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Portal,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Mastering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UiPath</a:t>
            </a:r>
            <a:r>
              <a:rPr dirty="0" sz="1000" spc="11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Studio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11718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77776" y="333300"/>
            <a:ext cx="8388740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ff6e00"/>
                </a:solidFill>
                <a:latin typeface="DejaVu Sans"/>
                <a:cs typeface="DejaVu Sans"/>
              </a:rPr>
              <a:t>Collections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:</a:t>
            </a:r>
            <a:r>
              <a:rPr dirty="0" sz="4050" spc="-14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d3d3d3"/>
                </a:solidFill>
                <a:latin typeface="DejaVu Sans"/>
                <a:cs typeface="DejaVu Sans"/>
              </a:rPr>
              <a:t>Organizing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85581" y="1343988"/>
            <a:ext cx="172240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d3d3d3"/>
                </a:solidFill>
                <a:latin typeface="DejaVu Sans"/>
                <a:cs typeface="DejaVu Sans"/>
              </a:rPr>
              <a:t>Lists</a:t>
            </a:r>
            <a:r>
              <a:rPr dirty="0" sz="17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d3d3d3"/>
                </a:solidFill>
                <a:latin typeface="DejaVu Sans"/>
                <a:cs typeface="DejaVu Sans"/>
              </a:rPr>
              <a:t>/</a:t>
            </a:r>
            <a:r>
              <a:rPr dirty="0" sz="1700" spc="-15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23" b="1">
                <a:solidFill>
                  <a:srgbClr val="d3d3d3"/>
                </a:solidFill>
                <a:latin typeface="DejaVu Sans"/>
                <a:cs typeface="DejaVu Sans"/>
              </a:rPr>
              <a:t>Arrays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97198" y="1552029"/>
            <a:ext cx="304002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4" b="1">
                <a:solidFill>
                  <a:srgbClr val="d3d3d3"/>
                </a:solidFill>
                <a:latin typeface="DejaVu Sans"/>
                <a:cs typeface="DejaVu Sans"/>
              </a:rPr>
              <a:t>Why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-55" b="1">
                <a:solidFill>
                  <a:srgbClr val="d3d3d3"/>
                </a:solidFill>
                <a:latin typeface="DejaVu Sans"/>
                <a:cs typeface="DejaVu Sans"/>
              </a:rPr>
              <a:t>We</a:t>
            </a:r>
            <a:r>
              <a:rPr dirty="0" sz="2000" spc="7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Need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Them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85581" y="1678873"/>
            <a:ext cx="5341141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2">
                <a:solidFill>
                  <a:srgbClr val="9ca3af"/>
                </a:solidFill>
                <a:latin typeface="DejaVu Sans"/>
                <a:cs typeface="DejaVu Sans"/>
              </a:rPr>
              <a:t>Ordered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sequences,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mutable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(changeable),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accessed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by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index.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5084" y="2163893"/>
            <a:ext cx="366707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-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Eﬃciently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manage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multiple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values.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92142" y="2309032"/>
            <a:ext cx="73065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Indexed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68739" y="2309032"/>
            <a:ext cx="111460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Dynamic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Size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5084" y="2544893"/>
            <a:ext cx="3733639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-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Handle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structured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unstructured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85581" y="3048963"/>
            <a:ext cx="245833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d3d3d3"/>
                </a:solidFill>
                <a:latin typeface="DejaVu Sans"/>
                <a:cs typeface="DejaVu Sans"/>
              </a:rPr>
              <a:t>Dictionaries</a:t>
            </a:r>
            <a:r>
              <a:rPr dirty="0" sz="17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d3d3d3"/>
                </a:solidFill>
                <a:latin typeface="DejaVu Sans"/>
                <a:cs typeface="DejaVu Sans"/>
              </a:rPr>
              <a:t>/</a:t>
            </a:r>
            <a:r>
              <a:rPr dirty="0" sz="1700" spc="-15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d3d3d3"/>
                </a:solidFill>
                <a:latin typeface="DejaVu Sans"/>
                <a:cs typeface="DejaVu Sans"/>
              </a:rPr>
              <a:t>Maps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5084" y="3230693"/>
            <a:ext cx="3401586" cy="642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-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Streamline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40">
                <a:solidFill>
                  <a:srgbClr val="d3d3d3"/>
                </a:solidFill>
                <a:latin typeface="DejaVu Sans"/>
                <a:cs typeface="DejaVu Sans"/>
              </a:rPr>
              <a:t>RPA</a:t>
            </a:r>
            <a:r>
              <a:rPr dirty="0" sz="1500" spc="5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workﬂow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logic.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-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Enhance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processing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speed.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085581" y="3383848"/>
            <a:ext cx="567577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20">
                <a:solidFill>
                  <a:srgbClr val="9ca3af"/>
                </a:solidFill>
                <a:latin typeface="DejaVu Sans"/>
                <a:cs typeface="DejaVu Sans"/>
              </a:rPr>
              <a:t>Key-value</a:t>
            </a:r>
            <a:r>
              <a:rPr dirty="0" sz="1350" spc="12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pairs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structured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data,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oﬀering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fast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retrieval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by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 spc="-62">
                <a:solidFill>
                  <a:srgbClr val="9ca3af"/>
                </a:solidFill>
                <a:latin typeface="DejaVu Sans"/>
                <a:cs typeface="DejaVu Sans"/>
              </a:rPr>
              <a:t>key.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192142" y="3756832"/>
            <a:ext cx="97331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Associative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311329" y="3756832"/>
            <a:ext cx="113254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Keyed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Access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085581" y="4496763"/>
            <a:ext cx="67975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d3d3d3"/>
                </a:solidFill>
                <a:latin typeface="DejaVu Sans"/>
                <a:cs typeface="DejaVu Sans"/>
              </a:rPr>
              <a:t>Sets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085581" y="4841173"/>
            <a:ext cx="472117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0">
                <a:solidFill>
                  <a:srgbClr val="9ca3af"/>
                </a:solidFill>
                <a:latin typeface="DejaVu Sans"/>
                <a:cs typeface="DejaVu Sans"/>
              </a:rPr>
              <a:t>Unordered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collections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of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unique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elements,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perfect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membership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tests.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73633" y="5346752"/>
            <a:ext cx="139300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3d3d3"/>
                </a:solidFill>
                <a:latin typeface="DejaVu Sans"/>
                <a:cs typeface="DejaVu Sans"/>
              </a:rPr>
              <a:t>Structuring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726084" y="5346752"/>
            <a:ext cx="120523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54">
                <a:solidFill>
                  <a:srgbClr val="d3d3d3"/>
                </a:solidFill>
                <a:latin typeface="DejaVu Sans"/>
                <a:cs typeface="DejaVu Sans"/>
              </a:rPr>
              <a:t>RPA</a:t>
            </a:r>
            <a:r>
              <a:rPr dirty="0" sz="1200" spc="28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DejaVu Sans"/>
                <a:cs typeface="DejaVu Sans"/>
              </a:rPr>
              <a:t>Eﬃciency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192142" y="5461807"/>
            <a:ext cx="115516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No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Duplicates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493346" y="5461807"/>
            <a:ext cx="104444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Membership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36984" y="6371680"/>
            <a:ext cx="309087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d3d3d3"/>
                </a:solidFill>
                <a:latin typeface="DejaVu Sans"/>
                <a:cs typeface="DejaVu Sans"/>
              </a:rPr>
              <a:t>Common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Operations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50862" y="6850193"/>
            <a:ext cx="2063019" cy="1033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Adding</a:t>
            </a:r>
            <a:r>
              <a:rPr dirty="0" sz="1500" spc="1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elements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Removing</a:t>
            </a:r>
            <a:r>
              <a:rPr dirty="0" sz="1500" spc="14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elements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Accessing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164609" y="7659064"/>
            <a:ext cx="4884293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7" b="1">
                <a:solidFill>
                  <a:srgbClr val="d3d3d3"/>
                </a:solidFill>
                <a:latin typeface="DejaVu Sans"/>
                <a:cs typeface="DejaVu Sans"/>
              </a:rPr>
              <a:t>Transforming</a:t>
            </a:r>
            <a:r>
              <a:rPr dirty="0" sz="17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d3d3d3"/>
                </a:solidFill>
                <a:latin typeface="DejaVu Sans"/>
                <a:cs typeface="DejaVu Sans"/>
              </a:rPr>
              <a:t>Raw</a:t>
            </a:r>
            <a:r>
              <a:rPr dirty="0" sz="1700" spc="-1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7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d3d3d3"/>
                </a:solidFill>
                <a:latin typeface="DejaVu Sans"/>
                <a:cs typeface="DejaVu Sans"/>
              </a:rPr>
              <a:t>into</a:t>
            </a:r>
            <a:r>
              <a:rPr dirty="0" sz="1700" spc="-1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d3d3d3"/>
                </a:solidFill>
                <a:latin typeface="DejaVu Sans"/>
                <a:cs typeface="DejaVu Sans"/>
              </a:rPr>
              <a:t>Structured</a:t>
            </a:r>
          </a:p>
          <a:p>
            <a:pPr marL="165720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0" b="1">
                <a:solidFill>
                  <a:srgbClr val="d3d3d3"/>
                </a:solidFill>
                <a:latin typeface="DejaVu Sans"/>
                <a:cs typeface="DejaVu Sans"/>
              </a:rPr>
              <a:t>Intelligence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50862" y="8002718"/>
            <a:ext cx="2021400" cy="652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Iterating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through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Checking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existence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687615" y="8842427"/>
            <a:ext cx="1096715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DejaVu Sans"/>
                <a:cs typeface="DejaVu Sans"/>
              </a:rPr>
              <a:t>Unorganized</a:t>
            </a:r>
          </a:p>
          <a:p>
            <a:pPr marL="292447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210995" y="8842427"/>
            <a:ext cx="968949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d3d3d3"/>
                </a:solidFill>
                <a:latin typeface="DejaVu Sans"/>
                <a:cs typeface="DejaVu Sans"/>
              </a:rPr>
              <a:t>Collections</a:t>
            </a:r>
          </a:p>
          <a:p>
            <a:pPr marL="212973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8">
                <a:solidFill>
                  <a:srgbClr val="d3d3d3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0609212" y="8842427"/>
            <a:ext cx="918922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DejaVu Sans"/>
                <a:cs typeface="DejaVu Sans"/>
              </a:rPr>
              <a:t>Organized</a:t>
            </a:r>
          </a:p>
          <a:p>
            <a:pPr marL="90041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1">
                <a:solidFill>
                  <a:srgbClr val="d3d3d3"/>
                </a:solidFill>
                <a:latin typeface="DejaVu Sans"/>
                <a:cs typeface="DejaVu Sans"/>
              </a:rPr>
              <a:t>Insights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64976" y="10290227"/>
            <a:ext cx="111749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Manipulation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070943" y="10290227"/>
            <a:ext cx="60629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Query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779840" y="10833906"/>
            <a:ext cx="413785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UiPath</a:t>
            </a:r>
            <a:r>
              <a:rPr dirty="0" sz="1000" spc="11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Documentation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Portal,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Mastering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UiPath</a:t>
            </a:r>
            <a:r>
              <a:rPr dirty="0" sz="1000" spc="11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Studio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05722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920411" y="319843"/>
            <a:ext cx="1043003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ff6e00"/>
                </a:solidFill>
                <a:latin typeface="DejaVu Sans"/>
                <a:cs typeface="DejaVu Sans"/>
              </a:rPr>
              <a:t>04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357385"/>
            <a:ext cx="9238320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d3d3d3"/>
                </a:solidFill>
                <a:latin typeface="DejaVu Sans"/>
                <a:cs typeface="DejaVu Sans"/>
              </a:rPr>
              <a:t>Arguments:</a:t>
            </a:r>
            <a:r>
              <a:rPr dirty="0" sz="3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d3d3d3"/>
                </a:solidFill>
                <a:latin typeface="DejaVu Sans"/>
                <a:cs typeface="DejaVu Sans"/>
              </a:rPr>
              <a:t>Purpose</a:t>
            </a:r>
            <a:r>
              <a:rPr dirty="0" sz="3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3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d3d3d3"/>
                </a:solidFill>
                <a:latin typeface="DejaVu Sans"/>
                <a:cs typeface="DejaVu Sans"/>
              </a:rPr>
              <a:t>Use</a:t>
            </a:r>
            <a:r>
              <a:rPr dirty="0" sz="3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d3d3d3"/>
                </a:solidFill>
                <a:latin typeface="DejaVu Sans"/>
                <a:cs typeface="DejaVu Sans"/>
              </a:rPr>
              <a:t>in</a:t>
            </a:r>
            <a:r>
              <a:rPr dirty="0" sz="3000" spc="17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d3d3d3"/>
                </a:solidFill>
                <a:latin typeface="DejaVu Sans"/>
                <a:cs typeface="DejaVu Sans"/>
              </a:rPr>
              <a:t>Functions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59098" y="1676362"/>
            <a:ext cx="329861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d3d3d3"/>
                </a:solidFill>
                <a:latin typeface="DejaVu Sans"/>
                <a:cs typeface="DejaVu Sans"/>
              </a:rPr>
              <a:t>What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are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Arguments?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44654" y="1676362"/>
            <a:ext cx="326098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Positional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2335851"/>
            <a:ext cx="515338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values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provided</a:t>
            </a:r>
            <a:r>
              <a:rPr dirty="0" sz="1500" spc="1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to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</a:t>
            </a:r>
            <a:r>
              <a:rPr dirty="0" sz="1500" spc="1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function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when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called.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22540" y="2335851"/>
            <a:ext cx="4132225" cy="1294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7">
                <a:solidFill>
                  <a:srgbClr val="d3d3d3"/>
                </a:solidFill>
                <a:latin typeface="DejaVu Sans"/>
                <a:cs typeface="DejaVu Sans"/>
              </a:rPr>
              <a:t>Values</a:t>
            </a:r>
            <a:r>
              <a:rPr dirty="0" sz="1500" spc="27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10">
                <a:solidFill>
                  <a:srgbClr val="d3d3d3"/>
                </a:solidFill>
                <a:latin typeface="DejaVu Sans"/>
                <a:cs typeface="DejaVu Sans"/>
              </a:rPr>
              <a:t>are</a:t>
            </a:r>
            <a:r>
              <a:rPr dirty="0" sz="1500" spc="2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assigned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based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on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their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21">
                <a:solidFill>
                  <a:srgbClr val="d3d3d3"/>
                </a:solidFill>
                <a:latin typeface="DejaVu Sans"/>
                <a:cs typeface="DejaVu Sans"/>
              </a:rPr>
              <a:t>order.</a:t>
            </a:r>
          </a:p>
          <a:p>
            <a:pPr marL="298549" marR="0">
              <a:lnSpc>
                <a:spcPts val="1564"/>
              </a:lnSpc>
              <a:spcBef>
                <a:spcPts val="2470"/>
              </a:spcBef>
              <a:spcAft>
                <a:spcPts val="0"/>
              </a:spcAft>
            </a:pPr>
            <a:r>
              <a:rPr dirty="0" sz="1350" spc="-17" b="1">
                <a:solidFill>
                  <a:srgbClr val="d3d3d3"/>
                </a:solidFill>
                <a:latin typeface="DejaVu Sans"/>
                <a:cs typeface="DejaVu Sans"/>
              </a:rPr>
              <a:t>Key</a:t>
            </a:r>
            <a:r>
              <a:rPr dirty="0" sz="1350" spc="1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3d3d3"/>
                </a:solidFill>
                <a:latin typeface="DejaVu Sans"/>
                <a:cs typeface="DejaVu Sans"/>
              </a:rPr>
              <a:t>Point:</a:t>
            </a:r>
            <a:r>
              <a:rPr dirty="0" sz="1350" spc="54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3d3d3"/>
                </a:solidFill>
                <a:latin typeface="DejaVu Sans"/>
                <a:cs typeface="DejaVu Sans"/>
              </a:rPr>
              <a:t>Order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matters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 spc="-18">
                <a:solidFill>
                  <a:srgbClr val="d3d3d3"/>
                </a:solidFill>
                <a:latin typeface="DejaVu Sans"/>
                <a:cs typeface="DejaVu Sans"/>
              </a:rPr>
              <a:t>signiﬁcantly.</a:t>
            </a:r>
          </a:p>
          <a:p>
            <a:pPr marL="0" marR="0">
              <a:lnSpc>
                <a:spcPts val="1564"/>
              </a:lnSpc>
              <a:spcBef>
                <a:spcPts val="2485"/>
              </a:spcBef>
              <a:spcAft>
                <a:spcPts val="0"/>
              </a:spcAft>
            </a:pP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Example: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35533" y="2879530"/>
            <a:ext cx="26670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23">
                <a:solidFill>
                  <a:srgbClr val="d3d3d3"/>
                </a:solidFill>
                <a:latin typeface="DejaVu Sans"/>
                <a:cs typeface="DejaVu Sans"/>
              </a:rPr>
              <a:t>Pass</a:t>
            </a:r>
            <a:r>
              <a:rPr dirty="0" sz="1350" spc="18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between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workﬂows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5533" y="3431980"/>
            <a:ext cx="302571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Enables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modular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reusable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code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07819" y="3770878"/>
            <a:ext cx="2123193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print_info("John",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30)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07819" y="3980428"/>
            <a:ext cx="2660670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//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"John"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is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name,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30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is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age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59098" y="4752937"/>
            <a:ext cx="400169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Parameters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vs.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244654" y="5267287"/>
            <a:ext cx="308487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Keyword</a:t>
            </a:r>
            <a:r>
              <a:rPr dirty="0" sz="2000" spc="11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45641" y="5402901"/>
            <a:ext cx="140833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d3d3d3"/>
                </a:solidFill>
                <a:latin typeface="DejaVu Sans"/>
                <a:cs typeface="DejaVu Sans"/>
              </a:rPr>
              <a:t>Parameters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45641" y="5689405"/>
            <a:ext cx="344390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Placeholders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in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the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function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deﬁnition.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22540" y="5917251"/>
            <a:ext cx="4442720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7">
                <a:solidFill>
                  <a:srgbClr val="d3d3d3"/>
                </a:solidFill>
                <a:latin typeface="DejaVu Sans"/>
                <a:cs typeface="DejaVu Sans"/>
              </a:rPr>
              <a:t>Values</a:t>
            </a:r>
            <a:r>
              <a:rPr dirty="0" sz="1500" spc="27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10">
                <a:solidFill>
                  <a:srgbClr val="d3d3d3"/>
                </a:solidFill>
                <a:latin typeface="DejaVu Sans"/>
                <a:cs typeface="DejaVu Sans"/>
              </a:rPr>
              <a:t>are</a:t>
            </a:r>
            <a:r>
              <a:rPr dirty="0" sz="1500" spc="2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assigned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by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explicitly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naming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the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parameter.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88206" y="6028303"/>
            <a:ext cx="1944034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def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greet_user(name)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45641" y="6469701"/>
            <a:ext cx="1342986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45641" y="6756205"/>
            <a:ext cx="404460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Actual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values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passed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during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the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function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call.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21089" y="6756205"/>
            <a:ext cx="51169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7" b="1">
                <a:solidFill>
                  <a:srgbClr val="d3d3d3"/>
                </a:solidFill>
                <a:latin typeface="DejaVu Sans"/>
                <a:cs typeface="DejaVu Sans"/>
              </a:rPr>
              <a:t>Key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932091" y="6756205"/>
            <a:ext cx="2714814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Oﬀers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ﬂexibility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improves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21">
                <a:solidFill>
                  <a:srgbClr val="d3d3d3"/>
                </a:solidFill>
                <a:latin typeface="DejaVu Sans"/>
                <a:cs typeface="DejaVu Sans"/>
              </a:rPr>
              <a:t>readability.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821089" y="7013380"/>
            <a:ext cx="72463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d3d3d3"/>
                </a:solidFill>
                <a:latin typeface="DejaVu Sans"/>
                <a:cs typeface="DejaVu Sans"/>
              </a:rPr>
              <a:t>Point: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88206" y="7095104"/>
            <a:ext cx="1855289" cy="2072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greet_user("Alice")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522540" y="7527730"/>
            <a:ext cx="95041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Example: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607819" y="7904729"/>
            <a:ext cx="2929408" cy="4263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print_info(age=30,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name="Jane")</a:t>
            </a:r>
          </a:p>
          <a:p>
            <a:pPr marL="0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//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Order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doesn't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matter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841128" y="9327201"/>
            <a:ext cx="8044650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"Arguments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10">
                <a:solidFill>
                  <a:srgbClr val="d3d3d3"/>
                </a:solidFill>
                <a:latin typeface="DejaVu Sans"/>
                <a:cs typeface="DejaVu Sans"/>
              </a:rPr>
              <a:t>are</a:t>
            </a:r>
            <a:r>
              <a:rPr dirty="0" sz="1500" spc="2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the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lifeblood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of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function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interaction,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enabling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dynamic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robust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automation."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558979" y="10148614"/>
            <a:ext cx="4572077" cy="358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Mastering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UiPath</a:t>
            </a:r>
            <a:r>
              <a:rPr dirty="0" sz="1000" spc="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Studio: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Variables</a:t>
            </a:r>
            <a:r>
              <a:rPr dirty="0" sz="1000" spc="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Arguments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Explained</a:t>
            </a:r>
          </a:p>
          <a:p>
            <a:pPr marL="10566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How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do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you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pass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UiPath</a:t>
            </a:r>
            <a:r>
              <a:rPr dirty="0" sz="1000" spc="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variables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between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sequences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and...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05722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920411" y="319843"/>
            <a:ext cx="1043003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ff6e00"/>
                </a:solidFill>
                <a:latin typeface="DejaVu Sans"/>
                <a:cs typeface="DejaVu Sans"/>
              </a:rPr>
              <a:t>04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357385"/>
            <a:ext cx="9238320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d3d3d3"/>
                </a:solidFill>
                <a:latin typeface="DejaVu Sans"/>
                <a:cs typeface="DejaVu Sans"/>
              </a:rPr>
              <a:t>Arguments:</a:t>
            </a:r>
            <a:r>
              <a:rPr dirty="0" sz="3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d3d3d3"/>
                </a:solidFill>
                <a:latin typeface="DejaVu Sans"/>
                <a:cs typeface="DejaVu Sans"/>
              </a:rPr>
              <a:t>Purpose</a:t>
            </a:r>
            <a:r>
              <a:rPr dirty="0" sz="3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3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d3d3d3"/>
                </a:solidFill>
                <a:latin typeface="DejaVu Sans"/>
                <a:cs typeface="DejaVu Sans"/>
              </a:rPr>
              <a:t>Use</a:t>
            </a:r>
            <a:r>
              <a:rPr dirty="0" sz="3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d3d3d3"/>
                </a:solidFill>
                <a:latin typeface="DejaVu Sans"/>
                <a:cs typeface="DejaVu Sans"/>
              </a:rPr>
              <a:t>in</a:t>
            </a:r>
            <a:r>
              <a:rPr dirty="0" sz="3000" spc="17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d3d3d3"/>
                </a:solidFill>
                <a:latin typeface="DejaVu Sans"/>
                <a:cs typeface="DejaVu Sans"/>
              </a:rPr>
              <a:t>Functions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59098" y="1676362"/>
            <a:ext cx="329861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d3d3d3"/>
                </a:solidFill>
                <a:latin typeface="DejaVu Sans"/>
                <a:cs typeface="DejaVu Sans"/>
              </a:rPr>
              <a:t>What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are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Arguments?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44654" y="1676362"/>
            <a:ext cx="326098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Positional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2335851"/>
            <a:ext cx="515338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values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provided</a:t>
            </a:r>
            <a:r>
              <a:rPr dirty="0" sz="1500" spc="1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to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</a:t>
            </a:r>
            <a:r>
              <a:rPr dirty="0" sz="1500" spc="1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function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when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called.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22540" y="2335851"/>
            <a:ext cx="4132225" cy="1294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7">
                <a:solidFill>
                  <a:srgbClr val="d3d3d3"/>
                </a:solidFill>
                <a:latin typeface="DejaVu Sans"/>
                <a:cs typeface="DejaVu Sans"/>
              </a:rPr>
              <a:t>Values</a:t>
            </a:r>
            <a:r>
              <a:rPr dirty="0" sz="1500" spc="27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10">
                <a:solidFill>
                  <a:srgbClr val="d3d3d3"/>
                </a:solidFill>
                <a:latin typeface="DejaVu Sans"/>
                <a:cs typeface="DejaVu Sans"/>
              </a:rPr>
              <a:t>are</a:t>
            </a:r>
            <a:r>
              <a:rPr dirty="0" sz="1500" spc="2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assigned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based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on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their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21">
                <a:solidFill>
                  <a:srgbClr val="d3d3d3"/>
                </a:solidFill>
                <a:latin typeface="DejaVu Sans"/>
                <a:cs typeface="DejaVu Sans"/>
              </a:rPr>
              <a:t>order.</a:t>
            </a:r>
          </a:p>
          <a:p>
            <a:pPr marL="298549" marR="0">
              <a:lnSpc>
                <a:spcPts val="1564"/>
              </a:lnSpc>
              <a:spcBef>
                <a:spcPts val="2470"/>
              </a:spcBef>
              <a:spcAft>
                <a:spcPts val="0"/>
              </a:spcAft>
            </a:pPr>
            <a:r>
              <a:rPr dirty="0" sz="1350" spc="-17" b="1">
                <a:solidFill>
                  <a:srgbClr val="d3d3d3"/>
                </a:solidFill>
                <a:latin typeface="DejaVu Sans"/>
                <a:cs typeface="DejaVu Sans"/>
              </a:rPr>
              <a:t>Key</a:t>
            </a:r>
            <a:r>
              <a:rPr dirty="0" sz="1350" spc="1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3d3d3"/>
                </a:solidFill>
                <a:latin typeface="DejaVu Sans"/>
                <a:cs typeface="DejaVu Sans"/>
              </a:rPr>
              <a:t>Point:</a:t>
            </a:r>
            <a:r>
              <a:rPr dirty="0" sz="1350" spc="54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3d3d3"/>
                </a:solidFill>
                <a:latin typeface="DejaVu Sans"/>
                <a:cs typeface="DejaVu Sans"/>
              </a:rPr>
              <a:t>Order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matters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 spc="-18">
                <a:solidFill>
                  <a:srgbClr val="d3d3d3"/>
                </a:solidFill>
                <a:latin typeface="DejaVu Sans"/>
                <a:cs typeface="DejaVu Sans"/>
              </a:rPr>
              <a:t>signiﬁcantly.</a:t>
            </a:r>
          </a:p>
          <a:p>
            <a:pPr marL="0" marR="0">
              <a:lnSpc>
                <a:spcPts val="1564"/>
              </a:lnSpc>
              <a:spcBef>
                <a:spcPts val="2485"/>
              </a:spcBef>
              <a:spcAft>
                <a:spcPts val="0"/>
              </a:spcAft>
            </a:pP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Example: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35533" y="2879530"/>
            <a:ext cx="266709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23">
                <a:solidFill>
                  <a:srgbClr val="d3d3d3"/>
                </a:solidFill>
                <a:latin typeface="DejaVu Sans"/>
                <a:cs typeface="DejaVu Sans"/>
              </a:rPr>
              <a:t>Pass</a:t>
            </a:r>
            <a:r>
              <a:rPr dirty="0" sz="1350" spc="18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between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workﬂows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5533" y="3431980"/>
            <a:ext cx="302571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Enables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modular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reusable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code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07819" y="3770878"/>
            <a:ext cx="2123193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print_info("John",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30)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07819" y="3980428"/>
            <a:ext cx="2660670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//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"John"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is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name,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30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is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age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59098" y="4752937"/>
            <a:ext cx="400169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Parameters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vs.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244654" y="5267287"/>
            <a:ext cx="308487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Keyword</a:t>
            </a:r>
            <a:r>
              <a:rPr dirty="0" sz="2000" spc="11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45641" y="5402901"/>
            <a:ext cx="140833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d3d3d3"/>
                </a:solidFill>
                <a:latin typeface="DejaVu Sans"/>
                <a:cs typeface="DejaVu Sans"/>
              </a:rPr>
              <a:t>Parameters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45641" y="5689405"/>
            <a:ext cx="344390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Placeholders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in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the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function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deﬁnition.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22540" y="5917251"/>
            <a:ext cx="4442720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7">
                <a:solidFill>
                  <a:srgbClr val="d3d3d3"/>
                </a:solidFill>
                <a:latin typeface="DejaVu Sans"/>
                <a:cs typeface="DejaVu Sans"/>
              </a:rPr>
              <a:t>Values</a:t>
            </a:r>
            <a:r>
              <a:rPr dirty="0" sz="1500" spc="27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10">
                <a:solidFill>
                  <a:srgbClr val="d3d3d3"/>
                </a:solidFill>
                <a:latin typeface="DejaVu Sans"/>
                <a:cs typeface="DejaVu Sans"/>
              </a:rPr>
              <a:t>are</a:t>
            </a:r>
            <a:r>
              <a:rPr dirty="0" sz="1500" spc="2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assigned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by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explicitly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naming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the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parameter.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88206" y="6028303"/>
            <a:ext cx="1944034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def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greet_user(name)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45641" y="6469701"/>
            <a:ext cx="1342986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45641" y="6756205"/>
            <a:ext cx="404460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Actual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values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passed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during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the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function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call.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21089" y="6756205"/>
            <a:ext cx="51169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7" b="1">
                <a:solidFill>
                  <a:srgbClr val="d3d3d3"/>
                </a:solidFill>
                <a:latin typeface="DejaVu Sans"/>
                <a:cs typeface="DejaVu Sans"/>
              </a:rPr>
              <a:t>Key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932091" y="6756205"/>
            <a:ext cx="2714814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Oﬀers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ﬂexibility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improves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21">
                <a:solidFill>
                  <a:srgbClr val="d3d3d3"/>
                </a:solidFill>
                <a:latin typeface="DejaVu Sans"/>
                <a:cs typeface="DejaVu Sans"/>
              </a:rPr>
              <a:t>readability.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821089" y="7013380"/>
            <a:ext cx="72463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d3d3d3"/>
                </a:solidFill>
                <a:latin typeface="DejaVu Sans"/>
                <a:cs typeface="DejaVu Sans"/>
              </a:rPr>
              <a:t>Point: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88206" y="7095104"/>
            <a:ext cx="1855289" cy="2072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greet_user("Alice")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522540" y="7527730"/>
            <a:ext cx="95041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3d3d3"/>
                </a:solidFill>
                <a:latin typeface="DejaVu Sans"/>
                <a:cs typeface="DejaVu Sans"/>
              </a:rPr>
              <a:t>Example: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607819" y="7904729"/>
            <a:ext cx="2929408" cy="4263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print_info(age=30,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name="Jane")</a:t>
            </a:r>
          </a:p>
          <a:p>
            <a:pPr marL="0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//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Order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doesn't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d3d3d3"/>
                </a:solidFill>
                <a:latin typeface="Liberation Mono"/>
                <a:cs typeface="Liberation Mono"/>
              </a:rPr>
              <a:t>matter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841128" y="9327201"/>
            <a:ext cx="8044650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"Arguments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10">
                <a:solidFill>
                  <a:srgbClr val="d3d3d3"/>
                </a:solidFill>
                <a:latin typeface="DejaVu Sans"/>
                <a:cs typeface="DejaVu Sans"/>
              </a:rPr>
              <a:t>are</a:t>
            </a:r>
            <a:r>
              <a:rPr dirty="0" sz="1500" spc="2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the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lifeblood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of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function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interaction,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enabling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dynamic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robust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automation."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558979" y="10148614"/>
            <a:ext cx="4572077" cy="358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Mastering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UiPath</a:t>
            </a:r>
            <a:r>
              <a:rPr dirty="0" sz="1000" spc="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Studio: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Variables</a:t>
            </a:r>
            <a:r>
              <a:rPr dirty="0" sz="1000" spc="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Arguments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Explained</a:t>
            </a:r>
          </a:p>
          <a:p>
            <a:pPr marL="10566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How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do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you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pass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UiPath</a:t>
            </a:r>
            <a:r>
              <a:rPr dirty="0" sz="1000" spc="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variables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between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sequences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and...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41735" y="334315"/>
            <a:ext cx="8860758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d3d3d3"/>
                </a:solidFill>
                <a:latin typeface="DejaVu Sans"/>
                <a:cs typeface="DejaVu Sans"/>
              </a:rPr>
              <a:t>Advanced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d3d3d3"/>
                </a:solidFill>
                <a:latin typeface="DejaVu Sans"/>
                <a:cs typeface="DejaVu Sans"/>
              </a:rPr>
              <a:t>Argument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6e00"/>
                </a:solidFill>
                <a:latin typeface="DejaVu Sans"/>
                <a:cs typeface="DejaVu Sans"/>
              </a:rPr>
              <a:t>Concepts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978" y="2505545"/>
            <a:ext cx="273888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Default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45260" y="2505545"/>
            <a:ext cx="2468064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Variable-Length</a:t>
            </a:r>
          </a:p>
          <a:p>
            <a:pPr marL="357038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73268" y="2505545"/>
            <a:ext cx="264501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Pass</a:t>
            </a:r>
            <a:r>
              <a:rPr dirty="0" sz="2000" spc="21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by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-18" b="1">
                <a:solidFill>
                  <a:srgbClr val="d3d3d3"/>
                </a:solidFill>
                <a:latin typeface="DejaVu Sans"/>
                <a:cs typeface="DejaVu Sans"/>
              </a:rPr>
              <a:t>Value</a:t>
            </a:r>
            <a:r>
              <a:rPr dirty="0" sz="2000" spc="34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vs.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95747" y="2848445"/>
            <a:ext cx="111939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11" b="1">
                <a:solidFill>
                  <a:srgbClr val="d3d3d3"/>
                </a:solidFill>
                <a:latin typeface="DejaVu Sans"/>
                <a:cs typeface="DejaVu Sans"/>
              </a:rPr>
              <a:t>Values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88064" y="2848445"/>
            <a:ext cx="161583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Reference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78458" y="3357043"/>
            <a:ext cx="171036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 b="1">
                <a:solidFill>
                  <a:srgbClr val="ffffff"/>
                </a:solidFill>
                <a:latin typeface="DejaVu Sans"/>
                <a:cs typeface="DejaVu Sans"/>
              </a:rPr>
              <a:t>Flexibility</a:t>
            </a:r>
            <a:r>
              <a:rPr dirty="0" sz="1200" spc="-12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Enabled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25839" y="3357043"/>
            <a:ext cx="146297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ffffff"/>
                </a:solidFill>
                <a:latin typeface="DejaVu Sans"/>
                <a:cs typeface="DejaVu Sans"/>
              </a:rPr>
              <a:t>Dynamic</a:t>
            </a:r>
            <a:r>
              <a:rPr dirty="0" sz="12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Inputs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513241" y="3357043"/>
            <a:ext cx="133585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Data</a:t>
            </a:r>
            <a:r>
              <a:rPr dirty="0" sz="12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 b="1">
                <a:solidFill>
                  <a:srgbClr val="ffffff"/>
                </a:solidFill>
                <a:latin typeface="DejaVu Sans"/>
                <a:cs typeface="DejaVu Sans"/>
              </a:rPr>
              <a:t>Integrity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6870" y="3784913"/>
            <a:ext cx="3143083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3688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Deﬁne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default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parameters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</a:p>
          <a:p>
            <a:pPr marL="17904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functions,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simplifying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calls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handling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optional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inputs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23">
                <a:solidFill>
                  <a:srgbClr val="d1d5db"/>
                </a:solidFill>
                <a:latin typeface="DejaVu Sans"/>
                <a:cs typeface="DejaVu Sans"/>
              </a:rPr>
              <a:t>eﬃciently.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727673" y="3784913"/>
            <a:ext cx="47127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Use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769066" y="3784913"/>
            <a:ext cx="184729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positional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tuples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595865" y="3784913"/>
            <a:ext cx="3000066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Understand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if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passed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</a:t>
            </a:r>
          </a:p>
          <a:p>
            <a:pPr marL="193774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copy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(value)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or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direct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access</a:t>
            </a:r>
          </a:p>
          <a:p>
            <a:pPr marL="98226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(reference),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which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crucial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</a:p>
          <a:p>
            <a:pPr marL="417165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preventing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side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eﬀects.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151833" y="3808690"/>
            <a:ext cx="664547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Liberation Mono"/>
                <a:cs typeface="Liberation Mono"/>
              </a:rPr>
              <a:t>*args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917280" y="4051613"/>
            <a:ext cx="47352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267937" y="4051613"/>
            <a:ext cx="115899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5">
                <a:solidFill>
                  <a:srgbClr val="d1d5db"/>
                </a:solidFill>
                <a:latin typeface="DejaVu Sans"/>
                <a:cs typeface="DejaVu Sans"/>
              </a:rPr>
              <a:t>keyword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343673" y="4075390"/>
            <a:ext cx="971835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Liberation Mono"/>
                <a:cs typeface="Liberation Mono"/>
              </a:rPr>
              <a:t>**kwargs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591347" y="4318313"/>
            <a:ext cx="3161598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dictionaries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accept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ﬂexible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input</a:t>
            </a:r>
          </a:p>
          <a:p>
            <a:pPr marL="119241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counts.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84063" y="5622483"/>
            <a:ext cx="262239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5e7eb"/>
                </a:solidFill>
                <a:latin typeface="DejaVu Sans"/>
                <a:cs typeface="DejaVu Sans"/>
              </a:rPr>
              <a:t>Key</a:t>
            </a:r>
            <a:r>
              <a:rPr dirty="0" sz="1500" spc="15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5e7eb"/>
                </a:solidFill>
                <a:latin typeface="DejaVu Sans"/>
                <a:cs typeface="DejaVu Sans"/>
              </a:rPr>
              <a:t>Principle</a:t>
            </a:r>
            <a:r>
              <a:rPr dirty="0" sz="1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5e7eb"/>
                </a:solidFill>
                <a:latin typeface="DejaVu Sans"/>
                <a:cs typeface="DejaVu Sans"/>
              </a:rPr>
              <a:t>in</a:t>
            </a:r>
            <a:r>
              <a:rPr dirty="0" sz="1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5e7eb"/>
                </a:solidFill>
                <a:latin typeface="DejaVu Sans"/>
                <a:cs typeface="DejaVu Sans"/>
              </a:rPr>
              <a:t>UiPath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84063" y="5908988"/>
            <a:ext cx="1048245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Arguments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8">
                <a:solidFill>
                  <a:srgbClr val="d1d5db"/>
                </a:solidFill>
                <a:latin typeface="DejaVu Sans"/>
                <a:cs typeface="DejaVu Sans"/>
              </a:rPr>
              <a:t>are</a:t>
            </a:r>
            <a:r>
              <a:rPr dirty="0" sz="1350" spc="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crucial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5">
                <a:solidFill>
                  <a:srgbClr val="d1d5db"/>
                </a:solidFill>
                <a:latin typeface="DejaVu Sans"/>
                <a:cs typeface="DejaVu Sans"/>
              </a:rPr>
              <a:t>UiPath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seamless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ﬂow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modular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workﬂow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design,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enhancing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automation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robustness.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926930" y="6567722"/>
            <a:ext cx="628934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Mastering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UiPath</a:t>
            </a:r>
            <a:r>
              <a:rPr dirty="0" sz="1000" spc="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Studio: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Variables</a:t>
            </a:r>
            <a:r>
              <a:rPr dirty="0" sz="1000" spc="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Arguments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Explained,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Studio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Using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Arguments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41735" y="334315"/>
            <a:ext cx="8860758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d3d3d3"/>
                </a:solidFill>
                <a:latin typeface="DejaVu Sans"/>
                <a:cs typeface="DejaVu Sans"/>
              </a:rPr>
              <a:t>Advanced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d3d3d3"/>
                </a:solidFill>
                <a:latin typeface="DejaVu Sans"/>
                <a:cs typeface="DejaVu Sans"/>
              </a:rPr>
              <a:t>Argument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6e00"/>
                </a:solidFill>
                <a:latin typeface="DejaVu Sans"/>
                <a:cs typeface="DejaVu Sans"/>
              </a:rPr>
              <a:t>Concepts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978" y="2505545"/>
            <a:ext cx="273888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Default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45260" y="2505545"/>
            <a:ext cx="2468064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Variable-Length</a:t>
            </a:r>
          </a:p>
          <a:p>
            <a:pPr marL="357038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73268" y="2505545"/>
            <a:ext cx="264501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Pass</a:t>
            </a:r>
            <a:r>
              <a:rPr dirty="0" sz="2000" spc="21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by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-18" b="1">
                <a:solidFill>
                  <a:srgbClr val="d3d3d3"/>
                </a:solidFill>
                <a:latin typeface="DejaVu Sans"/>
                <a:cs typeface="DejaVu Sans"/>
              </a:rPr>
              <a:t>Value</a:t>
            </a:r>
            <a:r>
              <a:rPr dirty="0" sz="2000" spc="34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vs.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95747" y="2848445"/>
            <a:ext cx="111939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11" b="1">
                <a:solidFill>
                  <a:srgbClr val="d3d3d3"/>
                </a:solidFill>
                <a:latin typeface="DejaVu Sans"/>
                <a:cs typeface="DejaVu Sans"/>
              </a:rPr>
              <a:t>Values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88064" y="2848445"/>
            <a:ext cx="161583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Reference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78458" y="3357043"/>
            <a:ext cx="171036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 b="1">
                <a:solidFill>
                  <a:srgbClr val="ffffff"/>
                </a:solidFill>
                <a:latin typeface="DejaVu Sans"/>
                <a:cs typeface="DejaVu Sans"/>
              </a:rPr>
              <a:t>Flexibility</a:t>
            </a:r>
            <a:r>
              <a:rPr dirty="0" sz="1200" spc="-12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Enabled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25839" y="3357043"/>
            <a:ext cx="146297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ffffff"/>
                </a:solidFill>
                <a:latin typeface="DejaVu Sans"/>
                <a:cs typeface="DejaVu Sans"/>
              </a:rPr>
              <a:t>Dynamic</a:t>
            </a:r>
            <a:r>
              <a:rPr dirty="0" sz="12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Inputs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513241" y="3357043"/>
            <a:ext cx="133585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Data</a:t>
            </a:r>
            <a:r>
              <a:rPr dirty="0" sz="12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 b="1">
                <a:solidFill>
                  <a:srgbClr val="ffffff"/>
                </a:solidFill>
                <a:latin typeface="DejaVu Sans"/>
                <a:cs typeface="DejaVu Sans"/>
              </a:rPr>
              <a:t>Integrity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6870" y="3784913"/>
            <a:ext cx="3143083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3688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Deﬁne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default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parameters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</a:p>
          <a:p>
            <a:pPr marL="17904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functions,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simplifying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calls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handling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optional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inputs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23">
                <a:solidFill>
                  <a:srgbClr val="d1d5db"/>
                </a:solidFill>
                <a:latin typeface="DejaVu Sans"/>
                <a:cs typeface="DejaVu Sans"/>
              </a:rPr>
              <a:t>eﬃciently.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727673" y="3784913"/>
            <a:ext cx="47127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Use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769066" y="3784913"/>
            <a:ext cx="184729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positional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tuples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595865" y="3784913"/>
            <a:ext cx="3000066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Understand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if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passed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</a:t>
            </a:r>
          </a:p>
          <a:p>
            <a:pPr marL="193774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copy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(value)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or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direct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access</a:t>
            </a:r>
          </a:p>
          <a:p>
            <a:pPr marL="98226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(reference),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which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crucial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</a:p>
          <a:p>
            <a:pPr marL="417165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preventing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side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eﬀects.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151833" y="3808690"/>
            <a:ext cx="664547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Liberation Mono"/>
                <a:cs typeface="Liberation Mono"/>
              </a:rPr>
              <a:t>*args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917280" y="4051613"/>
            <a:ext cx="47352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267937" y="4051613"/>
            <a:ext cx="115899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5">
                <a:solidFill>
                  <a:srgbClr val="d1d5db"/>
                </a:solidFill>
                <a:latin typeface="DejaVu Sans"/>
                <a:cs typeface="DejaVu Sans"/>
              </a:rPr>
              <a:t>keyword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343673" y="4075390"/>
            <a:ext cx="971835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6e00"/>
                </a:solidFill>
                <a:latin typeface="Liberation Mono"/>
                <a:cs typeface="Liberation Mono"/>
              </a:rPr>
              <a:t>**kwargs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591347" y="4318313"/>
            <a:ext cx="3161598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dictionaries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accept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ﬂexible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input</a:t>
            </a:r>
          </a:p>
          <a:p>
            <a:pPr marL="119241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counts.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84063" y="5622483"/>
            <a:ext cx="262239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5e7eb"/>
                </a:solidFill>
                <a:latin typeface="DejaVu Sans"/>
                <a:cs typeface="DejaVu Sans"/>
              </a:rPr>
              <a:t>Key</a:t>
            </a:r>
            <a:r>
              <a:rPr dirty="0" sz="1500" spc="15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5e7eb"/>
                </a:solidFill>
                <a:latin typeface="DejaVu Sans"/>
                <a:cs typeface="DejaVu Sans"/>
              </a:rPr>
              <a:t>Principle</a:t>
            </a:r>
            <a:r>
              <a:rPr dirty="0" sz="1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5e7eb"/>
                </a:solidFill>
                <a:latin typeface="DejaVu Sans"/>
                <a:cs typeface="DejaVu Sans"/>
              </a:rPr>
              <a:t>in</a:t>
            </a:r>
            <a:r>
              <a:rPr dirty="0" sz="15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5e7eb"/>
                </a:solidFill>
                <a:latin typeface="DejaVu Sans"/>
                <a:cs typeface="DejaVu Sans"/>
              </a:rPr>
              <a:t>UiPath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84063" y="5908988"/>
            <a:ext cx="1048245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Arguments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8">
                <a:solidFill>
                  <a:srgbClr val="d1d5db"/>
                </a:solidFill>
                <a:latin typeface="DejaVu Sans"/>
                <a:cs typeface="DejaVu Sans"/>
              </a:rPr>
              <a:t>are</a:t>
            </a:r>
            <a:r>
              <a:rPr dirty="0" sz="1350" spc="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crucial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in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5">
                <a:solidFill>
                  <a:srgbClr val="d1d5db"/>
                </a:solidFill>
                <a:latin typeface="DejaVu Sans"/>
                <a:cs typeface="DejaVu Sans"/>
              </a:rPr>
              <a:t>UiPath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seamless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ﬂow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modular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workﬂow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design,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enhancing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automation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robustness.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926930" y="6567722"/>
            <a:ext cx="628934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Mastering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UiPath</a:t>
            </a:r>
            <a:r>
              <a:rPr dirty="0" sz="1000" spc="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Studio: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Variables</a:t>
            </a:r>
            <a:r>
              <a:rPr dirty="0" sz="1000" spc="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Arguments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Explained,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Studio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Using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Arguments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8915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39465" y="381940"/>
            <a:ext cx="9465251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d3d3d3"/>
                </a:solidFill>
                <a:latin typeface="DejaVu Sans"/>
                <a:cs typeface="DejaVu Sans"/>
              </a:rPr>
              <a:t>Putting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It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d3d3d3"/>
                </a:solidFill>
                <a:latin typeface="DejaVu Sans"/>
                <a:cs typeface="DejaVu Sans"/>
              </a:rPr>
              <a:t>All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69" b="1">
                <a:solidFill>
                  <a:srgbClr val="d3d3d3"/>
                </a:solidFill>
                <a:latin typeface="DejaVu Sans"/>
                <a:cs typeface="DejaVu Sans"/>
              </a:rPr>
              <a:t>Together:</a:t>
            </a:r>
            <a:r>
              <a:rPr dirty="0" sz="4050" spc="56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f6e00"/>
                </a:solidFill>
                <a:latin typeface="DejaVu Sans"/>
                <a:cs typeface="DejaVu Sans"/>
              </a:rPr>
              <a:t>Practical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19488" y="896290"/>
            <a:ext cx="290574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ff6e00"/>
                </a:solidFill>
                <a:latin typeface="DejaVu Sans"/>
                <a:cs typeface="DejaVu Sans"/>
              </a:rPr>
              <a:t>Examples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15764" y="1953095"/>
            <a:ext cx="347959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Variables</a:t>
            </a:r>
            <a:r>
              <a:rPr dirty="0" sz="2000" spc="18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Collections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13065" y="1953095"/>
            <a:ext cx="394556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Functions</a:t>
            </a:r>
            <a:r>
              <a:rPr dirty="0" sz="2000" spc="18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with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5435" y="2431608"/>
            <a:ext cx="287877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Store</a:t>
            </a:r>
            <a:r>
              <a:rPr dirty="0" sz="1500" spc="12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within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workﬂows.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2736" y="2431608"/>
            <a:ext cx="3044046" cy="947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5">
                <a:solidFill>
                  <a:srgbClr val="9ca3af"/>
                </a:solidFill>
                <a:latin typeface="DejaVu Sans"/>
                <a:cs typeface="DejaVu Sans"/>
              </a:rPr>
              <a:t>Pass</a:t>
            </a:r>
            <a:r>
              <a:rPr dirty="0" sz="1500" spc="2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between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workﬂows.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Enable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reusability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of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logic.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Deﬁne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Input/Output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values.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5435" y="2774508"/>
            <a:ext cx="282449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Manage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diverse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types.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5435" y="3117408"/>
            <a:ext cx="398392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Use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Collections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 spc="-14">
                <a:solidFill>
                  <a:srgbClr val="9ca3af"/>
                </a:solidFill>
                <a:latin typeface="DejaVu Sans"/>
                <a:cs typeface="DejaVu Sans"/>
              </a:rPr>
              <a:t>like</a:t>
            </a:r>
            <a:r>
              <a:rPr dirty="0" sz="1500" spc="23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Lists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Dictionaries.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34764" y="3861868"/>
            <a:ext cx="131375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Storage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37481" y="3861868"/>
            <a:ext cx="151346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27">
                <a:solidFill>
                  <a:srgbClr val="d1d5db"/>
                </a:solidFill>
                <a:latin typeface="DejaVu Sans"/>
                <a:cs typeface="DejaVu Sans"/>
              </a:rPr>
              <a:t>Workﬂow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Scope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32065" y="3861868"/>
            <a:ext cx="132991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33">
                <a:solidFill>
                  <a:srgbClr val="d1d5db"/>
                </a:solidFill>
                <a:latin typeface="DejaVu Sans"/>
                <a:cs typeface="DejaVu Sans"/>
              </a:rPr>
              <a:t>Transfer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050856" y="3861868"/>
            <a:ext cx="149248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Modular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13065" y="4743920"/>
            <a:ext cx="3534709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Troubleshooting</a:t>
            </a:r>
            <a:r>
              <a:rPr dirty="0" sz="2000" spc="23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Best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Practices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44339" y="4772495"/>
            <a:ext cx="393119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Manipulating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Scopes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94010" y="5251008"/>
            <a:ext cx="325093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Control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visibility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lifetime.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662736" y="5517708"/>
            <a:ext cx="3710285" cy="947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0">
                <a:solidFill>
                  <a:srgbClr val="9ca3af"/>
                </a:solidFill>
                <a:latin typeface="DejaVu Sans"/>
                <a:cs typeface="DejaVu Sans"/>
              </a:rPr>
              <a:t>Validate</a:t>
            </a:r>
            <a:r>
              <a:rPr dirty="0" sz="1500" spc="2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types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to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avoid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errors.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Implement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robust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error</a:t>
            </a:r>
            <a:r>
              <a:rPr dirty="0" sz="1500" spc="17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handling.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Adhere</a:t>
            </a:r>
            <a:r>
              <a:rPr dirty="0" sz="1500" spc="1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to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strict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naming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conventions.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4010" y="5593908"/>
            <a:ext cx="4067921" cy="6045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Prevent</a:t>
            </a:r>
            <a:r>
              <a:rPr dirty="0" sz="1500" spc="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unintended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access/modiﬁcation.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Optimize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memory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resource</a:t>
            </a:r>
            <a:r>
              <a:rPr dirty="0" sz="1500" spc="14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use.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63339" y="6709843"/>
            <a:ext cx="169662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Contextual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Access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648842" y="6709843"/>
            <a:ext cx="136171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Isolation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532065" y="6700318"/>
            <a:ext cx="114232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Debugging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863333" y="6700318"/>
            <a:ext cx="124232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Code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Clarity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899641" y="7509943"/>
            <a:ext cx="9426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1" b="1">
                <a:solidFill>
                  <a:srgbClr val="ffffff"/>
                </a:solidFill>
                <a:latin typeface="DejaVu Sans"/>
                <a:cs typeface="DejaVu Sans"/>
              </a:rPr>
              <a:t>Variables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429249" y="7682147"/>
            <a:ext cx="129427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Passed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as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342833" y="7795693"/>
            <a:ext cx="107841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ffffff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828353" y="8081443"/>
            <a:ext cx="107724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ffffff"/>
                </a:solidFill>
                <a:latin typeface="DejaVu Sans"/>
                <a:cs typeface="DejaVu Sans"/>
              </a:rPr>
              <a:t>Collections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375969" y="8234597"/>
            <a:ext cx="140102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Return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as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Output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8915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39465" y="381940"/>
            <a:ext cx="9465251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d3d3d3"/>
                </a:solidFill>
                <a:latin typeface="DejaVu Sans"/>
                <a:cs typeface="DejaVu Sans"/>
              </a:rPr>
              <a:t>Putting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It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d3d3d3"/>
                </a:solidFill>
                <a:latin typeface="DejaVu Sans"/>
                <a:cs typeface="DejaVu Sans"/>
              </a:rPr>
              <a:t>All</a:t>
            </a:r>
            <a:r>
              <a:rPr dirty="0" sz="405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69" b="1">
                <a:solidFill>
                  <a:srgbClr val="d3d3d3"/>
                </a:solidFill>
                <a:latin typeface="DejaVu Sans"/>
                <a:cs typeface="DejaVu Sans"/>
              </a:rPr>
              <a:t>Together:</a:t>
            </a:r>
            <a:r>
              <a:rPr dirty="0" sz="4050" spc="56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f6e00"/>
                </a:solidFill>
                <a:latin typeface="DejaVu Sans"/>
                <a:cs typeface="DejaVu Sans"/>
              </a:rPr>
              <a:t>Practical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19488" y="896290"/>
            <a:ext cx="290574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ff6e00"/>
                </a:solidFill>
                <a:latin typeface="DejaVu Sans"/>
                <a:cs typeface="DejaVu Sans"/>
              </a:rPr>
              <a:t>Examples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15764" y="1953095"/>
            <a:ext cx="347959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Variables</a:t>
            </a:r>
            <a:r>
              <a:rPr dirty="0" sz="2000" spc="18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Collections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13065" y="1953095"/>
            <a:ext cx="394556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Functions</a:t>
            </a:r>
            <a:r>
              <a:rPr dirty="0" sz="2000" spc="18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with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5435" y="2431608"/>
            <a:ext cx="287877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Store</a:t>
            </a:r>
            <a:r>
              <a:rPr dirty="0" sz="1500" spc="12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within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workﬂows.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2736" y="2431608"/>
            <a:ext cx="3044046" cy="947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5">
                <a:solidFill>
                  <a:srgbClr val="9ca3af"/>
                </a:solidFill>
                <a:latin typeface="DejaVu Sans"/>
                <a:cs typeface="DejaVu Sans"/>
              </a:rPr>
              <a:t>Pass</a:t>
            </a:r>
            <a:r>
              <a:rPr dirty="0" sz="1500" spc="2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between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workﬂows.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Enable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reusability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of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logic.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Deﬁne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Input/Output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values.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5435" y="2774508"/>
            <a:ext cx="282449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Manage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diverse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types.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5435" y="3117408"/>
            <a:ext cx="398392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Use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Collections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 spc="-14">
                <a:solidFill>
                  <a:srgbClr val="9ca3af"/>
                </a:solidFill>
                <a:latin typeface="DejaVu Sans"/>
                <a:cs typeface="DejaVu Sans"/>
              </a:rPr>
              <a:t>like</a:t>
            </a:r>
            <a:r>
              <a:rPr dirty="0" sz="1500" spc="23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Lists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Dictionaries.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34764" y="3861868"/>
            <a:ext cx="131375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Storage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37481" y="3861868"/>
            <a:ext cx="151346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27">
                <a:solidFill>
                  <a:srgbClr val="d1d5db"/>
                </a:solidFill>
                <a:latin typeface="DejaVu Sans"/>
                <a:cs typeface="DejaVu Sans"/>
              </a:rPr>
              <a:t>Workﬂow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Scope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32065" y="3861868"/>
            <a:ext cx="132991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33">
                <a:solidFill>
                  <a:srgbClr val="d1d5db"/>
                </a:solidFill>
                <a:latin typeface="DejaVu Sans"/>
                <a:cs typeface="DejaVu Sans"/>
              </a:rPr>
              <a:t>Transfer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050856" y="3861868"/>
            <a:ext cx="149248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Modular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13065" y="4743920"/>
            <a:ext cx="3534709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Troubleshooting</a:t>
            </a:r>
            <a:r>
              <a:rPr dirty="0" sz="2000" spc="23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Best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Practices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44339" y="4772495"/>
            <a:ext cx="393119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Manipulating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2000" b="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d3d3d3"/>
                </a:solidFill>
                <a:latin typeface="DejaVu Sans"/>
                <a:cs typeface="DejaVu Sans"/>
              </a:rPr>
              <a:t>Scopes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94010" y="5251008"/>
            <a:ext cx="325093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Control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visibility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lifetime.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662736" y="5517708"/>
            <a:ext cx="3710285" cy="947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0">
                <a:solidFill>
                  <a:srgbClr val="9ca3af"/>
                </a:solidFill>
                <a:latin typeface="DejaVu Sans"/>
                <a:cs typeface="DejaVu Sans"/>
              </a:rPr>
              <a:t>Validate</a:t>
            </a:r>
            <a:r>
              <a:rPr dirty="0" sz="1500" spc="2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types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to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avoid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errors.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Implement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robust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error</a:t>
            </a:r>
            <a:r>
              <a:rPr dirty="0" sz="1500" spc="17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handling.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Adhere</a:t>
            </a:r>
            <a:r>
              <a:rPr dirty="0" sz="1500" spc="1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to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strict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naming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conventions.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4010" y="5593908"/>
            <a:ext cx="4067921" cy="6045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Prevent</a:t>
            </a:r>
            <a:r>
              <a:rPr dirty="0" sz="1500" spc="1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unintended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access/modiﬁcation.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Optimize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memory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resource</a:t>
            </a:r>
            <a:r>
              <a:rPr dirty="0" sz="1500" spc="14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9ca3af"/>
                </a:solidFill>
                <a:latin typeface="DejaVu Sans"/>
                <a:cs typeface="DejaVu Sans"/>
              </a:rPr>
              <a:t>use.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63339" y="6709843"/>
            <a:ext cx="169662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Contextual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Access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648842" y="6709843"/>
            <a:ext cx="136171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Isolation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532065" y="6700318"/>
            <a:ext cx="114232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Debugging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863333" y="6700318"/>
            <a:ext cx="124232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6e00"/>
                </a:solidFill>
                <a:latin typeface="DejaVu Sans"/>
                <a:cs typeface="DejaVu Sans"/>
              </a:rPr>
              <a:t>•</a:t>
            </a:r>
            <a:r>
              <a:rPr dirty="0" sz="1200" spc="356">
                <a:solidFill>
                  <a:srgbClr val="ff6e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Code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Clarity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899641" y="7509943"/>
            <a:ext cx="9426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1" b="1">
                <a:solidFill>
                  <a:srgbClr val="ffffff"/>
                </a:solidFill>
                <a:latin typeface="DejaVu Sans"/>
                <a:cs typeface="DejaVu Sans"/>
              </a:rPr>
              <a:t>Variables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429249" y="7682147"/>
            <a:ext cx="129427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Passed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as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Input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342833" y="7795693"/>
            <a:ext cx="107841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ffffff"/>
                </a:solidFill>
                <a:latin typeface="DejaVu Sans"/>
                <a:cs typeface="DejaVu Sans"/>
              </a:rPr>
              <a:t>Arguments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828353" y="8081443"/>
            <a:ext cx="107724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ffffff"/>
                </a:solidFill>
                <a:latin typeface="DejaVu Sans"/>
                <a:cs typeface="DejaVu Sans"/>
              </a:rPr>
              <a:t>Collections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375969" y="8234597"/>
            <a:ext cx="140102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Return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as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6e00"/>
                </a:solidFill>
                <a:latin typeface="DejaVu Sans"/>
                <a:cs typeface="DejaVu Sans"/>
              </a:rPr>
              <a:t>Output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94954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380925"/>
            <a:ext cx="10039082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49" b="1">
                <a:solidFill>
                  <a:srgbClr val="ffffff"/>
                </a:solidFill>
                <a:latin typeface="DejaVu Sans"/>
                <a:cs typeface="DejaVu Sans"/>
              </a:rPr>
              <a:t>Key</a:t>
            </a:r>
            <a:r>
              <a:rPr dirty="0" sz="4050" spc="3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94" b="1">
                <a:solidFill>
                  <a:srgbClr val="ffffff"/>
                </a:solidFill>
                <a:latin typeface="DejaVu Sans"/>
                <a:cs typeface="DejaVu Sans"/>
              </a:rPr>
              <a:t>Takeaways</a:t>
            </a:r>
            <a:r>
              <a:rPr dirty="0" sz="4050" spc="77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ffff"/>
                </a:solidFill>
                <a:latin typeface="DejaVu Sans"/>
                <a:cs typeface="DejaVu Sans"/>
              </a:rPr>
              <a:t>and</a:t>
            </a:r>
            <a:r>
              <a:rPr dirty="0" sz="4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ffff"/>
                </a:solidFill>
                <a:latin typeface="DejaVu Sans"/>
                <a:cs typeface="DejaVu Sans"/>
              </a:rPr>
              <a:t>Best</a:t>
            </a:r>
            <a:r>
              <a:rPr dirty="0" sz="4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fffff"/>
                </a:solidFill>
                <a:latin typeface="DejaVu Sans"/>
                <a:cs typeface="DejaVu Sans"/>
              </a:rPr>
              <a:t>Practices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690" y="1473654"/>
            <a:ext cx="4283568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Fundamental</a:t>
            </a:r>
            <a:r>
              <a:rPr dirty="0" sz="2500" spc="11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ffffff"/>
                </a:solidFill>
                <a:latin typeface="DejaVu Sans"/>
                <a:cs typeface="DejaVu Sans"/>
              </a:rPr>
              <a:t>Concepts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473654"/>
            <a:ext cx="272470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ffffff"/>
                </a:solidFill>
                <a:latin typeface="DejaVu Sans"/>
                <a:cs typeface="DejaVu Sans"/>
              </a:rPr>
              <a:t>Best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DejaVu Sans"/>
                <a:cs typeface="DejaVu Sans"/>
              </a:rPr>
              <a:t>Practices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5682" y="2191713"/>
            <a:ext cx="329618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5">
                <a:solidFill>
                  <a:srgbClr val="d3d3d3"/>
                </a:solidFill>
                <a:latin typeface="DejaVu Sans"/>
                <a:cs typeface="DejaVu Sans"/>
              </a:rPr>
              <a:t>Variables:</a:t>
            </a:r>
            <a:r>
              <a:rPr dirty="0" sz="1700" spc="1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d3d3d3"/>
                </a:solidFill>
                <a:latin typeface="DejaVu Sans"/>
                <a:cs typeface="DejaVu Sans"/>
              </a:rPr>
              <a:t>Store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3d3d3"/>
                </a:solidFill>
                <a:latin typeface="DejaVu Sans"/>
                <a:cs typeface="DejaVu Sans"/>
              </a:rPr>
              <a:t>diverse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3d3d3"/>
                </a:solidFill>
                <a:latin typeface="DejaVu Sans"/>
                <a:cs typeface="DejaVu Sans"/>
              </a:rPr>
              <a:t>data.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69620" y="2306013"/>
            <a:ext cx="283063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Clear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Naming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Scope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57708" y="2611568"/>
            <a:ext cx="4756858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Essential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for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managing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data;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includes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types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14">
                <a:solidFill>
                  <a:srgbClr val="d3d3d3"/>
                </a:solidFill>
                <a:latin typeface="DejaVu Sans"/>
                <a:cs typeface="DejaVu Sans"/>
              </a:rPr>
              <a:t>like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arrays,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numbers,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strings.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69620" y="2611568"/>
            <a:ext cx="4102515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Adopt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consistent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naming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conventions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improved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readability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maintainability.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5682" y="3429963"/>
            <a:ext cx="4080753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d3d3d3"/>
                </a:solidFill>
                <a:latin typeface="DejaVu Sans"/>
                <a:cs typeface="DejaVu Sans"/>
              </a:rPr>
              <a:t>Collections: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d3d3d3"/>
                </a:solidFill>
                <a:latin typeface="DejaVu Sans"/>
                <a:cs typeface="DejaVu Sans"/>
              </a:rPr>
              <a:t>Organize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3d3d3"/>
                </a:solidFill>
                <a:latin typeface="DejaVu Sans"/>
                <a:cs typeface="DejaVu Sans"/>
              </a:rPr>
              <a:t>multiple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3d3d3"/>
                </a:solidFill>
                <a:latin typeface="DejaVu Sans"/>
                <a:cs typeface="DejaVu Sans"/>
              </a:rPr>
              <a:t>items.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69620" y="3706188"/>
            <a:ext cx="4281007" cy="8719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Optimal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Collection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Choice</a:t>
            </a:r>
          </a:p>
          <a:p>
            <a:pPr marL="0" marR="0">
              <a:lnSpc>
                <a:spcPts val="1760"/>
              </a:lnSpc>
              <a:spcBef>
                <a:spcPts val="475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Select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the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most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suitable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collection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type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760"/>
              </a:lnSpc>
              <a:spcBef>
                <a:spcPts val="56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eﬃcient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processing.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57708" y="3849818"/>
            <a:ext cx="4493612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Utilize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Lists,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Dictionaries,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36">
                <a:solidFill>
                  <a:srgbClr val="d3d3d3"/>
                </a:solidFill>
                <a:latin typeface="DejaVu Sans"/>
                <a:cs typeface="DejaVu Sans"/>
              </a:rPr>
              <a:t>Tables</a:t>
            </a:r>
            <a:r>
              <a:rPr dirty="0" sz="1500" spc="46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structured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manipulation.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35682" y="4668213"/>
            <a:ext cx="4673491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>
                <a:solidFill>
                  <a:srgbClr val="d3d3d3"/>
                </a:solidFill>
                <a:latin typeface="DejaVu Sans"/>
                <a:cs typeface="DejaVu Sans"/>
              </a:rPr>
              <a:t>Arguments: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37">
                <a:solidFill>
                  <a:srgbClr val="d3d3d3"/>
                </a:solidFill>
                <a:latin typeface="DejaVu Sans"/>
                <a:cs typeface="DejaVu Sans"/>
              </a:rPr>
              <a:t>Pass</a:t>
            </a:r>
            <a:r>
              <a:rPr dirty="0" sz="1700" spc="2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3d3d3"/>
                </a:solidFill>
                <a:latin typeface="DejaVu Sans"/>
                <a:cs typeface="DejaVu Sans"/>
              </a:rPr>
              <a:t>between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3d3d3"/>
                </a:solidFill>
                <a:latin typeface="DejaVu Sans"/>
                <a:cs typeface="DejaVu Sans"/>
              </a:rPr>
              <a:t>workﬂows.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7708" y="5088068"/>
            <a:ext cx="4970121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Critical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for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modular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design,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enabling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transfer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reusability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across</a:t>
            </a:r>
            <a:r>
              <a:rPr dirty="0" sz="1500" spc="1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processes.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69620" y="5115888"/>
            <a:ext cx="3900871" cy="8719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Eﬀective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Argument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Handling</a:t>
            </a:r>
          </a:p>
          <a:p>
            <a:pPr marL="0" marR="0">
              <a:lnSpc>
                <a:spcPts val="1760"/>
              </a:lnSpc>
              <a:spcBef>
                <a:spcPts val="475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Design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functions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with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robust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argument</a:t>
            </a:r>
          </a:p>
          <a:p>
            <a:pPr marL="0" marR="0">
              <a:lnSpc>
                <a:spcPts val="1760"/>
              </a:lnSpc>
              <a:spcBef>
                <a:spcPts val="56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handling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for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ﬂexibility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reuse.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2674" y="6781255"/>
            <a:ext cx="279789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6e00"/>
                </a:solidFill>
                <a:latin typeface="DejaVu Sans"/>
                <a:cs typeface="DejaVu Sans"/>
              </a:rPr>
              <a:t>Beyond</a:t>
            </a:r>
            <a:r>
              <a:rPr dirty="0" sz="20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6e00"/>
                </a:solidFill>
                <a:latin typeface="DejaVu Sans"/>
                <a:cs typeface="DejaVu Sans"/>
              </a:rPr>
              <a:t>the</a:t>
            </a:r>
            <a:r>
              <a:rPr dirty="0" sz="20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6e00"/>
                </a:solidFill>
                <a:latin typeface="DejaVu Sans"/>
                <a:cs typeface="DejaVu Sans"/>
              </a:rPr>
              <a:t>Basics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556997" y="6782764"/>
            <a:ext cx="2104693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Connect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ffff"/>
                </a:solidFill>
                <a:latin typeface="DejaVu Sans"/>
                <a:cs typeface="DejaVu Sans"/>
              </a:rPr>
              <a:t>with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ffffff"/>
                </a:solidFill>
                <a:latin typeface="DejaVu Sans"/>
                <a:cs typeface="DejaVu Sans"/>
              </a:rPr>
              <a:t>Us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913589" y="7221668"/>
            <a:ext cx="167371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Email: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25">
                <a:solidFill>
                  <a:srgbClr val="d3d3d3"/>
                </a:solidFill>
                <a:latin typeface="DejaVu Sans"/>
                <a:cs typeface="DejaVu Sans"/>
              </a:rPr>
              <a:t>x@y.com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39266" y="7307393"/>
            <a:ext cx="4668725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Embrace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lifelong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learning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40">
                <a:solidFill>
                  <a:srgbClr val="d3d3d3"/>
                </a:solidFill>
                <a:latin typeface="DejaVu Sans"/>
                <a:cs typeface="DejaVu Sans"/>
              </a:rPr>
              <a:t>RPA</a:t>
            </a:r>
            <a:r>
              <a:rPr dirty="0" sz="1500" spc="5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development.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39266" y="7736018"/>
            <a:ext cx="5747070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Dive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deeper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into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advanced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manipulation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techniques.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39266" y="8164643"/>
            <a:ext cx="6972022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Actively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engage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with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UiPath</a:t>
            </a:r>
            <a:r>
              <a:rPr dirty="0" sz="1500" spc="18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documentation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community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resources.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91331" y="8613827"/>
            <a:ext cx="706788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A</a:t>
            </a:r>
            <a:r>
              <a:rPr dirty="0" sz="1200" spc="-2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clear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of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handling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components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is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foundational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robust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54">
                <a:solidFill>
                  <a:srgbClr val="9ca3af"/>
                </a:solidFill>
                <a:latin typeface="DejaVu Sans"/>
                <a:cs typeface="DejaVu Sans"/>
              </a:rPr>
              <a:t>RPA</a:t>
            </a:r>
            <a:r>
              <a:rPr dirty="0" sz="1200" spc="28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solutions.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94954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380925"/>
            <a:ext cx="10039082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49" b="1">
                <a:solidFill>
                  <a:srgbClr val="ffffff"/>
                </a:solidFill>
                <a:latin typeface="DejaVu Sans"/>
                <a:cs typeface="DejaVu Sans"/>
              </a:rPr>
              <a:t>Key</a:t>
            </a:r>
            <a:r>
              <a:rPr dirty="0" sz="4050" spc="3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94" b="1">
                <a:solidFill>
                  <a:srgbClr val="ffffff"/>
                </a:solidFill>
                <a:latin typeface="DejaVu Sans"/>
                <a:cs typeface="DejaVu Sans"/>
              </a:rPr>
              <a:t>Takeaways</a:t>
            </a:r>
            <a:r>
              <a:rPr dirty="0" sz="4050" spc="77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ffff"/>
                </a:solidFill>
                <a:latin typeface="DejaVu Sans"/>
                <a:cs typeface="DejaVu Sans"/>
              </a:rPr>
              <a:t>and</a:t>
            </a:r>
            <a:r>
              <a:rPr dirty="0" sz="4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ffff"/>
                </a:solidFill>
                <a:latin typeface="DejaVu Sans"/>
                <a:cs typeface="DejaVu Sans"/>
              </a:rPr>
              <a:t>Best</a:t>
            </a:r>
            <a:r>
              <a:rPr dirty="0" sz="4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ffffff"/>
                </a:solidFill>
                <a:latin typeface="DejaVu Sans"/>
                <a:cs typeface="DejaVu Sans"/>
              </a:rPr>
              <a:t>Practices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690" y="1473654"/>
            <a:ext cx="4283568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Fundamental</a:t>
            </a:r>
            <a:r>
              <a:rPr dirty="0" sz="2500" spc="11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ffffff"/>
                </a:solidFill>
                <a:latin typeface="DejaVu Sans"/>
                <a:cs typeface="DejaVu Sans"/>
              </a:rPr>
              <a:t>Concepts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66556" y="1473654"/>
            <a:ext cx="272470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ffffff"/>
                </a:solidFill>
                <a:latin typeface="DejaVu Sans"/>
                <a:cs typeface="DejaVu Sans"/>
              </a:rPr>
              <a:t>Best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DejaVu Sans"/>
                <a:cs typeface="DejaVu Sans"/>
              </a:rPr>
              <a:t>Practices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5682" y="2191713"/>
            <a:ext cx="329618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5">
                <a:solidFill>
                  <a:srgbClr val="d3d3d3"/>
                </a:solidFill>
                <a:latin typeface="DejaVu Sans"/>
                <a:cs typeface="DejaVu Sans"/>
              </a:rPr>
              <a:t>Variables:</a:t>
            </a:r>
            <a:r>
              <a:rPr dirty="0" sz="1700" spc="1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d3d3d3"/>
                </a:solidFill>
                <a:latin typeface="DejaVu Sans"/>
                <a:cs typeface="DejaVu Sans"/>
              </a:rPr>
              <a:t>Store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3d3d3"/>
                </a:solidFill>
                <a:latin typeface="DejaVu Sans"/>
                <a:cs typeface="DejaVu Sans"/>
              </a:rPr>
              <a:t>diverse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3d3d3"/>
                </a:solidFill>
                <a:latin typeface="DejaVu Sans"/>
                <a:cs typeface="DejaVu Sans"/>
              </a:rPr>
              <a:t>data.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69620" y="2306013"/>
            <a:ext cx="283063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Clear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Naming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Scope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57708" y="2611568"/>
            <a:ext cx="4756858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Essential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for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managing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data;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includes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types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14">
                <a:solidFill>
                  <a:srgbClr val="d3d3d3"/>
                </a:solidFill>
                <a:latin typeface="DejaVu Sans"/>
                <a:cs typeface="DejaVu Sans"/>
              </a:rPr>
              <a:t>like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arrays,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numbers,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strings.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69620" y="2611568"/>
            <a:ext cx="4102515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Adopt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consistent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naming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conventions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improved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readability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maintainability.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5682" y="3429963"/>
            <a:ext cx="4080753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d3d3d3"/>
                </a:solidFill>
                <a:latin typeface="DejaVu Sans"/>
                <a:cs typeface="DejaVu Sans"/>
              </a:rPr>
              <a:t>Collections: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d3d3d3"/>
                </a:solidFill>
                <a:latin typeface="DejaVu Sans"/>
                <a:cs typeface="DejaVu Sans"/>
              </a:rPr>
              <a:t>Organize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3d3d3"/>
                </a:solidFill>
                <a:latin typeface="DejaVu Sans"/>
                <a:cs typeface="DejaVu Sans"/>
              </a:rPr>
              <a:t>multiple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3d3d3"/>
                </a:solidFill>
                <a:latin typeface="DejaVu Sans"/>
                <a:cs typeface="DejaVu Sans"/>
              </a:rPr>
              <a:t>items.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69620" y="3706188"/>
            <a:ext cx="4281007" cy="8719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Optimal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Collection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Choice</a:t>
            </a:r>
          </a:p>
          <a:p>
            <a:pPr marL="0" marR="0">
              <a:lnSpc>
                <a:spcPts val="1760"/>
              </a:lnSpc>
              <a:spcBef>
                <a:spcPts val="475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Select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the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most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suitable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collection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type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760"/>
              </a:lnSpc>
              <a:spcBef>
                <a:spcPts val="56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eﬃcient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processing.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57708" y="3849818"/>
            <a:ext cx="4493612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Utilize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Lists,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Dictionaries,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36">
                <a:solidFill>
                  <a:srgbClr val="d3d3d3"/>
                </a:solidFill>
                <a:latin typeface="DejaVu Sans"/>
                <a:cs typeface="DejaVu Sans"/>
              </a:rPr>
              <a:t>Tables</a:t>
            </a:r>
            <a:r>
              <a:rPr dirty="0" sz="1500" spc="46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structured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manipulation.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35682" y="4668213"/>
            <a:ext cx="4673491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>
                <a:solidFill>
                  <a:srgbClr val="d3d3d3"/>
                </a:solidFill>
                <a:latin typeface="DejaVu Sans"/>
                <a:cs typeface="DejaVu Sans"/>
              </a:rPr>
              <a:t>Arguments: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37">
                <a:solidFill>
                  <a:srgbClr val="d3d3d3"/>
                </a:solidFill>
                <a:latin typeface="DejaVu Sans"/>
                <a:cs typeface="DejaVu Sans"/>
              </a:rPr>
              <a:t>Pass</a:t>
            </a:r>
            <a:r>
              <a:rPr dirty="0" sz="1700" spc="2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3d3d3"/>
                </a:solidFill>
                <a:latin typeface="DejaVu Sans"/>
                <a:cs typeface="DejaVu Sans"/>
              </a:rPr>
              <a:t>between</a:t>
            </a:r>
            <a:r>
              <a:rPr dirty="0" sz="17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3d3d3"/>
                </a:solidFill>
                <a:latin typeface="DejaVu Sans"/>
                <a:cs typeface="DejaVu Sans"/>
              </a:rPr>
              <a:t>workﬂows.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7708" y="5088068"/>
            <a:ext cx="4970121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Critical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for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modular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design,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enabling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transfer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reusability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across</a:t>
            </a:r>
            <a:r>
              <a:rPr dirty="0" sz="1500" spc="1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processes.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69620" y="5115888"/>
            <a:ext cx="3900871" cy="8719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Eﬀective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Argument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Handling</a:t>
            </a:r>
          </a:p>
          <a:p>
            <a:pPr marL="0" marR="0">
              <a:lnSpc>
                <a:spcPts val="1760"/>
              </a:lnSpc>
              <a:spcBef>
                <a:spcPts val="475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Design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functions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with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robust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argument</a:t>
            </a:r>
          </a:p>
          <a:p>
            <a:pPr marL="0" marR="0">
              <a:lnSpc>
                <a:spcPts val="1760"/>
              </a:lnSpc>
              <a:spcBef>
                <a:spcPts val="564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handling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for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ﬂexibility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reuse.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2674" y="6781255"/>
            <a:ext cx="279789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6e00"/>
                </a:solidFill>
                <a:latin typeface="DejaVu Sans"/>
                <a:cs typeface="DejaVu Sans"/>
              </a:rPr>
              <a:t>Beyond</a:t>
            </a:r>
            <a:r>
              <a:rPr dirty="0" sz="20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6e00"/>
                </a:solidFill>
                <a:latin typeface="DejaVu Sans"/>
                <a:cs typeface="DejaVu Sans"/>
              </a:rPr>
              <a:t>the</a:t>
            </a:r>
            <a:r>
              <a:rPr dirty="0" sz="2000" b="1">
                <a:solidFill>
                  <a:srgbClr val="ff6e0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6e00"/>
                </a:solidFill>
                <a:latin typeface="DejaVu Sans"/>
                <a:cs typeface="DejaVu Sans"/>
              </a:rPr>
              <a:t>Basics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556997" y="6782764"/>
            <a:ext cx="2104693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Connect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ffff"/>
                </a:solidFill>
                <a:latin typeface="DejaVu Sans"/>
                <a:cs typeface="DejaVu Sans"/>
              </a:rPr>
              <a:t>with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ffffff"/>
                </a:solidFill>
                <a:latin typeface="DejaVu Sans"/>
                <a:cs typeface="DejaVu Sans"/>
              </a:rPr>
              <a:t>Us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913589" y="7221668"/>
            <a:ext cx="167371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Email: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25">
                <a:solidFill>
                  <a:srgbClr val="d3d3d3"/>
                </a:solidFill>
                <a:latin typeface="DejaVu Sans"/>
                <a:cs typeface="DejaVu Sans"/>
              </a:rPr>
              <a:t>x@y.com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39266" y="7307393"/>
            <a:ext cx="4668725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Embrace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lifelong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learning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 spc="-40">
                <a:solidFill>
                  <a:srgbClr val="d3d3d3"/>
                </a:solidFill>
                <a:latin typeface="DejaVu Sans"/>
                <a:cs typeface="DejaVu Sans"/>
              </a:rPr>
              <a:t>RPA</a:t>
            </a:r>
            <a:r>
              <a:rPr dirty="0" sz="1500" spc="51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development.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39266" y="7736018"/>
            <a:ext cx="5747070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Dive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deeper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into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advanced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data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manipulation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techniques.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39266" y="8164643"/>
            <a:ext cx="6972022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Actively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engage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with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UiPath</a:t>
            </a:r>
            <a:r>
              <a:rPr dirty="0" sz="1500" spc="18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documentation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community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3d3d3"/>
                </a:solidFill>
                <a:latin typeface="DejaVu Sans"/>
                <a:cs typeface="DejaVu Sans"/>
              </a:rPr>
              <a:t>resources.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91331" y="8613827"/>
            <a:ext cx="706788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A</a:t>
            </a:r>
            <a:r>
              <a:rPr dirty="0" sz="1200" spc="-25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clear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of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handling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components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is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foundational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robust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54">
                <a:solidFill>
                  <a:srgbClr val="9ca3af"/>
                </a:solidFill>
                <a:latin typeface="DejaVu Sans"/>
                <a:cs typeface="DejaVu Sans"/>
              </a:rPr>
              <a:t>RPA</a:t>
            </a:r>
            <a:r>
              <a:rPr dirty="0" sz="1200" spc="28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2025-08-27T09:38:58+00:00</dcterms:modified>
</cp:coreProperties>
</file>