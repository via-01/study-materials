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368" autoAdjust="0"/>
    <p:restoredTop sz="92444" autoAdjust="0"/>
  </p:normalViewPr>
  <p:slideViewPr>
    <p:cSldViewPr>
      <p:cViewPr>
        <p:scale>
          <a:sx n="66" d="100"/>
          <a:sy n="66" d="100"/>
        </p:scale>
        <p:origin x="1314" y="-9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9F87C-8626-443E-8AE6-CD90CEF2CB1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379E1-489F-45EB-B172-DCBB00450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957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379E1-489F-45EB-B172-DCBB00450CD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39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78197" y="2387276"/>
            <a:ext cx="11187989" cy="205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0223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spc="-44" dirty="0">
                <a:latin typeface="DejaVu Sans"/>
                <a:cs typeface="DejaVu Sans"/>
              </a:rPr>
              <a:t>Various</a:t>
            </a:r>
            <a:r>
              <a:rPr sz="5050" b="1" spc="34" dirty="0">
                <a:latin typeface="DejaVu Sans"/>
                <a:cs typeface="DejaVu Sans"/>
              </a:rPr>
              <a:t> </a:t>
            </a:r>
            <a:r>
              <a:rPr sz="5050" b="1" spc="-125" dirty="0">
                <a:latin typeface="DejaVu Sans"/>
                <a:cs typeface="DejaVu Sans"/>
              </a:rPr>
              <a:t>Types</a:t>
            </a:r>
            <a:r>
              <a:rPr sz="5050" b="1" spc="114" dirty="0">
                <a:latin typeface="DejaVu Sans"/>
                <a:cs typeface="DejaVu Sans"/>
              </a:rPr>
              <a:t> </a:t>
            </a:r>
            <a:r>
              <a:rPr sz="5050" b="1" dirty="0">
                <a:latin typeface="DejaVu Sans"/>
                <a:cs typeface="DejaVu Sans"/>
              </a:rPr>
              <a:t>of Loops and</a:t>
            </a:r>
          </a:p>
          <a:p>
            <a:pPr marL="0" marR="0">
              <a:lnSpc>
                <a:spcPts val="5025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latin typeface="DejaVu Sans"/>
                <a:cs typeface="DejaVu Sans"/>
              </a:rPr>
              <a:t>Decision Making in </a:t>
            </a:r>
            <a:r>
              <a:rPr sz="5050" b="1" spc="-160" dirty="0">
                <a:latin typeface="DejaVu Sans"/>
                <a:cs typeface="DejaVu Sans"/>
              </a:rPr>
              <a:t>RPA</a:t>
            </a:r>
            <a:r>
              <a:rPr sz="5050" b="1" spc="147" dirty="0">
                <a:latin typeface="DejaVu Sans"/>
                <a:cs typeface="DejaVu Sans"/>
              </a:rPr>
              <a:t> </a:t>
            </a:r>
            <a:r>
              <a:rPr sz="5050" b="1" spc="-28" dirty="0">
                <a:latin typeface="DejaVu Sans"/>
                <a:cs typeface="DejaVu Sans"/>
              </a:rPr>
              <a:t>UiPath</a:t>
            </a:r>
          </a:p>
          <a:p>
            <a:pPr marL="853082" marR="0">
              <a:lnSpc>
                <a:spcPts val="3520"/>
              </a:lnSpc>
              <a:spcBef>
                <a:spcPts val="1479"/>
              </a:spcBef>
              <a:spcAft>
                <a:spcPts val="0"/>
              </a:spcAft>
            </a:pPr>
            <a:r>
              <a:rPr sz="3000" spc="12" dirty="0">
                <a:latin typeface="DejaVu Sans"/>
                <a:cs typeface="DejaVu Sans"/>
              </a:rPr>
              <a:t>Mastering</a:t>
            </a:r>
            <a:r>
              <a:rPr sz="3000" spc="10" dirty="0">
                <a:latin typeface="DejaVu Sans"/>
                <a:cs typeface="DejaVu Sans"/>
              </a:rPr>
              <a:t> </a:t>
            </a:r>
            <a:r>
              <a:rPr sz="3000" dirty="0">
                <a:latin typeface="DejaVu Sans"/>
                <a:cs typeface="DejaVu Sans"/>
              </a:rPr>
              <a:t>Control</a:t>
            </a:r>
            <a:r>
              <a:rPr sz="3000" spc="11" dirty="0">
                <a:latin typeface="DejaVu Sans"/>
                <a:cs typeface="DejaVu Sans"/>
              </a:rPr>
              <a:t> </a:t>
            </a:r>
            <a:r>
              <a:rPr sz="3000" spc="10" dirty="0">
                <a:latin typeface="DejaVu Sans"/>
                <a:cs typeface="DejaVu Sans"/>
              </a:rPr>
              <a:t>Flow</a:t>
            </a:r>
            <a:r>
              <a:rPr sz="3000" spc="15" dirty="0">
                <a:latin typeface="DejaVu Sans"/>
                <a:cs typeface="DejaVu Sans"/>
              </a:rPr>
              <a:t> </a:t>
            </a:r>
            <a:r>
              <a:rPr sz="3000" dirty="0">
                <a:latin typeface="DejaVu Sans"/>
                <a:cs typeface="DejaVu Sans"/>
              </a:rPr>
              <a:t>in</a:t>
            </a:r>
            <a:r>
              <a:rPr sz="3000" spc="15" dirty="0">
                <a:latin typeface="DejaVu Sans"/>
                <a:cs typeface="DejaVu Sans"/>
              </a:rPr>
              <a:t> </a:t>
            </a:r>
            <a:r>
              <a:rPr sz="3000" spc="14" dirty="0">
                <a:latin typeface="DejaVu Sans"/>
                <a:cs typeface="DejaVu Sans"/>
              </a:rPr>
              <a:t>Automation</a:t>
            </a:r>
            <a:r>
              <a:rPr sz="3000" dirty="0">
                <a:latin typeface="DejaVu Sans"/>
                <a:cs typeface="DejaVu Sans"/>
              </a:rPr>
              <a:t> Workﬂows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7629" y="322124"/>
            <a:ext cx="10269096" cy="60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latin typeface="DejaVu Sans"/>
                <a:cs typeface="DejaVu Sans"/>
              </a:rPr>
              <a:t>Understanding</a:t>
            </a:r>
            <a:r>
              <a:rPr sz="4050" b="1" dirty="0">
                <a:latin typeface="DejaVu Sans"/>
                <a:cs typeface="DejaVu Sans"/>
              </a:rPr>
              <a:t> </a:t>
            </a:r>
            <a:r>
              <a:rPr sz="4050" b="1" spc="-11" dirty="0">
                <a:latin typeface="DejaVu Sans"/>
                <a:cs typeface="DejaVu Sans"/>
              </a:rPr>
              <a:t>Control</a:t>
            </a:r>
            <a:r>
              <a:rPr sz="4050" b="1" dirty="0">
                <a:latin typeface="DejaVu Sans"/>
                <a:cs typeface="DejaVu Sans"/>
              </a:rPr>
              <a:t> </a:t>
            </a:r>
            <a:r>
              <a:rPr sz="4050" b="1" spc="-10" dirty="0">
                <a:latin typeface="DejaVu Sans"/>
                <a:cs typeface="DejaVu Sans"/>
              </a:rPr>
              <a:t>Flow</a:t>
            </a:r>
            <a:r>
              <a:rPr sz="4050" b="1" spc="-12" dirty="0">
                <a:latin typeface="DejaVu Sans"/>
                <a:cs typeface="DejaVu Sans"/>
              </a:rPr>
              <a:t> </a:t>
            </a:r>
            <a:r>
              <a:rPr sz="4050" b="1" dirty="0">
                <a:latin typeface="DejaVu Sans"/>
                <a:cs typeface="DejaVu Sans"/>
              </a:rPr>
              <a:t>in</a:t>
            </a:r>
            <a:r>
              <a:rPr sz="4050" b="1" spc="-12" dirty="0">
                <a:latin typeface="DejaVu Sans"/>
                <a:cs typeface="DejaVu Sans"/>
              </a:rPr>
              <a:t> </a:t>
            </a:r>
            <a:r>
              <a:rPr sz="4050" b="1" dirty="0">
                <a:latin typeface="DejaVu Sans"/>
                <a:cs typeface="DejaVu Sans"/>
              </a:rPr>
              <a:t>R</a:t>
            </a:r>
            <a:r>
              <a:rPr sz="4050" b="1" spc="-1423" dirty="0">
                <a:latin typeface="DejaVu Sans"/>
                <a:cs typeface="DejaVu Sans"/>
              </a:rPr>
              <a:t> </a:t>
            </a:r>
            <a:r>
              <a:rPr sz="4050" b="1" spc="-191" dirty="0">
                <a:latin typeface="DejaVu Sans"/>
                <a:cs typeface="DejaVu Sans"/>
              </a:rPr>
              <a:t>PA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1556" y="1224353"/>
            <a:ext cx="4688993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5" dirty="0">
                <a:latin typeface="DejaVu Sans"/>
                <a:cs typeface="DejaVu Sans"/>
              </a:rPr>
              <a:t>What</a:t>
            </a:r>
            <a:r>
              <a:rPr sz="2500" b="1" dirty="0">
                <a:latin typeface="DejaVu Sans"/>
                <a:cs typeface="DejaVu Sans"/>
              </a:rPr>
              <a:t> is</a:t>
            </a:r>
            <a:r>
              <a:rPr lang="en-IN" sz="2500" b="1" dirty="0">
                <a:latin typeface="DejaVu Sans"/>
                <a:cs typeface="DejaVu Sans"/>
              </a:rPr>
              <a:t> </a:t>
            </a:r>
            <a:r>
              <a:rPr sz="2500" b="1" spc="11" dirty="0">
                <a:latin typeface="DejaVu Sans"/>
                <a:cs typeface="DejaVu Sans"/>
              </a:rPr>
              <a:t>Control</a:t>
            </a:r>
            <a:r>
              <a:rPr lang="en-IN" sz="2500" b="1" spc="11" dirty="0">
                <a:latin typeface="DejaVu Sans"/>
                <a:cs typeface="DejaVu Sans"/>
              </a:rPr>
              <a:t> </a:t>
            </a:r>
            <a:r>
              <a:rPr sz="2500" b="1" spc="11" dirty="0">
                <a:latin typeface="DejaVu Sans"/>
                <a:cs typeface="DejaVu Sans"/>
              </a:rPr>
              <a:t>Flow?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46105" y="1224353"/>
            <a:ext cx="4248469" cy="756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latin typeface="DejaVu Sans"/>
                <a:cs typeface="DejaVu Sans"/>
              </a:rPr>
              <a:t>Importance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2" dirty="0">
                <a:latin typeface="DejaVu Sans"/>
                <a:cs typeface="DejaVu Sans"/>
              </a:rPr>
              <a:t>of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2" dirty="0">
                <a:latin typeface="DejaVu Sans"/>
                <a:cs typeface="DejaVu Sans"/>
              </a:rPr>
              <a:t>Loops</a:t>
            </a:r>
            <a:r>
              <a:rPr sz="2500" b="1" dirty="0">
                <a:latin typeface="DejaVu Sans"/>
                <a:cs typeface="DejaVu Sans"/>
              </a:rPr>
              <a:t> &amp;</a:t>
            </a:r>
          </a:p>
          <a:p>
            <a:pPr marL="0" marR="0">
              <a:lnSpc>
                <a:spcPts val="2932"/>
              </a:lnSpc>
              <a:spcBef>
                <a:spcPts val="67"/>
              </a:spcBef>
              <a:spcAft>
                <a:spcPts val="0"/>
              </a:spcAft>
            </a:pPr>
            <a:r>
              <a:rPr sz="2500" b="1" spc="10" dirty="0">
                <a:latin typeface="DejaVu Sans"/>
                <a:cs typeface="DejaVu Sans"/>
              </a:rPr>
              <a:t>Decision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1" dirty="0">
                <a:latin typeface="DejaVu Sans"/>
                <a:cs typeface="DejaVu Sans"/>
              </a:rPr>
              <a:t>Making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37113" y="2140928"/>
            <a:ext cx="283188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latin typeface="DejaVu Sans"/>
                <a:cs typeface="DejaVu Sans"/>
              </a:rPr>
              <a:t>Loops</a:t>
            </a:r>
            <a:r>
              <a:rPr sz="2000" b="1" dirty="0">
                <a:latin typeface="DejaVu Sans"/>
                <a:cs typeface="DejaVu Sans"/>
              </a:rPr>
              <a:t> (Repetition)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835" y="1798365"/>
            <a:ext cx="497083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latin typeface="DejaVu Sans"/>
                <a:cs typeface="DejaVu Sans"/>
              </a:rPr>
              <a:t>Deﬁnes the order</a:t>
            </a:r>
            <a:r>
              <a:rPr sz="1500" b="1" spc="-4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in which actions </a:t>
            </a:r>
            <a:r>
              <a:rPr sz="1500" spc="-10" dirty="0">
                <a:latin typeface="DejaVu Sans"/>
                <a:cs typeface="DejaVu Sans"/>
              </a:rPr>
              <a:t>are</a:t>
            </a:r>
            <a:r>
              <a:rPr sz="1500" spc="2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executed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37113" y="2533717"/>
            <a:ext cx="4905814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Essential for automating repetitive tasks, such as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processing items in 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list or iterating through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database records</a:t>
            </a:r>
            <a:r>
              <a:rPr sz="1500" spc="12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(e.g., </a:t>
            </a:r>
            <a:r>
              <a:rPr sz="1500" spc="-20" dirty="0">
                <a:latin typeface="DejaVu Sans"/>
                <a:cs typeface="DejaVu Sans"/>
              </a:rPr>
              <a:t>For</a:t>
            </a:r>
            <a:r>
              <a:rPr sz="1500" spc="28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Each, While).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6835" y="2093640"/>
            <a:ext cx="298901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within an automation project.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6835" y="2522265"/>
            <a:ext cx="4496804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latin typeface="DejaVu Sans"/>
                <a:cs typeface="DejaVu Sans"/>
              </a:rPr>
              <a:t>Determines the path</a:t>
            </a:r>
            <a:r>
              <a:rPr sz="1500" b="1" spc="-4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an automation takes,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ensuring tasks </a:t>
            </a:r>
            <a:r>
              <a:rPr sz="1500" spc="-10" dirty="0">
                <a:latin typeface="DejaVu Sans"/>
                <a:cs typeface="DejaVu Sans"/>
              </a:rPr>
              <a:t>are</a:t>
            </a:r>
            <a:r>
              <a:rPr sz="1500" spc="2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performed logically and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spc="-15" dirty="0">
                <a:latin typeface="DejaVu Sans"/>
                <a:cs typeface="DejaVu Sans"/>
              </a:rPr>
              <a:t>eﬃciently.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37113" y="3541104"/>
            <a:ext cx="46075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DejaVu Sans"/>
                <a:cs typeface="DejaVu Sans"/>
              </a:rPr>
              <a:t>Decision </a:t>
            </a:r>
            <a:r>
              <a:rPr sz="2000" b="1" spc="10" dirty="0">
                <a:latin typeface="DejaVu Sans"/>
                <a:cs typeface="DejaVu Sans"/>
              </a:rPr>
              <a:t>Making</a:t>
            </a:r>
            <a:r>
              <a:rPr sz="2000" b="1" dirty="0">
                <a:latin typeface="DejaVu Sans"/>
                <a:cs typeface="DejaVu Sans"/>
              </a:rPr>
              <a:t> (Adaptability)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37113" y="3943417"/>
            <a:ext cx="5099870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Creates intelligent workﬂows capable of handling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various scenarios and exceptions by controlling the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path based on conditions (e.g., If, Switch).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6835" y="3550965"/>
            <a:ext cx="429154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latin typeface="DejaVu Sans"/>
                <a:cs typeface="DejaVu Sans"/>
              </a:rPr>
              <a:t>Crucial for building</a:t>
            </a:r>
            <a:r>
              <a:rPr sz="1500" b="1" spc="-38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robust, scalable, and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6835" y="3846240"/>
            <a:ext cx="336530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adaptable automation workﬂows.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9092" y="4869160"/>
            <a:ext cx="287540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latin typeface="DejaVu Sans"/>
                <a:cs typeface="DejaVu Sans"/>
              </a:rPr>
              <a:t>Increased</a:t>
            </a:r>
            <a:r>
              <a:rPr sz="1700" b="1" spc="-10" dirty="0">
                <a:latin typeface="DejaVu Sans"/>
                <a:cs typeface="DejaVu Sans"/>
              </a:rPr>
              <a:t> </a:t>
            </a:r>
            <a:r>
              <a:rPr sz="1700" b="1" spc="-11" dirty="0">
                <a:latin typeface="DejaVu Sans"/>
                <a:cs typeface="DejaVu Sans"/>
              </a:rPr>
              <a:t>Adaptability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777084" y="4869160"/>
            <a:ext cx="2790012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latin typeface="DejaVu Sans"/>
                <a:cs typeface="DejaVu Sans"/>
              </a:rPr>
              <a:t>Enhanced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14" dirty="0">
                <a:latin typeface="DejaVu Sans"/>
                <a:cs typeface="DejaVu Sans"/>
              </a:rPr>
              <a:t>Robustness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921352" y="4869160"/>
            <a:ext cx="2292246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latin typeface="DejaVu Sans"/>
                <a:cs typeface="DejaVu Sans"/>
              </a:rPr>
              <a:t>Greater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14" dirty="0">
                <a:latin typeface="DejaVu Sans"/>
                <a:cs typeface="DejaVu Sans"/>
              </a:rPr>
              <a:t>Eﬃciency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18095" y="5213568"/>
            <a:ext cx="3117476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405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latin typeface="DejaVu Sans"/>
                <a:cs typeface="DejaVu Sans"/>
              </a:rPr>
              <a:t>Enables automation to respond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latin typeface="DejaVu Sans"/>
                <a:cs typeface="DejaVu Sans"/>
              </a:rPr>
              <a:t>dynamically to diﬀerent conditions</a:t>
            </a:r>
          </a:p>
          <a:p>
            <a:pPr marL="86231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latin typeface="DejaVu Sans"/>
                <a:cs typeface="DejaVu Sans"/>
              </a:rPr>
              <a:t>and scenarios.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36888" y="5213568"/>
            <a:ext cx="3070517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latin typeface="DejaVu Sans"/>
                <a:cs typeface="DejaVu Sans"/>
              </a:rPr>
              <a:t>Builds resilient processes that can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43167" y="5213568"/>
            <a:ext cx="3248660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222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latin typeface="DejaVu Sans"/>
                <a:cs typeface="DejaVu Sans"/>
              </a:rPr>
              <a:t>Streamlines workﬂow </a:t>
            </a:r>
            <a:r>
              <a:rPr sz="1350" spc="-10" dirty="0">
                <a:latin typeface="DejaVu Sans"/>
                <a:cs typeface="DejaVu Sans"/>
              </a:rPr>
              <a:t>execution,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latin typeface="DejaVu Sans"/>
                <a:cs typeface="DejaVu Sans"/>
              </a:rPr>
              <a:t>minimizing manual intervention and</a:t>
            </a:r>
          </a:p>
          <a:p>
            <a:pPr marL="524172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latin typeface="DejaVu Sans"/>
                <a:cs typeface="DejaVu Sans"/>
              </a:rPr>
              <a:t>maximizing throughput.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869804" y="5470743"/>
            <a:ext cx="260454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latin typeface="DejaVu Sans"/>
                <a:cs typeface="DejaVu Sans"/>
              </a:rPr>
              <a:t>handle unexpected inputs or</a:t>
            </a:r>
          </a:p>
          <a:p>
            <a:pPr marL="339774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latin typeface="DejaVu Sans"/>
                <a:cs typeface="DejaVu Sans"/>
              </a:rPr>
              <a:t>variations </a:t>
            </a:r>
            <a:r>
              <a:rPr sz="1350" spc="-20" dirty="0">
                <a:latin typeface="DejaVu Sans"/>
                <a:cs typeface="DejaVu Sans"/>
              </a:rPr>
              <a:t>gracefully.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60549" y="6052579"/>
            <a:ext cx="6454182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latin typeface="DejaVu Sans"/>
                <a:cs typeface="DejaVu Sans"/>
              </a:rPr>
              <a:t>UiPath</a:t>
            </a:r>
            <a:r>
              <a:rPr sz="2000" b="1" spc="18" dirty="0">
                <a:latin typeface="DejaVu Sans"/>
                <a:cs typeface="DejaVu Sans"/>
              </a:rPr>
              <a:t> </a:t>
            </a:r>
            <a:r>
              <a:rPr sz="2000" b="1" spc="10" dirty="0">
                <a:latin typeface="DejaVu Sans"/>
                <a:cs typeface="DejaVu Sans"/>
              </a:rPr>
              <a:t>Decision-Making</a:t>
            </a:r>
            <a:r>
              <a:rPr sz="2000" b="1" dirty="0">
                <a:latin typeface="DejaVu Sans"/>
                <a:cs typeface="DejaVu Sans"/>
              </a:rPr>
              <a:t> Activities </a:t>
            </a:r>
            <a:r>
              <a:rPr sz="2000" b="1" spc="10" dirty="0">
                <a:latin typeface="DejaVu Sans"/>
                <a:cs typeface="DejaVu Sans"/>
              </a:rPr>
              <a:t>Overview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51556" y="6569192"/>
            <a:ext cx="537645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latin typeface="DejaVu Sans"/>
                <a:cs typeface="DejaVu Sans"/>
              </a:rPr>
              <a:t>If Activity:</a:t>
            </a:r>
            <a:r>
              <a:rPr sz="1500" b="1" spc="-43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Executes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one of two branches (Then/Else)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266556" y="6569192"/>
            <a:ext cx="5425408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latin typeface="DejaVu Sans"/>
                <a:cs typeface="DejaVu Sans"/>
              </a:rPr>
              <a:t>Flow Decision:</a:t>
            </a:r>
            <a:r>
              <a:rPr sz="1500" b="1" spc="-43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Visual If-statement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within 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ﬂowchart,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51556" y="6873992"/>
            <a:ext cx="304910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based on 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boolean condition.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266556" y="6873992"/>
            <a:ext cx="272615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providing </a:t>
            </a:r>
            <a:r>
              <a:rPr sz="1500" spc="-31" dirty="0">
                <a:latin typeface="DejaVu Sans"/>
                <a:cs typeface="DejaVu Sans"/>
              </a:rPr>
              <a:t>True/False</a:t>
            </a:r>
            <a:r>
              <a:rPr sz="1500" spc="4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paths.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51556" y="7254993"/>
            <a:ext cx="510702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latin typeface="DejaVu Sans"/>
                <a:cs typeface="DejaVu Sans"/>
              </a:rPr>
              <a:t>Switch Activity:</a:t>
            </a:r>
            <a:r>
              <a:rPr sz="1500" b="1" spc="-4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Selects one of multiple execution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266556" y="7254993"/>
            <a:ext cx="4752587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latin typeface="DejaVu Sans"/>
                <a:cs typeface="DejaVu Sans"/>
              </a:rPr>
              <a:t>Flow Switch:</a:t>
            </a:r>
            <a:r>
              <a:rPr sz="1500" b="1" spc="-43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A</a:t>
            </a:r>
            <a:r>
              <a:rPr sz="1500" spc="11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ﬂowchart equivalent of Switch,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51556" y="7550268"/>
            <a:ext cx="3825873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paths based on an expression's value.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266556" y="7550268"/>
            <a:ext cx="4151261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branching based on multiple case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" y="116632"/>
            <a:ext cx="12051090" cy="547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11" dirty="0">
                <a:latin typeface="DejaVu Sans"/>
                <a:cs typeface="DejaVu Sans"/>
              </a:rPr>
              <a:t>Looping</a:t>
            </a:r>
            <a:r>
              <a:rPr sz="3600" b="1" dirty="0">
                <a:latin typeface="DejaVu Sans"/>
                <a:cs typeface="DejaVu Sans"/>
              </a:rPr>
              <a:t> </a:t>
            </a:r>
            <a:r>
              <a:rPr sz="3600" b="1" spc="-10" dirty="0">
                <a:latin typeface="DejaVu Sans"/>
                <a:cs typeface="DejaVu Sans"/>
              </a:rPr>
              <a:t>Constructs</a:t>
            </a:r>
            <a:r>
              <a:rPr sz="3600" b="1" dirty="0">
                <a:latin typeface="DejaVu Sans"/>
                <a:cs typeface="DejaVu Sans"/>
              </a:rPr>
              <a:t> in</a:t>
            </a:r>
            <a:r>
              <a:rPr sz="3600" b="1" spc="-12" dirty="0">
                <a:latin typeface="DejaVu Sans"/>
                <a:cs typeface="DejaVu Sans"/>
              </a:rPr>
              <a:t> </a:t>
            </a:r>
            <a:r>
              <a:rPr sz="3600" b="1" spc="-30" dirty="0">
                <a:latin typeface="DejaVu Sans"/>
                <a:cs typeface="DejaVu Sans"/>
              </a:rPr>
              <a:t>UiPath:</a:t>
            </a:r>
            <a:r>
              <a:rPr sz="3600" b="1" spc="15" dirty="0">
                <a:latin typeface="DejaVu Sans"/>
                <a:cs typeface="DejaVu Sans"/>
              </a:rPr>
              <a:t> </a:t>
            </a:r>
            <a:r>
              <a:rPr sz="3600" b="1" spc="-15" dirty="0">
                <a:latin typeface="DejaVu Sans"/>
                <a:cs typeface="DejaVu Sans"/>
              </a:rPr>
              <a:t>An</a:t>
            </a:r>
            <a:r>
              <a:rPr lang="en-IN" sz="3600" b="1" spc="-15" dirty="0">
                <a:latin typeface="DejaVu Sans"/>
                <a:cs typeface="DejaVu Sans"/>
              </a:rPr>
              <a:t> </a:t>
            </a:r>
            <a:r>
              <a:rPr sz="3600" b="1" spc="-11" dirty="0">
                <a:latin typeface="DejaVu Sans"/>
                <a:cs typeface="DejaVu Sans"/>
              </a:rPr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9992" y="692696"/>
            <a:ext cx="9821923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latin typeface="DejaVu Sans"/>
                <a:cs typeface="DejaVu Sans"/>
              </a:rPr>
              <a:t>The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0" dirty="0">
                <a:latin typeface="DejaVu Sans"/>
                <a:cs typeface="DejaVu Sans"/>
              </a:rPr>
              <a:t>Role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2" dirty="0">
                <a:latin typeface="DejaVu Sans"/>
                <a:cs typeface="DejaVu Sans"/>
              </a:rPr>
              <a:t>of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2" dirty="0">
                <a:latin typeface="DejaVu Sans"/>
                <a:cs typeface="DejaVu Sans"/>
              </a:rPr>
              <a:t>Loops</a:t>
            </a:r>
            <a:r>
              <a:rPr sz="2500" b="1" dirty="0">
                <a:latin typeface="DejaVu Sans"/>
                <a:cs typeface="DejaVu Sans"/>
              </a:rPr>
              <a:t> in</a:t>
            </a:r>
            <a:r>
              <a:rPr sz="2500" b="1" spc="12" dirty="0">
                <a:latin typeface="DejaVu Sans"/>
                <a:cs typeface="DejaVu Sans"/>
              </a:rPr>
              <a:t> </a:t>
            </a:r>
            <a:r>
              <a:rPr sz="2500" b="1" spc="10" dirty="0">
                <a:latin typeface="DejaVu Sans"/>
                <a:cs typeface="DejaVu Sans"/>
              </a:rPr>
              <a:t>Repetitive</a:t>
            </a:r>
            <a:r>
              <a:rPr lang="en-IN" sz="2500" b="1" spc="10" dirty="0">
                <a:latin typeface="DejaVu Sans"/>
                <a:cs typeface="DejaVu Sans"/>
              </a:rPr>
              <a:t> </a:t>
            </a:r>
            <a:r>
              <a:rPr sz="2500" b="1" spc="-55" dirty="0">
                <a:latin typeface="DejaVu Sans"/>
                <a:cs typeface="DejaVu Sans"/>
              </a:rPr>
              <a:t>Tasks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968" y="1124744"/>
            <a:ext cx="10675640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20" dirty="0">
                <a:latin typeface="DejaVu Sans"/>
                <a:cs typeface="DejaVu Sans"/>
              </a:rPr>
              <a:t>Loops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28" dirty="0">
                <a:latin typeface="DejaVu Sans"/>
                <a:cs typeface="DejaVu Sans"/>
              </a:rPr>
              <a:t>are</a:t>
            </a:r>
            <a:r>
              <a:rPr sz="1700" spc="1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fundamental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7" dirty="0">
                <a:latin typeface="DejaVu Sans"/>
                <a:cs typeface="DejaVu Sans"/>
              </a:rPr>
              <a:t>control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ﬂow</a:t>
            </a:r>
            <a:r>
              <a:rPr sz="1700" spc="-10" dirty="0">
                <a:latin typeface="DejaVu Sans"/>
                <a:cs typeface="DejaVu Sans"/>
              </a:rPr>
              <a:t> </a:t>
            </a:r>
            <a:r>
              <a:rPr sz="1700" dirty="0">
                <a:latin typeface="DejaVu Sans"/>
                <a:cs typeface="DejaVu Sans"/>
              </a:rPr>
              <a:t>activities in</a:t>
            </a:r>
            <a:r>
              <a:rPr sz="1700" spc="-14" dirty="0">
                <a:latin typeface="DejaVu Sans"/>
                <a:cs typeface="DejaVu Sans"/>
              </a:rPr>
              <a:t> </a:t>
            </a:r>
            <a:r>
              <a:rPr sz="1700" spc="-23" dirty="0">
                <a:latin typeface="DejaVu Sans"/>
                <a:cs typeface="DejaVu Sans"/>
              </a:rPr>
              <a:t>UiPath,</a:t>
            </a:r>
            <a:r>
              <a:rPr lang="en-IN" sz="1700" spc="-23" dirty="0">
                <a:latin typeface="DejaVu Sans"/>
                <a:cs typeface="DejaVu Sans"/>
              </a:rPr>
              <a:t> </a:t>
            </a:r>
            <a:r>
              <a:rPr sz="1700" spc="-11" dirty="0">
                <a:latin typeface="DejaVu Sans"/>
                <a:cs typeface="DejaVu Sans"/>
              </a:rPr>
              <a:t>designed</a:t>
            </a:r>
            <a:r>
              <a:rPr sz="1700" dirty="0">
                <a:latin typeface="DejaVu Sans"/>
                <a:cs typeface="DejaVu Sans"/>
              </a:rPr>
              <a:t> to</a:t>
            </a:r>
            <a:r>
              <a:rPr sz="1700" spc="-1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automate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4" dirty="0">
                <a:latin typeface="DejaVu Sans"/>
                <a:cs typeface="DejaVu Sans"/>
              </a:rPr>
              <a:t>repetitive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5" dirty="0">
                <a:latin typeface="DejaVu Sans"/>
                <a:cs typeface="DejaVu Sans"/>
              </a:rPr>
              <a:t>processes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34" dirty="0">
                <a:latin typeface="DejaVu Sans"/>
                <a:cs typeface="DejaVu Sans"/>
              </a:rPr>
              <a:t>eﬃciently.</a:t>
            </a:r>
            <a:r>
              <a:rPr lang="en-IN" sz="1700" spc="-34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They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enable</a:t>
            </a:r>
            <a:r>
              <a:rPr sz="1700" dirty="0">
                <a:latin typeface="DejaVu Sans"/>
                <a:cs typeface="DejaVu Sans"/>
              </a:rPr>
              <a:t> a</a:t>
            </a:r>
            <a:r>
              <a:rPr sz="1700" spc="-18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bot</a:t>
            </a:r>
            <a:r>
              <a:rPr sz="1700" dirty="0">
                <a:latin typeface="DejaVu Sans"/>
                <a:cs typeface="DejaVu Sans"/>
              </a:rPr>
              <a:t> to</a:t>
            </a:r>
            <a:r>
              <a:rPr sz="1700" spc="-10" dirty="0">
                <a:latin typeface="DejaVu Sans"/>
                <a:cs typeface="DejaVu Sans"/>
              </a:rPr>
              <a:t> </a:t>
            </a:r>
            <a:r>
              <a:rPr sz="1700" spc="-25" dirty="0">
                <a:latin typeface="DejaVu Sans"/>
                <a:cs typeface="DejaVu Sans"/>
              </a:rPr>
              <a:t>execute</a:t>
            </a:r>
            <a:r>
              <a:rPr sz="1700" dirty="0">
                <a:latin typeface="DejaVu Sans"/>
                <a:cs typeface="DejaVu Sans"/>
              </a:rPr>
              <a:t> a</a:t>
            </a:r>
            <a:r>
              <a:rPr sz="1700" spc="-18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speciﬁc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block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of</a:t>
            </a:r>
            <a:r>
              <a:rPr sz="1700" dirty="0">
                <a:latin typeface="DejaVu Sans"/>
                <a:cs typeface="DejaVu Sans"/>
              </a:rPr>
              <a:t> activities</a:t>
            </a:r>
            <a:r>
              <a:rPr lang="en-IN"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multiple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1" dirty="0">
                <a:latin typeface="DejaVu Sans"/>
                <a:cs typeface="DejaVu Sans"/>
              </a:rPr>
              <a:t>times,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either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until</a:t>
            </a:r>
            <a:r>
              <a:rPr sz="1700" dirty="0">
                <a:latin typeface="DejaVu Sans"/>
                <a:cs typeface="DejaVu Sans"/>
              </a:rPr>
              <a:t> a</a:t>
            </a:r>
            <a:r>
              <a:rPr sz="1700" spc="-18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certain condition</a:t>
            </a:r>
            <a:r>
              <a:rPr sz="1700" dirty="0">
                <a:latin typeface="DejaVu Sans"/>
                <a:cs typeface="DejaVu Sans"/>
              </a:rPr>
              <a:t> is</a:t>
            </a:r>
            <a:r>
              <a:rPr sz="1700" spc="-11" dirty="0">
                <a:latin typeface="DejaVu Sans"/>
                <a:cs typeface="DejaVu Sans"/>
              </a:rPr>
              <a:t> </a:t>
            </a:r>
            <a:r>
              <a:rPr sz="1700" spc="-15" dirty="0">
                <a:latin typeface="DejaVu Sans"/>
                <a:cs typeface="DejaVu Sans"/>
              </a:rPr>
              <a:t>met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or</a:t>
            </a:r>
            <a:r>
              <a:rPr lang="en-IN" sz="1700" spc="-12" dirty="0">
                <a:latin typeface="DejaVu Sans"/>
                <a:cs typeface="DejaVu Sans"/>
              </a:rPr>
              <a:t> </a:t>
            </a:r>
            <a:r>
              <a:rPr sz="1700" dirty="0">
                <a:latin typeface="DejaVu Sans"/>
                <a:cs typeface="DejaVu Sans"/>
              </a:rPr>
              <a:t>all </a:t>
            </a:r>
            <a:r>
              <a:rPr sz="1700" spc="-11" dirty="0">
                <a:latin typeface="DejaVu Sans"/>
                <a:cs typeface="DejaVu Sans"/>
              </a:rPr>
              <a:t>items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within </a:t>
            </a:r>
            <a:r>
              <a:rPr sz="1700" dirty="0">
                <a:latin typeface="DejaVu Sans"/>
                <a:cs typeface="DejaVu Sans"/>
              </a:rPr>
              <a:t>a</a:t>
            </a:r>
            <a:r>
              <a:rPr sz="1700" spc="-18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collection </a:t>
            </a:r>
            <a:r>
              <a:rPr sz="1700" spc="-12" dirty="0">
                <a:latin typeface="DejaVu Sans"/>
                <a:cs typeface="DejaVu Sans"/>
              </a:rPr>
              <a:t>have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been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5" dirty="0">
                <a:latin typeface="DejaVu Sans"/>
                <a:cs typeface="DejaVu Sans"/>
              </a:rPr>
              <a:t>processed.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This</a:t>
            </a:r>
            <a:r>
              <a:rPr lang="en-IN" sz="1700" spc="-1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capability</a:t>
            </a:r>
            <a:r>
              <a:rPr sz="1700" dirty="0">
                <a:latin typeface="DejaVu Sans"/>
                <a:cs typeface="DejaVu Sans"/>
              </a:rPr>
              <a:t> is</a:t>
            </a:r>
            <a:r>
              <a:rPr sz="1700" spc="-11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crucial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for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handling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7" dirty="0">
                <a:latin typeface="DejaVu Sans"/>
                <a:cs typeface="DejaVu Sans"/>
              </a:rPr>
              <a:t>large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volumes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of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similar</a:t>
            </a:r>
            <a:r>
              <a:rPr lang="en-IN" sz="1700" spc="-1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tasks,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signiﬁcantly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1" dirty="0">
                <a:latin typeface="DejaVu Sans"/>
                <a:cs typeface="DejaVu Sans"/>
              </a:rPr>
              <a:t>enhancing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1" dirty="0">
                <a:latin typeface="DejaVu Sans"/>
                <a:cs typeface="DejaVu Sans"/>
              </a:rPr>
              <a:t>automation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1" dirty="0">
                <a:latin typeface="DejaVu Sans"/>
                <a:cs typeface="DejaVu Sans"/>
              </a:rPr>
              <a:t>accuracy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and</a:t>
            </a:r>
            <a:r>
              <a:rPr lang="en-IN" sz="1700" spc="-12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speed.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9183" y="2499211"/>
            <a:ext cx="9079502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5" dirty="0">
                <a:latin typeface="DejaVu Sans"/>
                <a:cs typeface="DejaVu Sans"/>
              </a:rPr>
              <a:t>Common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0" dirty="0">
                <a:latin typeface="DejaVu Sans"/>
                <a:cs typeface="DejaVu Sans"/>
              </a:rPr>
              <a:t>Scenarios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0" dirty="0">
                <a:latin typeface="DejaVu Sans"/>
                <a:cs typeface="DejaVu Sans"/>
              </a:rPr>
              <a:t>for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0" dirty="0">
                <a:latin typeface="DejaVu Sans"/>
                <a:cs typeface="DejaVu Sans"/>
              </a:rPr>
              <a:t>Using</a:t>
            </a:r>
            <a:r>
              <a:rPr lang="en-IN" sz="2500" b="1" spc="10" dirty="0">
                <a:latin typeface="DejaVu Sans"/>
                <a:cs typeface="DejaVu Sans"/>
              </a:rPr>
              <a:t> </a:t>
            </a:r>
            <a:r>
              <a:rPr sz="2500" b="1" spc="12" dirty="0">
                <a:latin typeface="DejaVu Sans"/>
                <a:cs typeface="DejaVu Sans"/>
              </a:rPr>
              <a:t>Loops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2968" y="2852936"/>
            <a:ext cx="10412301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55"/>
              </a:lnSpc>
            </a:pPr>
            <a:r>
              <a:rPr sz="1700" b="1" spc="-14" dirty="0">
                <a:latin typeface="DejaVu Sans"/>
                <a:cs typeface="DejaVu Sans"/>
              </a:rPr>
              <a:t>Data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12" dirty="0">
                <a:latin typeface="DejaVu Sans"/>
                <a:cs typeface="DejaVu Sans"/>
              </a:rPr>
              <a:t>Processing:</a:t>
            </a:r>
            <a:r>
              <a:rPr sz="1700" b="1" spc="-52" dirty="0">
                <a:latin typeface="DejaVu Sans"/>
                <a:cs typeface="DejaVu Sans"/>
              </a:rPr>
              <a:t> </a:t>
            </a:r>
            <a:r>
              <a:rPr sz="1700" dirty="0">
                <a:latin typeface="DejaVu Sans"/>
                <a:cs typeface="DejaVu Sans"/>
              </a:rPr>
              <a:t>Iterating</a:t>
            </a:r>
            <a:r>
              <a:rPr sz="1700" spc="-10" dirty="0">
                <a:latin typeface="DejaVu Sans"/>
                <a:cs typeface="DejaVu Sans"/>
              </a:rPr>
              <a:t> </a:t>
            </a:r>
            <a:r>
              <a:rPr sz="1700" spc="-18" dirty="0">
                <a:latin typeface="DejaVu Sans"/>
                <a:cs typeface="DejaVu Sans"/>
              </a:rPr>
              <a:t>through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1" dirty="0">
                <a:latin typeface="DejaVu Sans"/>
                <a:cs typeface="DejaVu Sans"/>
              </a:rPr>
              <a:t>each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28" dirty="0">
                <a:latin typeface="DejaVu Sans"/>
                <a:cs typeface="DejaVu Sans"/>
              </a:rPr>
              <a:t>row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of</a:t>
            </a:r>
            <a:r>
              <a:rPr sz="1700" dirty="0">
                <a:latin typeface="DejaVu Sans"/>
                <a:cs typeface="DejaVu Sans"/>
              </a:rPr>
              <a:t> a</a:t>
            </a:r>
            <a:r>
              <a:rPr sz="1700" spc="-18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data</a:t>
            </a:r>
            <a:r>
              <a:rPr lang="en-IN" sz="1700" spc="-10" dirty="0">
                <a:latin typeface="DejaVu Sans"/>
                <a:cs typeface="DejaVu Sans"/>
              </a:rPr>
              <a:t> </a:t>
            </a:r>
            <a:r>
              <a:rPr lang="en-US" sz="1700" spc="-10" dirty="0">
                <a:latin typeface="DejaVu Sans"/>
                <a:cs typeface="DejaVu Sans"/>
              </a:rPr>
              <a:t>table,</a:t>
            </a:r>
            <a:r>
              <a:rPr lang="en-US" sz="1700" dirty="0">
                <a:latin typeface="DejaVu Sans"/>
                <a:cs typeface="DejaVu Sans"/>
              </a:rPr>
              <a:t> item</a:t>
            </a:r>
            <a:r>
              <a:rPr lang="en-US" sz="1700" spc="-18" dirty="0">
                <a:latin typeface="DejaVu Sans"/>
                <a:cs typeface="DejaVu Sans"/>
              </a:rPr>
              <a:t> </a:t>
            </a:r>
            <a:r>
              <a:rPr lang="en-US" sz="1700" dirty="0">
                <a:latin typeface="DejaVu Sans"/>
                <a:cs typeface="DejaVu Sans"/>
              </a:rPr>
              <a:t>in</a:t>
            </a:r>
            <a:r>
              <a:rPr lang="en-US" sz="1700" spc="-14" dirty="0">
                <a:latin typeface="DejaVu Sans"/>
                <a:cs typeface="DejaVu Sans"/>
              </a:rPr>
              <a:t> </a:t>
            </a:r>
            <a:r>
              <a:rPr lang="en-US" sz="1700" dirty="0">
                <a:latin typeface="DejaVu Sans"/>
                <a:cs typeface="DejaVu Sans"/>
              </a:rPr>
              <a:t>a</a:t>
            </a:r>
            <a:r>
              <a:rPr lang="en-US" sz="1700" spc="-18" dirty="0">
                <a:latin typeface="DejaVu Sans"/>
                <a:cs typeface="DejaVu Sans"/>
              </a:rPr>
              <a:t> </a:t>
            </a:r>
            <a:r>
              <a:rPr lang="en-US" sz="1700" dirty="0">
                <a:latin typeface="DejaVu Sans"/>
                <a:cs typeface="DejaVu Sans"/>
              </a:rPr>
              <a:t>list, </a:t>
            </a:r>
            <a:r>
              <a:rPr lang="en-US" sz="1700" spc="-12" dirty="0">
                <a:latin typeface="DejaVu Sans"/>
                <a:cs typeface="DejaVu Sans"/>
              </a:rPr>
              <a:t>or</a:t>
            </a:r>
            <a:r>
              <a:rPr lang="en-US" sz="1700" dirty="0">
                <a:latin typeface="DejaVu Sans"/>
                <a:cs typeface="DejaVu Sans"/>
              </a:rPr>
              <a:t> ﬁle</a:t>
            </a:r>
            <a:r>
              <a:rPr lang="en-US" sz="1700" spc="-10" dirty="0">
                <a:latin typeface="DejaVu Sans"/>
                <a:cs typeface="DejaVu Sans"/>
              </a:rPr>
              <a:t> within </a:t>
            </a:r>
            <a:r>
              <a:rPr lang="en-US" sz="1700" dirty="0">
                <a:latin typeface="DejaVu Sans"/>
                <a:cs typeface="DejaVu Sans"/>
              </a:rPr>
              <a:t>a</a:t>
            </a:r>
            <a:r>
              <a:rPr lang="en-US" sz="1700" spc="-18" dirty="0">
                <a:latin typeface="DejaVu Sans"/>
                <a:cs typeface="DejaVu Sans"/>
              </a:rPr>
              <a:t> </a:t>
            </a:r>
            <a:r>
              <a:rPr lang="en-US" sz="1700" spc="-10" dirty="0">
                <a:latin typeface="DejaVu Sans"/>
                <a:cs typeface="DejaVu Sans"/>
              </a:rPr>
              <a:t>speciﬁed</a:t>
            </a:r>
            <a:r>
              <a:rPr lang="en-US" sz="1700" dirty="0">
                <a:latin typeface="DejaVu Sans"/>
                <a:cs typeface="DejaVu Sans"/>
              </a:rPr>
              <a:t> </a:t>
            </a:r>
            <a:r>
              <a:rPr lang="en-US" sz="1700" spc="-37" dirty="0">
                <a:latin typeface="DejaVu Sans"/>
                <a:cs typeface="DejaVu Sans"/>
              </a:rPr>
              <a:t>directory.</a:t>
            </a:r>
          </a:p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endParaRPr sz="1700" spc="-10" dirty="0">
              <a:latin typeface="DejaVu Sans"/>
              <a:cs typeface="DejaVu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2968" y="3429000"/>
            <a:ext cx="10423582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47" dirty="0">
                <a:latin typeface="DejaVu Sans"/>
                <a:cs typeface="DejaVu Sans"/>
              </a:rPr>
              <a:t>Web</a:t>
            </a:r>
            <a:r>
              <a:rPr sz="1700" b="1" spc="25" dirty="0">
                <a:latin typeface="DejaVu Sans"/>
                <a:cs typeface="DejaVu Sans"/>
              </a:rPr>
              <a:t> </a:t>
            </a:r>
            <a:r>
              <a:rPr sz="1700" b="1" dirty="0">
                <a:latin typeface="DejaVu Sans"/>
                <a:cs typeface="DejaVu Sans"/>
              </a:rPr>
              <a:t>&amp;</a:t>
            </a:r>
            <a:r>
              <a:rPr sz="1700" b="1" spc="-25" dirty="0">
                <a:latin typeface="DejaVu Sans"/>
                <a:cs typeface="DejaVu Sans"/>
              </a:rPr>
              <a:t> </a:t>
            </a:r>
            <a:r>
              <a:rPr sz="1700" b="1" spc="-11" dirty="0">
                <a:latin typeface="DejaVu Sans"/>
                <a:cs typeface="DejaVu Sans"/>
              </a:rPr>
              <a:t>Application</a:t>
            </a:r>
            <a:r>
              <a:rPr sz="1700" b="1" spc="-10" dirty="0">
                <a:latin typeface="DejaVu Sans"/>
                <a:cs typeface="DejaVu Sans"/>
              </a:rPr>
              <a:t> </a:t>
            </a:r>
            <a:r>
              <a:rPr sz="1700" b="1" spc="-11" dirty="0">
                <a:latin typeface="DejaVu Sans"/>
                <a:cs typeface="DejaVu Sans"/>
              </a:rPr>
              <a:t>Interaction:</a:t>
            </a:r>
            <a:r>
              <a:rPr sz="1700" b="1" spc="-54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Extracting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5" dirty="0">
                <a:latin typeface="DejaVu Sans"/>
                <a:cs typeface="DejaVu Sans"/>
              </a:rPr>
              <a:t>structure</a:t>
            </a:r>
            <a:r>
              <a:rPr lang="en-IN" sz="1700" spc="-15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data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21" dirty="0">
                <a:latin typeface="DejaVu Sans"/>
                <a:cs typeface="DejaVu Sans"/>
              </a:rPr>
              <a:t>from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multiple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pages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on</a:t>
            </a:r>
            <a:r>
              <a:rPr sz="1700" dirty="0">
                <a:latin typeface="DejaVu Sans"/>
                <a:cs typeface="DejaVu Sans"/>
              </a:rPr>
              <a:t> a</a:t>
            </a:r>
            <a:r>
              <a:rPr sz="1700" spc="-18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website,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or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5" dirty="0">
                <a:latin typeface="DejaVu Sans"/>
                <a:cs typeface="DejaVu Sans"/>
              </a:rPr>
              <a:t>repeating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 err="1">
                <a:latin typeface="DejaVu Sans"/>
                <a:cs typeface="DejaVu Sans"/>
              </a:rPr>
              <a:t>dat</a:t>
            </a:r>
            <a:r>
              <a:rPr lang="en-IN" sz="1700" spc="-12" dirty="0">
                <a:latin typeface="DejaVu Sans"/>
                <a:cs typeface="DejaVu Sans"/>
              </a:rPr>
              <a:t>a </a:t>
            </a:r>
            <a:r>
              <a:rPr sz="1700" spc="-10" dirty="0">
                <a:latin typeface="DejaVu Sans"/>
                <a:cs typeface="DejaVu Sans"/>
              </a:rPr>
              <a:t>entry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8" dirty="0">
                <a:latin typeface="DejaVu Sans"/>
                <a:cs typeface="DejaVu Sans"/>
              </a:rPr>
              <a:t>across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various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8" dirty="0">
                <a:latin typeface="DejaVu Sans"/>
                <a:cs typeface="DejaVu Sans"/>
              </a:rPr>
              <a:t>forms.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2968" y="4005064"/>
            <a:ext cx="10513803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latin typeface="DejaVu Sans"/>
                <a:cs typeface="DejaVu Sans"/>
              </a:rPr>
              <a:t>Document</a:t>
            </a:r>
            <a:r>
              <a:rPr sz="1700" b="1" dirty="0">
                <a:latin typeface="DejaVu Sans"/>
                <a:cs typeface="DejaVu Sans"/>
              </a:rPr>
              <a:t> &amp;</a:t>
            </a:r>
            <a:r>
              <a:rPr sz="1700" b="1" spc="-25" dirty="0">
                <a:latin typeface="DejaVu Sans"/>
                <a:cs typeface="DejaVu Sans"/>
              </a:rPr>
              <a:t> </a:t>
            </a:r>
            <a:r>
              <a:rPr sz="1700" b="1" spc="-14" dirty="0">
                <a:latin typeface="DejaVu Sans"/>
                <a:cs typeface="DejaVu Sans"/>
              </a:rPr>
              <a:t>Email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15" dirty="0">
                <a:latin typeface="DejaVu Sans"/>
                <a:cs typeface="DejaVu Sans"/>
              </a:rPr>
              <a:t>Management:</a:t>
            </a:r>
            <a:r>
              <a:rPr sz="1700" b="1" spc="-50" dirty="0">
                <a:latin typeface="DejaVu Sans"/>
                <a:cs typeface="DejaVu Sans"/>
              </a:rPr>
              <a:t> </a:t>
            </a:r>
            <a:r>
              <a:rPr sz="1700" spc="-18" dirty="0">
                <a:latin typeface="DejaVu Sans"/>
                <a:cs typeface="DejaVu Sans"/>
              </a:rPr>
              <a:t>Processing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1" dirty="0">
                <a:latin typeface="DejaVu Sans"/>
                <a:cs typeface="DejaVu Sans"/>
              </a:rPr>
              <a:t>each</a:t>
            </a:r>
            <a:r>
              <a:rPr lang="en-IN" sz="1700" spc="-11" dirty="0">
                <a:latin typeface="DejaVu Sans"/>
                <a:cs typeface="DejaVu Sans"/>
              </a:rPr>
              <a:t> </a:t>
            </a:r>
            <a:r>
              <a:rPr sz="1700" spc="-18" dirty="0">
                <a:latin typeface="DejaVu Sans"/>
                <a:cs typeface="DejaVu Sans"/>
              </a:rPr>
              <a:t>unread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email</a:t>
            </a:r>
            <a:r>
              <a:rPr sz="1700" dirty="0">
                <a:latin typeface="DejaVu Sans"/>
                <a:cs typeface="DejaVu Sans"/>
              </a:rPr>
              <a:t> in</a:t>
            </a:r>
            <a:r>
              <a:rPr sz="1700" spc="-14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an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21" dirty="0">
                <a:latin typeface="DejaVu Sans"/>
                <a:cs typeface="DejaVu Sans"/>
              </a:rPr>
              <a:t>inbox,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or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handling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individual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invoices</a:t>
            </a:r>
            <a:r>
              <a:rPr lang="en-IN" sz="1700" spc="-10" dirty="0">
                <a:latin typeface="DejaVu Sans"/>
                <a:cs typeface="DejaVu Sans"/>
              </a:rPr>
              <a:t> </a:t>
            </a:r>
            <a:r>
              <a:rPr sz="1700" spc="-21" dirty="0">
                <a:latin typeface="DejaVu Sans"/>
                <a:cs typeface="DejaVu Sans"/>
              </a:rPr>
              <a:t>from</a:t>
            </a:r>
            <a:r>
              <a:rPr sz="1700" dirty="0">
                <a:latin typeface="DejaVu Sans"/>
                <a:cs typeface="DejaVu Sans"/>
              </a:rPr>
              <a:t> a</a:t>
            </a:r>
            <a:r>
              <a:rPr sz="1700" spc="-18" dirty="0">
                <a:latin typeface="DejaVu Sans"/>
                <a:cs typeface="DejaVu Sans"/>
              </a:rPr>
              <a:t> </a:t>
            </a:r>
            <a:r>
              <a:rPr sz="1700" spc="-31" dirty="0">
                <a:latin typeface="DejaVu Sans"/>
                <a:cs typeface="DejaVu Sans"/>
              </a:rPr>
              <a:t>folder.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3105" y="4604375"/>
            <a:ext cx="9875134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latin typeface="DejaVu Sans"/>
                <a:cs typeface="DejaVu Sans"/>
              </a:rPr>
              <a:t>Batch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12" dirty="0">
                <a:latin typeface="DejaVu Sans"/>
                <a:cs typeface="DejaVu Sans"/>
              </a:rPr>
              <a:t>Operations:</a:t>
            </a:r>
            <a:r>
              <a:rPr sz="1700" b="1" spc="-51" dirty="0">
                <a:latin typeface="DejaVu Sans"/>
                <a:cs typeface="DejaVu Sans"/>
              </a:rPr>
              <a:t> </a:t>
            </a:r>
            <a:r>
              <a:rPr sz="1700" spc="-11" dirty="0">
                <a:latin typeface="DejaVu Sans"/>
                <a:cs typeface="DejaVu Sans"/>
              </a:rPr>
              <a:t>Automating</a:t>
            </a:r>
            <a:r>
              <a:rPr sz="1700" dirty="0">
                <a:latin typeface="DejaVu Sans"/>
                <a:cs typeface="DejaVu Sans"/>
              </a:rPr>
              <a:t> a</a:t>
            </a:r>
            <a:r>
              <a:rPr sz="1700" spc="-18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series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of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steps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for</a:t>
            </a:r>
            <a:r>
              <a:rPr lang="en-IN" sz="1700" spc="-10" dirty="0">
                <a:latin typeface="DejaVu Sans"/>
                <a:cs typeface="DejaVu Sans"/>
              </a:rPr>
              <a:t> </a:t>
            </a:r>
            <a:r>
              <a:rPr sz="1700" spc="-11" dirty="0">
                <a:latin typeface="DejaVu Sans"/>
                <a:cs typeface="DejaVu Sans"/>
              </a:rPr>
              <a:t>every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23" dirty="0">
                <a:latin typeface="DejaVu Sans"/>
                <a:cs typeface="DejaVu Sans"/>
              </a:rPr>
              <a:t>record</a:t>
            </a:r>
            <a:r>
              <a:rPr sz="1700" dirty="0">
                <a:latin typeface="DejaVu Sans"/>
                <a:cs typeface="DejaVu Sans"/>
              </a:rPr>
              <a:t> in</a:t>
            </a:r>
            <a:r>
              <a:rPr sz="1700" spc="-14" dirty="0">
                <a:latin typeface="DejaVu Sans"/>
                <a:cs typeface="DejaVu Sans"/>
              </a:rPr>
              <a:t> </a:t>
            </a:r>
            <a:r>
              <a:rPr sz="1700" dirty="0">
                <a:latin typeface="DejaVu Sans"/>
                <a:cs typeface="DejaVu Sans"/>
              </a:rPr>
              <a:t>a</a:t>
            </a:r>
            <a:r>
              <a:rPr sz="1700" spc="-18" dirty="0">
                <a:latin typeface="DejaVu Sans"/>
                <a:cs typeface="DejaVu Sans"/>
              </a:rPr>
              <a:t> </a:t>
            </a:r>
            <a:r>
              <a:rPr sz="1700" spc="-10" dirty="0">
                <a:latin typeface="DejaVu Sans"/>
                <a:cs typeface="DejaVu Sans"/>
              </a:rPr>
              <a:t>transaction</a:t>
            </a:r>
            <a:r>
              <a:rPr sz="1700" dirty="0">
                <a:latin typeface="DejaVu Sans"/>
                <a:cs typeface="DejaVu Sans"/>
              </a:rPr>
              <a:t> </a:t>
            </a:r>
            <a:r>
              <a:rPr sz="1700" spc="-12" dirty="0">
                <a:latin typeface="DejaVu Sans"/>
                <a:cs typeface="DejaVu Sans"/>
              </a:rPr>
              <a:t>queue.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9992" y="4900996"/>
            <a:ext cx="8331740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latin typeface="DejaVu Sans"/>
                <a:cs typeface="DejaVu Sans"/>
              </a:rPr>
              <a:t>Key</a:t>
            </a:r>
            <a:r>
              <a:rPr sz="2500" b="1" spc="27" dirty="0">
                <a:latin typeface="DejaVu Sans"/>
                <a:cs typeface="DejaVu Sans"/>
              </a:rPr>
              <a:t> </a:t>
            </a:r>
            <a:r>
              <a:rPr sz="2500" b="1" dirty="0">
                <a:latin typeface="DejaVu Sans"/>
                <a:cs typeface="DejaVu Sans"/>
              </a:rPr>
              <a:t>UiPath</a:t>
            </a:r>
            <a:r>
              <a:rPr sz="2500" b="1" spc="21" dirty="0">
                <a:latin typeface="DejaVu Sans"/>
                <a:cs typeface="DejaVu Sans"/>
              </a:rPr>
              <a:t> </a:t>
            </a:r>
            <a:r>
              <a:rPr sz="2500" b="1" spc="11" dirty="0">
                <a:latin typeface="DejaVu Sans"/>
                <a:cs typeface="DejaVu Sans"/>
              </a:rPr>
              <a:t>Loop</a:t>
            </a:r>
            <a:r>
              <a:rPr sz="2500" b="1" dirty="0">
                <a:latin typeface="DejaVu Sans"/>
                <a:cs typeface="DejaVu Sans"/>
              </a:rPr>
              <a:t> </a:t>
            </a:r>
            <a:r>
              <a:rPr sz="2500" b="1" spc="10" dirty="0">
                <a:latin typeface="DejaVu Sans"/>
                <a:cs typeface="DejaVu Sans"/>
              </a:rPr>
              <a:t>Activities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60548" y="5229200"/>
            <a:ext cx="200980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47" dirty="0">
                <a:latin typeface="DejaVu Sans"/>
                <a:cs typeface="DejaVu Sans"/>
              </a:rPr>
              <a:t>For</a:t>
            </a:r>
            <a:r>
              <a:rPr sz="1700" b="1" spc="31" dirty="0">
                <a:latin typeface="DejaVu Sans"/>
                <a:cs typeface="DejaVu Sans"/>
              </a:rPr>
              <a:t> </a:t>
            </a:r>
            <a:r>
              <a:rPr sz="1700" b="1" spc="-12" dirty="0">
                <a:latin typeface="DejaVu Sans"/>
                <a:cs typeface="DejaVu Sans"/>
              </a:rPr>
              <a:t>Each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955827" y="5229200"/>
            <a:ext cx="2524338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latin typeface="DejaVu Sans"/>
                <a:cs typeface="DejaVu Sans"/>
              </a:rPr>
              <a:t>While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14" dirty="0">
                <a:latin typeface="DejaVu Sans"/>
                <a:cs typeface="DejaVu Sans"/>
              </a:rPr>
              <a:t>Loop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51105" y="5229200"/>
            <a:ext cx="3199986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latin typeface="DejaVu Sans"/>
                <a:cs typeface="DejaVu Sans"/>
              </a:rPr>
              <a:t>Do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12" dirty="0">
                <a:latin typeface="DejaVu Sans"/>
                <a:cs typeface="DejaVu Sans"/>
              </a:rPr>
              <a:t>While</a:t>
            </a:r>
            <a:r>
              <a:rPr sz="1700" b="1" dirty="0">
                <a:latin typeface="DejaVu Sans"/>
                <a:cs typeface="DejaVu Sans"/>
              </a:rPr>
              <a:t> </a:t>
            </a:r>
            <a:r>
              <a:rPr sz="1700" b="1" spc="-14" dirty="0">
                <a:latin typeface="DejaVu Sans"/>
                <a:cs typeface="DejaVu Sans"/>
              </a:rPr>
              <a:t>Loop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1556" y="5517232"/>
            <a:ext cx="5639956" cy="1156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Iterates through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each element in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collection (e.g., array, list,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spc="-21" dirty="0">
                <a:latin typeface="DejaVu Sans"/>
                <a:cs typeface="DejaVu Sans"/>
              </a:rPr>
              <a:t>DataTable</a:t>
            </a:r>
            <a:r>
              <a:rPr sz="1500" spc="33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rows, ﬁles). Ideal for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processing known sets of data.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446835" y="5517232"/>
            <a:ext cx="5634544" cy="145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Executes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block of activities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repeatedly as long as a</a:t>
            </a:r>
            <a:r>
              <a:rPr sz="1500" spc="10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speciﬁed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condition remains </a:t>
            </a:r>
            <a:r>
              <a:rPr sz="1500" spc="-25" dirty="0">
                <a:latin typeface="DejaVu Sans"/>
                <a:cs typeface="DejaVu Sans"/>
              </a:rPr>
              <a:t>`True`.</a:t>
            </a:r>
            <a:r>
              <a:rPr sz="1500" spc="34" dirty="0">
                <a:latin typeface="DejaVu Sans"/>
                <a:cs typeface="DejaVu Sans"/>
              </a:rPr>
              <a:t> </a:t>
            </a:r>
            <a:r>
              <a:rPr sz="1500" dirty="0">
                <a:latin typeface="DejaVu Sans"/>
                <a:cs typeface="DejaVu Sans"/>
              </a:rPr>
              <a:t>The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condition is evaluated *before*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the loop body runs.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42113" y="5517232"/>
            <a:ext cx="5435196" cy="1452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Similar to the While loop, but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guarantees at least one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execution. The condition is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evaluated *after* the loop body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latin typeface="DejaVu Sans"/>
                <a:cs typeface="DejaVu Sans"/>
              </a:rPr>
              <a:t>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31799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9849" y="322124"/>
            <a:ext cx="10464572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62" dirty="0">
                <a:solidFill>
                  <a:srgbClr val="F3F4F6"/>
                </a:solidFill>
                <a:latin typeface="DejaVu Sans"/>
                <a:cs typeface="DejaVu Sans"/>
              </a:rPr>
              <a:t>For</a:t>
            </a:r>
            <a:r>
              <a:rPr sz="4050" b="1" spc="46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3F4F6"/>
                </a:solidFill>
                <a:latin typeface="DejaVu Sans"/>
                <a:cs typeface="DejaVu Sans"/>
              </a:rPr>
              <a:t>Each</a:t>
            </a:r>
            <a:r>
              <a:rPr sz="4050" b="1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3F4F6"/>
                </a:solidFill>
                <a:latin typeface="DejaVu Sans"/>
                <a:cs typeface="DejaVu Sans"/>
              </a:rPr>
              <a:t>Loop:</a:t>
            </a:r>
            <a:r>
              <a:rPr sz="4050" b="1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3F4F6"/>
                </a:solidFill>
                <a:latin typeface="DejaVu Sans"/>
                <a:cs typeface="DejaVu Sans"/>
              </a:rPr>
              <a:t>Iterating Collections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9992" y="1157678"/>
            <a:ext cx="5433283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Purpose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&amp;</a:t>
            </a:r>
            <a:r>
              <a:rPr sz="2500" b="1" spc="2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Diverse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1ABC9C"/>
                </a:solidFill>
                <a:latin typeface="DejaVu Sans"/>
                <a:cs typeface="DejaVu Sans"/>
              </a:rPr>
              <a:t>Use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Cases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30082" y="1138628"/>
            <a:ext cx="4105351" cy="79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Conﬁguring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-23" dirty="0">
                <a:solidFill>
                  <a:srgbClr val="1ABC9C"/>
                </a:solidFill>
                <a:latin typeface="DejaVu Sans"/>
                <a:cs typeface="DejaVu Sans"/>
              </a:rPr>
              <a:t>'For</a:t>
            </a:r>
            <a:r>
              <a:rPr sz="2500" b="1" spc="38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Each'</a:t>
            </a:r>
          </a:p>
          <a:p>
            <a:pPr marL="0" marR="0">
              <a:lnSpc>
                <a:spcPts val="2932"/>
              </a:lnSpc>
              <a:spcBef>
                <a:spcPts val="67"/>
              </a:spcBef>
              <a:spcAft>
                <a:spcPts val="0"/>
              </a:spcAft>
            </a:pP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Loop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0999" y="1750403"/>
            <a:ext cx="133379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Purpose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21089" y="2123387"/>
            <a:ext cx="4692359" cy="6388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30" dirty="0">
                <a:solidFill>
                  <a:srgbClr val="ECF0F1"/>
                </a:solidFill>
                <a:latin typeface="DejaVu Sans"/>
                <a:cs typeface="DejaVu Sans"/>
              </a:rPr>
              <a:t>'For</a:t>
            </a:r>
            <a:r>
              <a:rPr sz="1700" spc="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Each'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activity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20" dirty="0">
                <a:solidFill>
                  <a:srgbClr val="ECF0F1"/>
                </a:solidFill>
                <a:latin typeface="DejaVu Sans"/>
                <a:cs typeface="DejaVu Sans"/>
              </a:rPr>
              <a:t>requires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setting </a:t>
            </a:r>
            <a:r>
              <a:rPr sz="1700" spc="-41" dirty="0">
                <a:solidFill>
                  <a:srgbClr val="ECF0F1"/>
                </a:solidFill>
                <a:latin typeface="DejaVu Sans"/>
                <a:cs typeface="DejaVu Sans"/>
              </a:rPr>
              <a:t>key</a:t>
            </a:r>
          </a:p>
          <a:p>
            <a:pPr marL="0" marR="0">
              <a:lnSpc>
                <a:spcPts val="1955"/>
              </a:lnSpc>
              <a:spcBef>
                <a:spcPts val="769"/>
              </a:spcBef>
              <a:spcAft>
                <a:spcPts val="0"/>
              </a:spcAft>
            </a:pPr>
            <a:r>
              <a:rPr sz="1700" spc="-15" dirty="0">
                <a:solidFill>
                  <a:srgbClr val="ECF0F1"/>
                </a:solidFill>
                <a:latin typeface="DejaVu Sans"/>
                <a:cs typeface="DejaVu Sans"/>
              </a:rPr>
              <a:t>properties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to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deﬁne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its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iteration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ECF0F1"/>
                </a:solidFill>
                <a:latin typeface="DejaVu Sans"/>
                <a:cs typeface="DejaVu Sans"/>
              </a:rPr>
              <a:t>behavior: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0999" y="2209112"/>
            <a:ext cx="6189323" cy="1677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The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30" dirty="0">
                <a:solidFill>
                  <a:srgbClr val="F3F4F6"/>
                </a:solidFill>
                <a:latin typeface="DejaVu Sans"/>
                <a:cs typeface="DejaVu Sans"/>
              </a:rPr>
              <a:t>'For</a:t>
            </a:r>
            <a:r>
              <a:rPr sz="1700" spc="15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Each'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loop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is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a</a:t>
            </a: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foundational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3F4F6"/>
                </a:solidFill>
                <a:latin typeface="DejaVu Sans"/>
                <a:cs typeface="DejaVu Sans"/>
              </a:rPr>
              <a:t>control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ﬂow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activity</a:t>
            </a:r>
          </a:p>
          <a:p>
            <a:pPr marL="0" marR="0">
              <a:lnSpc>
                <a:spcPts val="1955"/>
              </a:lnSpc>
              <a:spcBef>
                <a:spcPts val="769"/>
              </a:spcBef>
              <a:spcAft>
                <a:spcPts val="0"/>
              </a:spcAft>
            </a:pP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in</a:t>
            </a:r>
            <a:r>
              <a:rPr sz="1700" spc="-14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25" dirty="0">
                <a:solidFill>
                  <a:srgbClr val="F3F4F6"/>
                </a:solidFill>
                <a:latin typeface="DejaVu Sans"/>
                <a:cs typeface="DejaVu Sans"/>
              </a:rPr>
              <a:t>UiPath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designed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to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process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every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item</a:t>
            </a: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within 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a</a:t>
            </a:r>
          </a:p>
          <a:p>
            <a:pPr marL="0" marR="0">
              <a:lnSpc>
                <a:spcPts val="1955"/>
              </a:lnSpc>
              <a:spcBef>
                <a:spcPts val="744"/>
              </a:spcBef>
              <a:spcAft>
                <a:spcPts val="0"/>
              </a:spcAft>
            </a:pP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speciﬁed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collection.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It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automates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4" dirty="0">
                <a:solidFill>
                  <a:srgbClr val="F3F4F6"/>
                </a:solidFill>
                <a:latin typeface="DejaVu Sans"/>
                <a:cs typeface="DejaVu Sans"/>
              </a:rPr>
              <a:t>repetitive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tasks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by</a:t>
            </a:r>
          </a:p>
          <a:p>
            <a:pPr marL="0" marR="0">
              <a:lnSpc>
                <a:spcPts val="1955"/>
              </a:lnSpc>
              <a:spcBef>
                <a:spcPts val="744"/>
              </a:spcBef>
              <a:spcAft>
                <a:spcPts val="0"/>
              </a:spcAft>
            </a:pPr>
            <a:r>
              <a:rPr sz="1700" spc="-20" dirty="0">
                <a:solidFill>
                  <a:srgbClr val="F3F4F6"/>
                </a:solidFill>
                <a:latin typeface="DejaVu Sans"/>
                <a:cs typeface="DejaVu Sans"/>
              </a:rPr>
              <a:t>executing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a</a:t>
            </a: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block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of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activities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once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for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each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element,</a:t>
            </a:r>
          </a:p>
          <a:p>
            <a:pPr marL="0" marR="0">
              <a:lnSpc>
                <a:spcPts val="1955"/>
              </a:lnSpc>
              <a:spcBef>
                <a:spcPts val="819"/>
              </a:spcBef>
              <a:spcAft>
                <a:spcPts val="0"/>
              </a:spcAft>
            </a:pP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eliminating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4" dirty="0">
                <a:solidFill>
                  <a:srgbClr val="F3F4F6"/>
                </a:solidFill>
                <a:latin typeface="DejaVu Sans"/>
                <a:cs typeface="DejaVu Sans"/>
              </a:rPr>
              <a:t>manual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intervention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for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iterative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 operations.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21089" y="2960078"/>
            <a:ext cx="386232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`TypeArgument`</a:t>
            </a:r>
            <a:r>
              <a:rPr sz="2000" b="1" spc="2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Property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21089" y="3342587"/>
            <a:ext cx="5029634" cy="886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Speciﬁes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the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data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type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of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the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items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being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iterated 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(e.g., </a:t>
            </a:r>
            <a:r>
              <a:rPr sz="1700" spc="-20" dirty="0">
                <a:solidFill>
                  <a:srgbClr val="F3F4F6"/>
                </a:solidFill>
                <a:latin typeface="DejaVu Sans"/>
                <a:cs typeface="DejaVu Sans"/>
              </a:rPr>
              <a:t>`DataRow`,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`String`,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`Object`).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This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is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crucial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for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type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43" dirty="0">
                <a:solidFill>
                  <a:srgbClr val="F3F4F6"/>
                </a:solidFill>
                <a:latin typeface="DejaVu Sans"/>
                <a:cs typeface="DejaVu Sans"/>
              </a:rPr>
              <a:t>safety.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80999" y="4084029"/>
            <a:ext cx="223780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Key</a:t>
            </a:r>
            <a:r>
              <a:rPr sz="2000" b="1" spc="2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Use</a:t>
            </a: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Cases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21089" y="4369779"/>
            <a:ext cx="256003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`Value`</a:t>
            </a:r>
            <a:r>
              <a:rPr sz="2000" b="1" spc="2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Property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0156" y="4514162"/>
            <a:ext cx="546853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F3F4F6"/>
                </a:solidFill>
                <a:latin typeface="DejaVu Sans"/>
                <a:cs typeface="DejaVu Sans"/>
              </a:rPr>
              <a:t>Iterating</a:t>
            </a:r>
            <a:r>
              <a:rPr sz="1700" b="1" spc="1006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Processing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each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28" dirty="0">
                <a:solidFill>
                  <a:srgbClr val="F3F4F6"/>
                </a:solidFill>
                <a:latin typeface="DejaVu Sans"/>
                <a:cs typeface="DejaVu Sans"/>
              </a:rPr>
              <a:t>row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of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a</a:t>
            </a: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34" dirty="0">
                <a:solidFill>
                  <a:srgbClr val="F3F4F6"/>
                </a:solidFill>
                <a:latin typeface="DejaVu Sans"/>
                <a:cs typeface="DejaVu Sans"/>
              </a:rPr>
              <a:t>`DataTable`,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21089" y="4752287"/>
            <a:ext cx="4995809" cy="886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The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collection variable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(e.g., a</a:t>
            </a: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34" dirty="0">
                <a:solidFill>
                  <a:srgbClr val="F3F4F6"/>
                </a:solidFill>
                <a:latin typeface="DejaVu Sans"/>
                <a:cs typeface="DejaVu Sans"/>
              </a:rPr>
              <a:t>`DataTable`,</a:t>
            </a:r>
            <a:r>
              <a:rPr sz="1700" spc="2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a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`List`,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or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an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3F4F6"/>
                </a:solidFill>
                <a:latin typeface="DejaVu Sans"/>
                <a:cs typeface="DejaVu Sans"/>
              </a:rPr>
              <a:t>array)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that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you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wish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to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iterate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40" dirty="0">
                <a:solidFill>
                  <a:srgbClr val="F3F4F6"/>
                </a:solidFill>
                <a:latin typeface="DejaVu Sans"/>
                <a:cs typeface="DejaVu Sans"/>
              </a:rPr>
              <a:t>over.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80156" y="4809437"/>
            <a:ext cx="71944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3F4F6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38200" y="4809437"/>
            <a:ext cx="4513049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such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as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F3F4F6"/>
                </a:solidFill>
                <a:latin typeface="DejaVu Sans"/>
                <a:cs typeface="DejaVu Sans"/>
              </a:rPr>
              <a:t>reading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20" dirty="0">
                <a:solidFill>
                  <a:srgbClr val="F3F4F6"/>
                </a:solidFill>
                <a:latin typeface="DejaVu Sans"/>
                <a:cs typeface="DejaVu Sans"/>
              </a:rPr>
              <a:t>Excel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data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or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populating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forms.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80156" y="5114237"/>
            <a:ext cx="1024800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41" dirty="0">
                <a:solidFill>
                  <a:srgbClr val="F3F4F6"/>
                </a:solidFill>
                <a:latin typeface="DejaVu Sans"/>
                <a:cs typeface="DejaVu Sans"/>
              </a:rPr>
              <a:t>Tables: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80156" y="5533337"/>
            <a:ext cx="542702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3F4F6"/>
                </a:solidFill>
                <a:latin typeface="DejaVu Sans"/>
                <a:cs typeface="DejaVu Sans"/>
              </a:rPr>
              <a:t>Processing</a:t>
            </a:r>
            <a:r>
              <a:rPr sz="1700" b="1" spc="263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Handling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elements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in</a:t>
            </a:r>
            <a:r>
              <a:rPr sz="1700" spc="-14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lists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or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3F4F6"/>
                </a:solidFill>
                <a:latin typeface="DejaVu Sans"/>
                <a:cs typeface="DejaVu Sans"/>
              </a:rPr>
              <a:t>arrays,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0156" y="5838137"/>
            <a:ext cx="1023342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0" dirty="0">
                <a:solidFill>
                  <a:srgbClr val="F3F4F6"/>
                </a:solidFill>
                <a:latin typeface="DejaVu Sans"/>
                <a:cs typeface="DejaVu Sans"/>
              </a:rPr>
              <a:t>Lists</a:t>
            </a:r>
            <a:r>
              <a:rPr sz="1700" b="1" dirty="0">
                <a:solidFill>
                  <a:srgbClr val="F3F4F6"/>
                </a:solidFill>
                <a:latin typeface="DejaVu Sans"/>
                <a:cs typeface="DejaVu Sans"/>
              </a:rPr>
              <a:t> &amp;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20" dirty="0">
                <a:solidFill>
                  <a:srgbClr val="F3F4F6"/>
                </a:solidFill>
                <a:latin typeface="DejaVu Sans"/>
                <a:cs typeface="DejaVu Sans"/>
              </a:rPr>
              <a:t>Arrays: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199530" y="5838137"/>
            <a:ext cx="4318833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28" dirty="0">
                <a:solidFill>
                  <a:srgbClr val="F3F4F6"/>
                </a:solidFill>
                <a:latin typeface="DejaVu Sans"/>
                <a:cs typeface="DejaVu Sans"/>
              </a:rPr>
              <a:t>like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manipulating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strings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or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3F4F6"/>
                </a:solidFill>
                <a:latin typeface="DejaVu Sans"/>
                <a:cs typeface="DejaVu Sans"/>
              </a:rPr>
              <a:t>performing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calculations.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80156" y="6562038"/>
            <a:ext cx="1335047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3F4F6"/>
                </a:solidFill>
                <a:latin typeface="DejaVu Sans"/>
                <a:cs typeface="DejaVu Sans"/>
              </a:rPr>
              <a:t>Managing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0" dirty="0">
                <a:solidFill>
                  <a:srgbClr val="F3F4F6"/>
                </a:solidFill>
                <a:latin typeface="DejaVu Sans"/>
                <a:cs typeface="DejaVu Sans"/>
              </a:rPr>
              <a:t>Files</a:t>
            </a:r>
            <a:r>
              <a:rPr sz="1700" b="1" dirty="0">
                <a:solidFill>
                  <a:srgbClr val="F3F4F6"/>
                </a:solidFill>
                <a:latin typeface="DejaVu Sans"/>
                <a:cs typeface="DejaVu Sans"/>
              </a:rPr>
              <a:t> &amp;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13396" y="6562038"/>
            <a:ext cx="4066069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Iterating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through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ﬁles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in</a:t>
            </a:r>
            <a:r>
              <a:rPr sz="1700" spc="-14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a</a:t>
            </a: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F3F4F6"/>
                </a:solidFill>
                <a:latin typeface="DejaVu Sans"/>
                <a:cs typeface="DejaVu Sans"/>
              </a:rPr>
              <a:t>directory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for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organization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or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batch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operations.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0156" y="7162113"/>
            <a:ext cx="113283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1" dirty="0">
                <a:solidFill>
                  <a:srgbClr val="F3F4F6"/>
                </a:solidFill>
                <a:latin typeface="DejaVu Sans"/>
                <a:cs typeface="DejaVu Sans"/>
              </a:rPr>
              <a:t>Folders: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80156" y="7581213"/>
            <a:ext cx="81071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3F4F6"/>
                </a:solidFill>
                <a:latin typeface="DejaVu Sans"/>
                <a:cs typeface="DejaVu Sans"/>
              </a:rPr>
              <a:t>Email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70372" y="7581213"/>
            <a:ext cx="377294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8" dirty="0">
                <a:solidFill>
                  <a:srgbClr val="F3F4F6"/>
                </a:solidFill>
                <a:latin typeface="DejaVu Sans"/>
                <a:cs typeface="DejaVu Sans"/>
              </a:rPr>
              <a:t>Processing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each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email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in</a:t>
            </a:r>
            <a:r>
              <a:rPr sz="1700" spc="-14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an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23" dirty="0">
                <a:solidFill>
                  <a:srgbClr val="F3F4F6"/>
                </a:solidFill>
                <a:latin typeface="DejaVu Sans"/>
                <a:cs typeface="DejaVu Sans"/>
              </a:rPr>
              <a:t>inbox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80156" y="7886013"/>
            <a:ext cx="475821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3F4F6"/>
                </a:solidFill>
                <a:latin typeface="DejaVu Sans"/>
                <a:cs typeface="DejaVu Sans"/>
              </a:rPr>
              <a:t>Automation: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based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3F4F6"/>
                </a:solidFill>
                <a:latin typeface="DejaVu Sans"/>
                <a:cs typeface="DejaVu Sans"/>
              </a:rPr>
              <a:t>on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3F4F6"/>
                </a:solidFill>
                <a:latin typeface="DejaVu Sans"/>
                <a:cs typeface="DejaVu Sans"/>
              </a:rPr>
              <a:t>certain 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criteria, </a:t>
            </a:r>
            <a:r>
              <a:rPr sz="1700" spc="-28" dirty="0">
                <a:solidFill>
                  <a:srgbClr val="F3F4F6"/>
                </a:solidFill>
                <a:latin typeface="DejaVu Sans"/>
                <a:cs typeface="DejaVu Sans"/>
              </a:rPr>
              <a:t>like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270372" y="8181288"/>
            <a:ext cx="299898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downloading</a:t>
            </a:r>
            <a:r>
              <a:rPr sz="170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F4F6"/>
                </a:solidFill>
                <a:latin typeface="DejaVu Sans"/>
                <a:cs typeface="DejaVu Sans"/>
              </a:rPr>
              <a:t>attachments.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89992" y="9920678"/>
            <a:ext cx="6137606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Best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Practices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for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Using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-25" dirty="0">
                <a:solidFill>
                  <a:srgbClr val="1ABC9C"/>
                </a:solidFill>
                <a:latin typeface="DejaVu Sans"/>
                <a:cs typeface="DejaVu Sans"/>
              </a:rPr>
              <a:t>For</a:t>
            </a:r>
            <a:r>
              <a:rPr sz="2500" b="1" spc="40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Each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003399" y="10733988"/>
            <a:ext cx="251874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ABC9C"/>
                </a:solidFill>
                <a:latin typeface="DejaVu Sans"/>
                <a:cs typeface="DejaVu Sans"/>
              </a:rPr>
              <a:t>Eﬃcient</a:t>
            </a:r>
            <a:r>
              <a:rPr sz="17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ABC9C"/>
                </a:solidFill>
                <a:latin typeface="DejaVu Sans"/>
                <a:cs typeface="DejaVu Sans"/>
              </a:rPr>
              <a:t>Processing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898677" y="10733988"/>
            <a:ext cx="286330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ABC9C"/>
                </a:solidFill>
                <a:latin typeface="DejaVu Sans"/>
                <a:cs typeface="DejaVu Sans"/>
              </a:rPr>
              <a:t>Proper</a:t>
            </a:r>
            <a:r>
              <a:rPr sz="17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1700" b="1" spc="-60" dirty="0">
                <a:solidFill>
                  <a:srgbClr val="1ABC9C"/>
                </a:solidFill>
                <a:latin typeface="DejaVu Sans"/>
                <a:cs typeface="DejaVu Sans"/>
              </a:rPr>
              <a:t>Type</a:t>
            </a:r>
            <a:r>
              <a:rPr sz="1700" b="1" spc="38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ABC9C"/>
                </a:solidFill>
                <a:latin typeface="DejaVu Sans"/>
                <a:cs typeface="DejaVu Sans"/>
              </a:rPr>
              <a:t>Argument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793955" y="10733988"/>
            <a:ext cx="283042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1ABC9C"/>
                </a:solidFill>
                <a:latin typeface="DejaVu Sans"/>
                <a:cs typeface="DejaVu Sans"/>
              </a:rPr>
              <a:t>Robust</a:t>
            </a:r>
            <a:r>
              <a:rPr sz="17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1ABC9C"/>
                </a:solidFill>
                <a:latin typeface="DejaVu Sans"/>
                <a:cs typeface="DejaVu Sans"/>
              </a:rPr>
              <a:t>Error</a:t>
            </a:r>
            <a:r>
              <a:rPr sz="17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1ABC9C"/>
                </a:solidFill>
                <a:latin typeface="DejaVu Sans"/>
                <a:cs typeface="DejaVu Sans"/>
              </a:rPr>
              <a:t>Handling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51556" y="11163367"/>
            <a:ext cx="3420625" cy="1156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Optimize activities inside the loop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to minimize execution</a:t>
            </a:r>
            <a:r>
              <a:rPr sz="1500" spc="14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time. </a:t>
            </a:r>
            <a:r>
              <a:rPr sz="1500" spc="-15" dirty="0">
                <a:solidFill>
                  <a:srgbClr val="F3F4F6"/>
                </a:solidFill>
                <a:latin typeface="DejaVu Sans"/>
                <a:cs typeface="DejaVu Sans"/>
              </a:rPr>
              <a:t>Avoid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unnecessary delays or redundant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operations within each iteration.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446835" y="11163367"/>
            <a:ext cx="2289220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Always set the correct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342113" y="11163367"/>
            <a:ext cx="3156084" cy="1461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Implement </a:t>
            </a:r>
            <a:r>
              <a:rPr sz="1500" spc="-51" dirty="0">
                <a:solidFill>
                  <a:srgbClr val="F3F4F6"/>
                </a:solidFill>
                <a:latin typeface="DejaVu Sans"/>
                <a:cs typeface="DejaVu Sans"/>
              </a:rPr>
              <a:t>'Try</a:t>
            </a:r>
            <a:r>
              <a:rPr sz="1500" spc="62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Catch' blocks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within the loop for critical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operations to gracefully handle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exceptions and ensure</a:t>
            </a:r>
            <a:r>
              <a:rPr sz="1500" spc="1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process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spc="-17" dirty="0">
                <a:solidFill>
                  <a:srgbClr val="F3F4F6"/>
                </a:solidFill>
                <a:latin typeface="DejaVu Sans"/>
                <a:cs typeface="DejaVu Sans"/>
              </a:rPr>
              <a:t>stability.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446835" y="11468167"/>
            <a:ext cx="3421186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11" dirty="0">
                <a:solidFill>
                  <a:srgbClr val="F3F4F6"/>
                </a:solidFill>
                <a:latin typeface="DejaVu Sans"/>
                <a:cs typeface="DejaVu Sans"/>
              </a:rPr>
              <a:t>`TypeArgument`</a:t>
            </a:r>
            <a:r>
              <a:rPr sz="1500" spc="21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for the collection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to prevent runtime errors</a:t>
            </a:r>
            <a:r>
              <a:rPr sz="1500" spc="15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ensure</a:t>
            </a:r>
            <a:r>
              <a:rPr sz="1500" spc="10" dirty="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3F4F6"/>
                </a:solidFill>
                <a:latin typeface="DejaVu Sans"/>
                <a:cs typeface="DejaVu Sans"/>
              </a:rPr>
              <a:t>proper data manipulation.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13664" y="322124"/>
            <a:ext cx="12191999" cy="108939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7830" y="322124"/>
            <a:ext cx="11348497" cy="1148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ECF0F1"/>
                </a:solidFill>
                <a:latin typeface="DejaVu Sans"/>
                <a:cs typeface="DejaVu Sans"/>
              </a:rPr>
              <a:t>While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ECF0F1"/>
                </a:solidFill>
                <a:latin typeface="DejaVu Sans"/>
                <a:cs typeface="DejaVu Sans"/>
              </a:rPr>
              <a:t>Do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ECF0F1"/>
                </a:solidFill>
                <a:latin typeface="DejaVu Sans"/>
                <a:cs typeface="DejaVu Sans"/>
              </a:rPr>
              <a:t>While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ECF0F1"/>
                </a:solidFill>
                <a:latin typeface="DejaVu Sans"/>
                <a:cs typeface="DejaVu Sans"/>
              </a:rPr>
              <a:t>Loops: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Conditional</a:t>
            </a:r>
          </a:p>
          <a:p>
            <a:pPr marL="4092177" marR="0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Repetition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0549" y="1757753"/>
            <a:ext cx="3215699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While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Loop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46254" y="1757753"/>
            <a:ext cx="3812260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5" dirty="0">
                <a:solidFill>
                  <a:srgbClr val="1ABC9C"/>
                </a:solidFill>
                <a:latin typeface="DejaVu Sans"/>
                <a:cs typeface="DejaVu Sans"/>
              </a:rPr>
              <a:t>Do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While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Loop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556" y="2267772"/>
            <a:ext cx="504504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Condition First:</a:t>
            </a:r>
            <a:r>
              <a:rPr sz="1350" b="1" spc="-4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'While' loop evaluates its condition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7262" y="2267772"/>
            <a:ext cx="506881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Guaranteed First Run:</a:t>
            </a:r>
            <a:r>
              <a:rPr sz="1350" b="1" spc="-4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'Do While' loop </a:t>
            </a: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executes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its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1556" y="2524947"/>
            <a:ext cx="292923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before</a:t>
            </a:r>
            <a:r>
              <a:rPr sz="135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executing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the loop </a:t>
            </a:r>
            <a:r>
              <a:rPr sz="1350" spc="-41" dirty="0">
                <a:solidFill>
                  <a:srgbClr val="ECF0F1"/>
                </a:solidFill>
                <a:latin typeface="DejaVu Sans"/>
                <a:cs typeface="DejaVu Sans"/>
              </a:rPr>
              <a:t>body.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7262" y="2524947"/>
            <a:ext cx="466115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body </a:t>
            </a: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at least once</a:t>
            </a:r>
            <a:r>
              <a:rPr sz="1350" b="1" spc="-4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before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evaluating the condition.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2867847"/>
            <a:ext cx="472680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Zero Execution Possible:</a:t>
            </a:r>
            <a:r>
              <a:rPr sz="1350" b="1" spc="-4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If the condition is initially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37262" y="2867847"/>
            <a:ext cx="516582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Condition Last:</a:t>
            </a:r>
            <a:r>
              <a:rPr sz="1350" b="1" spc="-4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condition is evaluated </a:t>
            </a: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after</a:t>
            </a:r>
            <a:r>
              <a:rPr sz="1350" b="1" spc="-4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ﬁrst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3125022"/>
            <a:ext cx="532626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20" dirty="0">
                <a:solidFill>
                  <a:srgbClr val="ECF0F1"/>
                </a:solidFill>
                <a:latin typeface="DejaVu Sans"/>
                <a:cs typeface="DejaVu Sans"/>
              </a:rPr>
              <a:t>`False`,</a:t>
            </a:r>
            <a:r>
              <a:rPr sz="1350" spc="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activities within the loop will never be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executed.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37262" y="3125022"/>
            <a:ext cx="362959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execution,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and then repeatedly if </a:t>
            </a:r>
            <a:r>
              <a:rPr sz="1350" spc="-31" dirty="0">
                <a:solidFill>
                  <a:srgbClr val="ECF0F1"/>
                </a:solidFill>
                <a:latin typeface="DejaVu Sans"/>
                <a:cs typeface="DejaVu Sans"/>
              </a:rPr>
              <a:t>`True`.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1556" y="3506022"/>
            <a:ext cx="67071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Flow: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37262" y="3506022"/>
            <a:ext cx="67071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Flow: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27756" y="3879531"/>
            <a:ext cx="1533662" cy="45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Check Condition</a:t>
            </a:r>
          </a:p>
          <a:p>
            <a:pPr marL="184160" marR="0">
              <a:lnSpc>
                <a:spcPts val="1369"/>
              </a:lnSpc>
              <a:spcBef>
                <a:spcPts val="455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IF True: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13462" y="3879531"/>
            <a:ext cx="1533666" cy="678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Execute Body</a:t>
            </a:r>
          </a:p>
          <a:p>
            <a:pPr marL="0" marR="0">
              <a:lnSpc>
                <a:spcPts val="1369"/>
              </a:lnSpc>
              <a:spcBef>
                <a:spcPts val="455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Check Condition</a:t>
            </a:r>
          </a:p>
          <a:p>
            <a:pPr marL="184160" marR="0">
              <a:lnSpc>
                <a:spcPts val="1369"/>
              </a:lnSpc>
              <a:spcBef>
                <a:spcPts val="43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IF True: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11917" y="4346256"/>
            <a:ext cx="2362383" cy="66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6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Execute Body</a:t>
            </a:r>
          </a:p>
          <a:p>
            <a:pPr marL="184160" marR="0">
              <a:lnSpc>
                <a:spcPts val="1369"/>
              </a:lnSpc>
              <a:spcBef>
                <a:spcPts val="43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Repeat Check Condition</a:t>
            </a:r>
          </a:p>
          <a:p>
            <a:pPr marL="0" marR="0">
              <a:lnSpc>
                <a:spcPts val="1369"/>
              </a:lnSpc>
              <a:spcBef>
                <a:spcPts val="43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IF False: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97622" y="4574856"/>
            <a:ext cx="2086149" cy="440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6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Repeat Execute Body</a:t>
            </a:r>
          </a:p>
          <a:p>
            <a:pPr marL="0" marR="0">
              <a:lnSpc>
                <a:spcPts val="1369"/>
              </a:lnSpc>
              <a:spcBef>
                <a:spcPts val="43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IF False: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96077" y="5032056"/>
            <a:ext cx="981181" cy="21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Exit Loop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81783" y="5032056"/>
            <a:ext cx="981184" cy="21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9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Liberation Mono"/>
                <a:cs typeface="Liberation Mono"/>
              </a:rPr>
              <a:t>Exit Loop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1556" y="5468172"/>
            <a:ext cx="500312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Analogy:</a:t>
            </a:r>
            <a:r>
              <a:rPr sz="1350" b="1" spc="-4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Checking if the door is open *before* trying to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37262" y="5468172"/>
            <a:ext cx="494289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Analogy:</a:t>
            </a:r>
            <a:r>
              <a:rPr sz="1350" b="1" spc="-4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spc="-36" dirty="0">
                <a:solidFill>
                  <a:srgbClr val="ECF0F1"/>
                </a:solidFill>
                <a:latin typeface="DejaVu Sans"/>
                <a:cs typeface="DejaVu Sans"/>
              </a:rPr>
              <a:t>Trying</a:t>
            </a:r>
            <a:r>
              <a:rPr sz="1350" spc="2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to open the door *then* checking if it's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51556" y="5725347"/>
            <a:ext cx="426585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walk through it. If it's closed, you don't even </a:t>
            </a:r>
            <a:r>
              <a:rPr sz="1350" spc="-50" dirty="0">
                <a:solidFill>
                  <a:srgbClr val="ECF0F1"/>
                </a:solidFill>
                <a:latin typeface="DejaVu Sans"/>
                <a:cs typeface="DejaVu Sans"/>
              </a:rPr>
              <a:t>try.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437262" y="5725347"/>
            <a:ext cx="485873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unlocked.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Even if it's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locked,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you've already tried once.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89992" y="6405953"/>
            <a:ext cx="4069312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Practical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Applications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18120" y="7065354"/>
            <a:ext cx="357921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Waiting</a:t>
            </a:r>
            <a:r>
              <a:rPr sz="2000" b="1" spc="18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for </a:t>
            </a:r>
            <a:r>
              <a:rPr sz="2000" b="1" spc="12" dirty="0">
                <a:solidFill>
                  <a:srgbClr val="F39C12"/>
                </a:solidFill>
                <a:latin typeface="DejaVu Sans"/>
                <a:cs typeface="DejaVu Sans"/>
              </a:rPr>
              <a:t>UI</a:t>
            </a: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Elements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803825" y="7065354"/>
            <a:ext cx="327936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Implementing</a:t>
            </a: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 Retries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08992" y="7468421"/>
            <a:ext cx="5382099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Use a </a:t>
            </a: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While loop</a:t>
            </a:r>
            <a:r>
              <a:rPr sz="135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to repeatedly check for a UI element (e.g.,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button,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text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ﬁeld) until it appears or a timeout is reached.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This prevents failures </a:t>
            </a: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slow-loading elements.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394697" y="7468421"/>
            <a:ext cx="5094015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Use a </a:t>
            </a: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Do While loop</a:t>
            </a:r>
            <a:r>
              <a:rPr sz="135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to attempt an action that might fail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intermittently (e.g., API call). It ensures the action is tried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once and retried until successful or a limit is hit.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979735" y="8741754"/>
            <a:ext cx="523374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Critical: Ensuring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Loop</a:t>
            </a: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-15" dirty="0">
                <a:solidFill>
                  <a:srgbClr val="F39C12"/>
                </a:solidFill>
                <a:latin typeface="DejaVu Sans"/>
                <a:cs typeface="DejaVu Sans"/>
              </a:rPr>
              <a:t>Termination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07839" y="9201971"/>
            <a:ext cx="717616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-15" dirty="0">
                <a:solidFill>
                  <a:srgbClr val="ECF0F1"/>
                </a:solidFill>
                <a:latin typeface="DejaVu Sans"/>
                <a:cs typeface="DejaVu Sans"/>
              </a:rPr>
              <a:t>Avoid</a:t>
            </a: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 Inﬁnite Loops: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Always design loop conditions to eventually become false.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07839" y="9497246"/>
            <a:ext cx="9018845" cy="532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Implement Counter </a:t>
            </a:r>
            <a:r>
              <a:rPr sz="1350" b="1" spc="-11" dirty="0">
                <a:solidFill>
                  <a:srgbClr val="ECF0F1"/>
                </a:solidFill>
                <a:latin typeface="DejaVu Sans"/>
                <a:cs typeface="DejaVu Sans"/>
              </a:rPr>
              <a:t>Variables:</a:t>
            </a:r>
            <a:r>
              <a:rPr sz="1350" b="1" spc="-3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Use counters to limit the number of iterations and prevent runaways.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Set Timeouts: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spc="-28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350" spc="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UI or network tasks, use timeouts to escape indeﬁnite waits.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07839" y="10097321"/>
            <a:ext cx="901251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Robust Error Handling: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Use </a:t>
            </a:r>
            <a:r>
              <a:rPr sz="1350" spc="-51" dirty="0">
                <a:solidFill>
                  <a:srgbClr val="ECF0F1"/>
                </a:solidFill>
                <a:latin typeface="DejaVu Sans"/>
                <a:cs typeface="DejaVu Sans"/>
              </a:rPr>
              <a:t>`Try</a:t>
            </a:r>
            <a:r>
              <a:rPr sz="1350" spc="46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Catch` blocks to manage exceptions that can aﬀect loop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10409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4676" y="380925"/>
            <a:ext cx="11335050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Decision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ECF0F1"/>
                </a:solidFill>
                <a:latin typeface="DejaVu Sans"/>
                <a:cs typeface="DejaVu Sans"/>
              </a:rPr>
              <a:t>Making: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Controlling </a:t>
            </a:r>
            <a:r>
              <a:rPr sz="4050" b="1" spc="-31" dirty="0">
                <a:solidFill>
                  <a:srgbClr val="ECF0F1"/>
                </a:solidFill>
                <a:latin typeface="DejaVu Sans"/>
                <a:cs typeface="DejaVu Sans"/>
              </a:rPr>
              <a:t>Workﬂow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5682" y="895275"/>
            <a:ext cx="6123154" cy="1350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49799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38" dirty="0">
                <a:solidFill>
                  <a:srgbClr val="ECF0F1"/>
                </a:solidFill>
                <a:latin typeface="DejaVu Sans"/>
                <a:cs typeface="DejaVu Sans"/>
              </a:rPr>
              <a:t>Paths</a:t>
            </a:r>
          </a:p>
          <a:p>
            <a:pPr marL="0" marR="0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5" dirty="0">
                <a:solidFill>
                  <a:srgbClr val="1ABC9C"/>
                </a:solidFill>
                <a:latin typeface="DejaVu Sans"/>
                <a:cs typeface="DejaVu Sans"/>
              </a:rPr>
              <a:t>What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is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 Decision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Making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in</a:t>
            </a:r>
          </a:p>
          <a:p>
            <a:pPr marL="0" marR="0">
              <a:lnSpc>
                <a:spcPts val="2932"/>
              </a:lnSpc>
              <a:spcBef>
                <a:spcPts val="192"/>
              </a:spcBef>
              <a:spcAft>
                <a:spcPts val="0"/>
              </a:spcAft>
            </a:pP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Automation?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6690" y="2373443"/>
            <a:ext cx="7191304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Decision making in automation refers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to the process where</a:t>
            </a:r>
            <a:r>
              <a:rPr sz="150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robot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(bot)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evaluates speciﬁc conditions to determine the subsequent path or action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to </a:t>
            </a:r>
            <a:r>
              <a:rPr sz="1500" spc="-11" dirty="0">
                <a:solidFill>
                  <a:srgbClr val="ECF0F1"/>
                </a:solidFill>
                <a:latin typeface="DejaVu Sans"/>
                <a:cs typeface="DejaVu Sans"/>
              </a:rPr>
              <a:t>take</a:t>
            </a:r>
            <a:r>
              <a:rPr sz="1500" spc="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within 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spc="-11" dirty="0">
                <a:solidFill>
                  <a:srgbClr val="ECF0F1"/>
                </a:solidFill>
                <a:latin typeface="DejaVu Sans"/>
                <a:cs typeface="DejaVu Sans"/>
              </a:rPr>
              <a:t>workﬂow.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6690" y="3354518"/>
            <a:ext cx="7101954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It allows the automation to dynamically respond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to varying inputs, data,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system states, moving beyond simple linear execution.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6690" y="4040318"/>
            <a:ext cx="7182678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Essentially, decisions introduce 'intelligence' by enabling the workﬂow to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branch into diﬀerent logical sequences.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06239" y="4838155"/>
            <a:ext cx="264627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4" dirty="0">
                <a:solidFill>
                  <a:srgbClr val="F39C12"/>
                </a:solidFill>
                <a:latin typeface="DejaVu Sans"/>
                <a:cs typeface="DejaVu Sans"/>
              </a:rPr>
              <a:t>Why</a:t>
            </a: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 is it Crucial?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46105" y="4838155"/>
            <a:ext cx="385882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UiPath</a:t>
            </a:r>
            <a:r>
              <a:rPr sz="2000" b="1" spc="18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Decision Activities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7247" y="5355523"/>
            <a:ext cx="494894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Intelligent </a:t>
            </a:r>
            <a:r>
              <a:rPr sz="1350" b="1" spc="-10" dirty="0">
                <a:solidFill>
                  <a:srgbClr val="F39C12"/>
                </a:solidFill>
                <a:latin typeface="DejaVu Sans"/>
                <a:cs typeface="DejaVu Sans"/>
              </a:rPr>
              <a:t>Workﬂows:</a:t>
            </a:r>
            <a:r>
              <a:rPr sz="1350" b="1" spc="-34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Enables adaptable automation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37113" y="5355523"/>
            <a:ext cx="5203981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5" dirty="0">
                <a:solidFill>
                  <a:srgbClr val="ECF0F1"/>
                </a:solidFill>
                <a:latin typeface="DejaVu Sans"/>
                <a:cs typeface="DejaVu Sans"/>
              </a:rPr>
              <a:t>UiPath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provides a rich set of activities speciﬁcally designed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for implementing decision-making logic within automation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workﬂows.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97247" y="5612698"/>
            <a:ext cx="523306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that handles diverse scenarios and exceptions </a:t>
            </a:r>
            <a:r>
              <a:rPr sz="1350" spc="-20" dirty="0">
                <a:solidFill>
                  <a:srgbClr val="ECF0F1"/>
                </a:solidFill>
                <a:latin typeface="DejaVu Sans"/>
                <a:cs typeface="DejaVu Sans"/>
              </a:rPr>
              <a:t>dynamically.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7247" y="5955598"/>
            <a:ext cx="479814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Scenario Handling:</a:t>
            </a:r>
            <a:r>
              <a:rPr sz="1350" b="1" spc="-4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Crucial for processes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where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ﬂow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97247" y="6212773"/>
            <a:ext cx="484867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depends on data validity, user input, or business rules.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37113" y="6212773"/>
            <a:ext cx="5200939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These activities empower developers to deﬁne conditional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paths, allowing the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robot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to </a:t>
            </a:r>
            <a:r>
              <a:rPr sz="1350" spc="-15" dirty="0">
                <a:solidFill>
                  <a:srgbClr val="ECF0F1"/>
                </a:solidFill>
                <a:latin typeface="DejaVu Sans"/>
                <a:cs typeface="DejaVu Sans"/>
              </a:rPr>
              <a:t>execute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diﬀerent sequences of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actions.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97247" y="6546147"/>
            <a:ext cx="479871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Eﬃciency &amp; Accuracy:</a:t>
            </a:r>
            <a:r>
              <a:rPr sz="1350" b="1" spc="-4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Bots </a:t>
            </a:r>
            <a:r>
              <a:rPr sz="1350" spc="-20" dirty="0">
                <a:solidFill>
                  <a:srgbClr val="ECF0F1"/>
                </a:solidFill>
                <a:latin typeface="DejaVu Sans"/>
                <a:cs typeface="DejaVu Sans"/>
              </a:rPr>
              <a:t>make</a:t>
            </a:r>
            <a:r>
              <a:rPr sz="1350" spc="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real-time choices,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97247" y="6803322"/>
            <a:ext cx="395648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making processes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robust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and </a:t>
            </a:r>
            <a:r>
              <a:rPr sz="1350" spc="-15" dirty="0">
                <a:solidFill>
                  <a:srgbClr val="ECF0F1"/>
                </a:solidFill>
                <a:latin typeface="DejaVu Sans"/>
                <a:cs typeface="DejaVu Sans"/>
              </a:rPr>
              <a:t>more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eﬃcient.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37113" y="7060497"/>
            <a:ext cx="513116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Mastering these is fundamental for building sophisticated,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resilient, and adaptive </a:t>
            </a:r>
            <a:r>
              <a:rPr sz="1350" spc="-47" dirty="0">
                <a:solidFill>
                  <a:srgbClr val="ECF0F1"/>
                </a:solidFill>
                <a:latin typeface="DejaVu Sans"/>
                <a:cs typeface="DejaVu Sans"/>
              </a:rPr>
              <a:t>RPA</a:t>
            </a:r>
            <a:r>
              <a:rPr sz="1350" spc="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solutions.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97247" y="7146222"/>
            <a:ext cx="506016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39C12"/>
                </a:solidFill>
                <a:latin typeface="DejaVu Sans"/>
                <a:cs typeface="DejaVu Sans"/>
              </a:rPr>
              <a:t>Error Prevention:</a:t>
            </a:r>
            <a:r>
              <a:rPr sz="1350" b="1" spc="-4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Helps in implementing eﬀective </a:t>
            </a:r>
            <a:r>
              <a:rPr sz="1350" spc="-17" dirty="0">
                <a:solidFill>
                  <a:srgbClr val="ECF0F1"/>
                </a:solidFill>
                <a:latin typeface="DejaVu Sans"/>
                <a:cs typeface="DejaVu Sans"/>
              </a:rPr>
              <a:t>error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97247" y="7403397"/>
            <a:ext cx="265324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handling and recovery paths.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63810" y="8012243"/>
            <a:ext cx="1202077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ABC9C"/>
                </a:solidFill>
                <a:latin typeface="DejaVu Sans"/>
                <a:cs typeface="DejaVu Sans"/>
              </a:rPr>
              <a:t>If Activity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41104" y="8012243"/>
            <a:ext cx="1643333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ABC9C"/>
                </a:solidFill>
                <a:latin typeface="DejaVu Sans"/>
                <a:cs typeface="DejaVu Sans"/>
              </a:rPr>
              <a:t>Flow Decision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718398" y="8012243"/>
            <a:ext cx="177082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ABC9C"/>
                </a:solidFill>
                <a:latin typeface="DejaVu Sans"/>
                <a:cs typeface="DejaVu Sans"/>
              </a:rPr>
              <a:t>Switch Activity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595692" y="8012243"/>
            <a:ext cx="1449189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ABC9C"/>
                </a:solidFill>
                <a:latin typeface="DejaVu Sans"/>
                <a:cs typeface="DejaVu Sans"/>
              </a:rPr>
              <a:t>Flow Switch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39960" y="8471706"/>
            <a:ext cx="1400650" cy="4442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Conditional Logic</a:t>
            </a:r>
          </a:p>
          <a:p>
            <a:pPr marL="0" marR="0">
              <a:lnSpc>
                <a:spcPts val="1173"/>
              </a:lnSpc>
              <a:spcBef>
                <a:spcPts val="801"/>
              </a:spcBef>
              <a:spcAft>
                <a:spcPts val="0"/>
              </a:spcAft>
            </a:pPr>
            <a:r>
              <a:rPr sz="1000" b="1" spc="-14" dirty="0">
                <a:solidFill>
                  <a:srgbClr val="FFFFFF"/>
                </a:solidFill>
                <a:latin typeface="DejaVu Sans"/>
                <a:cs typeface="DejaVu Sans"/>
              </a:rPr>
              <a:t>True/False</a:t>
            </a:r>
            <a:r>
              <a:rPr sz="1000" b="1" spc="2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Path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517254" y="8471706"/>
            <a:ext cx="123934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Flowchart Only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817417" y="8471706"/>
            <a:ext cx="97268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Visual Flow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394548" y="8471706"/>
            <a:ext cx="119191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Multiple Paths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647234" y="8471706"/>
            <a:ext cx="107154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Default Case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9271842" y="8471706"/>
            <a:ext cx="123934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Flowchart Only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0572005" y="8471706"/>
            <a:ext cx="101667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Case Values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431976" y="8756702"/>
            <a:ext cx="2582747" cy="640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Similar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If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but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used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exclusively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in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Flowchart,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providing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clear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visual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ECF0F1"/>
                </a:solidFill>
                <a:latin typeface="DejaVu Sans"/>
                <a:cs typeface="DejaVu Sans"/>
              </a:rPr>
              <a:t>representation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309270" y="8756702"/>
            <a:ext cx="186429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Selects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one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multiple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9186564" y="8756702"/>
            <a:ext cx="2493172" cy="8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ﬂowchart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equivalent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Switch,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allowing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multiple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outgoing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branches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speciﬁc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cases.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309270" y="8975777"/>
            <a:ext cx="2506484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ECF0F1"/>
                </a:solidFill>
                <a:latin typeface="DejaVu Sans"/>
                <a:cs typeface="DejaVu Sans"/>
              </a:rPr>
              <a:t>execution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paths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based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on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value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speciﬁed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expression.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554682" y="9013877"/>
            <a:ext cx="2481197" cy="850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Executes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one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set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activities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if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200" spc="-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condition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is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ECF0F1"/>
                </a:solidFill>
                <a:latin typeface="DejaVu Sans"/>
                <a:cs typeface="DejaVu Sans"/>
              </a:rPr>
              <a:t>`True`,</a:t>
            </a:r>
            <a:r>
              <a:rPr sz="1200" spc="2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another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(optional)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set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if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it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is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sz="1200" spc="-28" dirty="0">
                <a:solidFill>
                  <a:srgbClr val="ECF0F1"/>
                </a:solidFill>
                <a:latin typeface="DejaVu Sans"/>
                <a:cs typeface="DejaVu Sans"/>
              </a:rPr>
              <a:t>`False`.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431976" y="9394877"/>
            <a:ext cx="134815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branching</a:t>
            </a:r>
            <a:r>
              <a:rPr sz="12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CF0F1"/>
                </a:solidFill>
                <a:latin typeface="DejaVu Sans"/>
                <a:cs typeface="DejaVu Sans"/>
              </a:rPr>
              <a:t>logic.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1061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5831" y="323139"/>
            <a:ext cx="10472575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If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Activity: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ECF0F1"/>
                </a:solidFill>
                <a:latin typeface="DejaVu Sans"/>
                <a:cs typeface="DejaVu Sans"/>
              </a:rPr>
              <a:t>Simple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Conditional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9992" y="1158694"/>
            <a:ext cx="4787214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Syntax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&amp;</a:t>
            </a:r>
            <a:r>
              <a:rPr sz="2500" b="1" spc="2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Branching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752928"/>
            <a:ext cx="6649714" cy="1214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700" spc="32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39C12"/>
                </a:solidFill>
                <a:latin typeface="Liberation Mono"/>
                <a:cs typeface="Liberation Mono"/>
              </a:rPr>
              <a:t>If</a:t>
            </a:r>
            <a:r>
              <a:rPr sz="1700" spc="444" dirty="0">
                <a:solidFill>
                  <a:srgbClr val="F39C12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activity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is</a:t>
            </a:r>
            <a:r>
              <a:rPr sz="1700" spc="-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700" spc="-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fundamental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decision-making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construct</a:t>
            </a:r>
          </a:p>
          <a:p>
            <a:pPr marL="0" marR="0">
              <a:lnSpc>
                <a:spcPts val="1955"/>
              </a:lnSpc>
              <a:spcBef>
                <a:spcPts val="436"/>
              </a:spcBef>
              <a:spcAft>
                <a:spcPts val="0"/>
              </a:spcAft>
            </a:pP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in</a:t>
            </a:r>
            <a:r>
              <a:rPr sz="1700" spc="-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23" dirty="0">
                <a:solidFill>
                  <a:srgbClr val="ECF0F1"/>
                </a:solidFill>
                <a:latin typeface="DejaVu Sans"/>
                <a:cs typeface="DejaVu Sans"/>
              </a:rPr>
              <a:t>UiPath,</a:t>
            </a:r>
            <a:r>
              <a:rPr sz="17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enabling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the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CF0F1"/>
                </a:solidFill>
                <a:latin typeface="DejaVu Sans"/>
                <a:cs typeface="DejaVu Sans"/>
              </a:rPr>
              <a:t>automation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to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25" dirty="0">
                <a:solidFill>
                  <a:srgbClr val="ECF0F1"/>
                </a:solidFill>
                <a:latin typeface="DejaVu Sans"/>
                <a:cs typeface="DejaVu Sans"/>
              </a:rPr>
              <a:t>execute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ECF0F1"/>
                </a:solidFill>
                <a:latin typeface="DejaVu Sans"/>
                <a:cs typeface="DejaVu Sans"/>
              </a:rPr>
              <a:t>diﬀerent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sets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of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activities </a:t>
            </a:r>
            <a:r>
              <a:rPr sz="1700" spc="-11" dirty="0">
                <a:solidFill>
                  <a:srgbClr val="ECF0F1"/>
                </a:solidFill>
                <a:latin typeface="DejaVu Sans"/>
                <a:cs typeface="DejaVu Sans"/>
              </a:rPr>
              <a:t>based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on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whether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a</a:t>
            </a:r>
            <a:r>
              <a:rPr sz="1700" spc="-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speciﬁed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condition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evaluate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to</a:t>
            </a:r>
            <a:r>
              <a:rPr sz="1700" spc="32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4ADE80"/>
                </a:solidFill>
                <a:latin typeface="Liberation Mono"/>
                <a:cs typeface="Liberation Mono"/>
              </a:rPr>
              <a:t>True</a:t>
            </a:r>
            <a:r>
              <a:rPr sz="1700" spc="444" dirty="0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  <a:r>
              <a:rPr sz="1700" spc="33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87171"/>
                </a:solidFill>
                <a:latin typeface="Liberation Mono"/>
                <a:cs typeface="Liberation Mono"/>
              </a:rPr>
              <a:t>False</a:t>
            </a:r>
            <a:r>
              <a:rPr sz="1700" spc="-88" dirty="0">
                <a:solidFill>
                  <a:srgbClr val="F87171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0999" y="3161119"/>
            <a:ext cx="361459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Key</a:t>
            </a:r>
            <a:r>
              <a:rPr sz="2000" b="1" spc="2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Property:</a:t>
            </a: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 Condition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0999" y="3553907"/>
            <a:ext cx="626125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This property requires</a:t>
            </a:r>
            <a:r>
              <a:rPr sz="1500" spc="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Boolean expression. Examples include: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6278" y="3980572"/>
            <a:ext cx="189244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Liberation Mono"/>
                <a:cs typeface="Liberation Mono"/>
              </a:rPr>
              <a:t>TotalAmount &gt; 100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6278" y="4447297"/>
            <a:ext cx="3635000" cy="6981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Liberation Mono"/>
                <a:cs typeface="Liberation Mono"/>
              </a:rPr>
              <a:t>String.IsNullOrEmpty(CustomerName)</a:t>
            </a:r>
          </a:p>
          <a:p>
            <a:pPr marL="0" marR="0">
              <a:lnSpc>
                <a:spcPts val="1522"/>
              </a:lnSpc>
              <a:spcBef>
                <a:spcPts val="2152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Liberation Mono"/>
                <a:cs typeface="Liberation Mono"/>
              </a:rPr>
              <a:t>File.Exists("path\\to\\file.txt")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80999" y="5418544"/>
            <a:ext cx="287126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Handling</a:t>
            </a: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Branches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59711" y="5554912"/>
            <a:ext cx="4419358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If activity is dragged </a:t>
            </a: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the Activities panel</a:t>
            </a:r>
          </a:p>
          <a:p>
            <a:pPr marL="900856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to control the workﬂow path.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0999" y="5811332"/>
            <a:ext cx="6675334" cy="27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ABC9C"/>
                </a:solidFill>
                <a:latin typeface="DejaVu Sans"/>
                <a:cs typeface="DejaVu Sans"/>
              </a:rPr>
              <a:t>Then Branch:</a:t>
            </a:r>
            <a:r>
              <a:rPr sz="1500" b="1" spc="-44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Contains activities executed</a:t>
            </a:r>
            <a:r>
              <a:rPr sz="1500" spc="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if the Condition is</a:t>
            </a:r>
            <a:r>
              <a:rPr sz="1500" spc="34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4ADE80"/>
                </a:solidFill>
                <a:latin typeface="Liberation Mono"/>
                <a:cs typeface="Liberation Mono"/>
              </a:rPr>
              <a:t>True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80999" y="6163757"/>
            <a:ext cx="6341652" cy="8712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1ABC9C"/>
                </a:solidFill>
                <a:latin typeface="DejaVu Sans"/>
                <a:cs typeface="DejaVu Sans"/>
              </a:rPr>
              <a:t>Else Branch:</a:t>
            </a:r>
            <a:r>
              <a:rPr sz="1500" b="1" spc="-43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Optional branch with activities executed</a:t>
            </a:r>
            <a:r>
              <a:rPr sz="1500" spc="1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if the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Condition is</a:t>
            </a:r>
            <a:r>
              <a:rPr sz="1500" spc="34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87171"/>
                </a:solidFill>
                <a:latin typeface="Liberation Mono"/>
                <a:cs typeface="Liberation Mono"/>
              </a:rPr>
              <a:t>False</a:t>
            </a:r>
            <a:r>
              <a:rPr sz="1500" spc="-38" dirty="0">
                <a:solidFill>
                  <a:srgbClr val="F8717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. If empty, the workﬂow proceeds to the next</a:t>
            </a:r>
          </a:p>
          <a:p>
            <a:pPr marL="0" marR="0">
              <a:lnSpc>
                <a:spcPts val="1760"/>
              </a:lnSpc>
              <a:spcBef>
                <a:spcPts val="542"/>
              </a:spcBef>
              <a:spcAft>
                <a:spcPts val="0"/>
              </a:spcAft>
            </a:pPr>
            <a:r>
              <a:rPr sz="1500" spc="-18" dirty="0">
                <a:solidFill>
                  <a:srgbClr val="ECF0F1"/>
                </a:solidFill>
                <a:latin typeface="DejaVu Sans"/>
                <a:cs typeface="DejaVu Sans"/>
              </a:rPr>
              <a:t>activity.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60685" y="7428319"/>
            <a:ext cx="328198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1ABC9C"/>
                </a:solidFill>
                <a:latin typeface="DejaVu Sans"/>
                <a:cs typeface="DejaVu Sans"/>
              </a:rPr>
              <a:t>Common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 Applications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03676" y="7428319"/>
            <a:ext cx="300375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Nesting If Activities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79549" y="7955967"/>
            <a:ext cx="12934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ECF0F1"/>
                </a:solidFill>
                <a:latin typeface="DejaVu Sans"/>
                <a:cs typeface="DejaVu Sans"/>
              </a:rPr>
              <a:t>Validation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161877" y="7955967"/>
            <a:ext cx="126084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ECF0F1"/>
                </a:solidFill>
                <a:latin typeface="DejaVu Sans"/>
                <a:cs typeface="DejaVu Sans"/>
              </a:rPr>
              <a:t>Business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ECF0F1"/>
                </a:solidFill>
                <a:latin typeface="DejaVu Sans"/>
                <a:cs typeface="DejaVu Sans"/>
              </a:rPr>
              <a:t>Rules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611611" y="7955967"/>
            <a:ext cx="143053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Dynamic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ECF0F1"/>
                </a:solidFill>
                <a:latin typeface="DejaVu Sans"/>
                <a:cs typeface="DejaVu Sans"/>
              </a:rPr>
              <a:t>Routing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22540" y="7955967"/>
            <a:ext cx="164474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Complex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Conditions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356251" y="7955967"/>
            <a:ext cx="14797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CF0F1"/>
                </a:solidFill>
                <a:latin typeface="DejaVu Sans"/>
                <a:cs typeface="DejaVu Sans"/>
              </a:rPr>
              <a:t>Hierarchical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Logic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024912" y="7955967"/>
            <a:ext cx="160874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ECF0F1"/>
                </a:solidFill>
                <a:latin typeface="DejaVu Sans"/>
                <a:cs typeface="DejaVu Sans"/>
              </a:rPr>
              <a:t>Readability</a:t>
            </a:r>
            <a:r>
              <a:rPr sz="12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CF0F1"/>
                </a:solidFill>
                <a:latin typeface="DejaVu Sans"/>
                <a:cs typeface="DejaVu Sans"/>
              </a:rPr>
              <a:t>Caution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1556" y="8345737"/>
            <a:ext cx="501153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Data </a:t>
            </a:r>
            <a:r>
              <a:rPr sz="1350" b="1" spc="-10" dirty="0">
                <a:solidFill>
                  <a:srgbClr val="ECF0F1"/>
                </a:solidFill>
                <a:latin typeface="DejaVu Sans"/>
                <a:cs typeface="DejaVu Sans"/>
              </a:rPr>
              <a:t>Validation:</a:t>
            </a:r>
            <a:r>
              <a:rPr sz="1350" b="1" spc="-3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Checking if input ﬁelds </a:t>
            </a:r>
            <a:r>
              <a:rPr sz="1350" spc="-18" dirty="0">
                <a:solidFill>
                  <a:srgbClr val="ECF0F1"/>
                </a:solidFill>
                <a:latin typeface="DejaVu Sans"/>
                <a:cs typeface="DejaVu Sans"/>
              </a:rPr>
              <a:t>are</a:t>
            </a:r>
            <a:r>
              <a:rPr sz="135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populated,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94548" y="8345737"/>
            <a:ext cx="4898817" cy="514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Deﬁnition: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Placing one</a:t>
            </a:r>
            <a:r>
              <a:rPr sz="1350" spc="33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Liberation Mono"/>
                <a:cs typeface="Liberation Mono"/>
              </a:rPr>
              <a:t>If</a:t>
            </a:r>
            <a:r>
              <a:rPr sz="1350" spc="-46" dirty="0">
                <a:solidFill>
                  <a:srgbClr val="ECF0F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activity inside the</a:t>
            </a:r>
            <a:r>
              <a:rPr sz="1350" spc="33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Liberation Mono"/>
                <a:cs typeface="Liberation Mono"/>
              </a:rPr>
              <a:t>Then</a:t>
            </a:r>
            <a:r>
              <a:rPr sz="1350" spc="-47" dirty="0">
                <a:solidFill>
                  <a:srgbClr val="ECF0F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</a:p>
          <a:p>
            <a:pPr marL="42564" marR="0">
              <a:lnSpc>
                <a:spcPts val="1564"/>
              </a:lnSpc>
              <a:spcBef>
                <a:spcPts val="44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Liberation Mono"/>
                <a:cs typeface="Liberation Mono"/>
              </a:rPr>
              <a:t>Else</a:t>
            </a:r>
            <a:r>
              <a:rPr sz="1350" spc="-47" dirty="0">
                <a:solidFill>
                  <a:srgbClr val="ECF0F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branch of </a:t>
            </a:r>
            <a:r>
              <a:rPr sz="1350" spc="-21" dirty="0">
                <a:solidFill>
                  <a:srgbClr val="ECF0F1"/>
                </a:solidFill>
                <a:latin typeface="DejaVu Sans"/>
                <a:cs typeface="DejaVu Sans"/>
              </a:rPr>
              <a:t>another.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51556" y="8602912"/>
            <a:ext cx="426611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values </a:t>
            </a:r>
            <a:r>
              <a:rPr sz="1350" spc="-18" dirty="0">
                <a:solidFill>
                  <a:srgbClr val="ECF0F1"/>
                </a:solidFill>
                <a:latin typeface="DejaVu Sans"/>
                <a:cs typeface="DejaVu Sans"/>
              </a:rPr>
              <a:t>are</a:t>
            </a:r>
            <a:r>
              <a:rPr sz="135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in range, or data formats </a:t>
            </a:r>
            <a:r>
              <a:rPr sz="1350" spc="-18" dirty="0">
                <a:solidFill>
                  <a:srgbClr val="ECF0F1"/>
                </a:solidFill>
                <a:latin typeface="DejaVu Sans"/>
                <a:cs typeface="DejaVu Sans"/>
              </a:rPr>
              <a:t>are</a:t>
            </a:r>
            <a:r>
              <a:rPr sz="135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correct.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51556" y="8945812"/>
            <a:ext cx="486270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Business Logic:</a:t>
            </a:r>
            <a:r>
              <a:rPr sz="1350" b="1" spc="-4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Implementing diﬀerent process ﬂows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394548" y="8964862"/>
            <a:ext cx="488570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Purpose: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Handles complex, hierarchical decision ﬂows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51556" y="9202987"/>
            <a:ext cx="518170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based on speciﬁc business rules (e.g., approving invoices).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394548" y="9222037"/>
            <a:ext cx="513663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where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multiple conditions must be evaluated </a:t>
            </a:r>
            <a:r>
              <a:rPr sz="1350" spc="-18" dirty="0">
                <a:solidFill>
                  <a:srgbClr val="ECF0F1"/>
                </a:solidFill>
                <a:latin typeface="DejaVu Sans"/>
                <a:cs typeface="DejaVu Sans"/>
              </a:rPr>
              <a:t>sequentially.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51556" y="9536362"/>
            <a:ext cx="539420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Branching Logic: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Directing automation based on conditions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394548" y="9555412"/>
            <a:ext cx="502356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Caution: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Excessive nesting hinders </a:t>
            </a:r>
            <a:r>
              <a:rPr sz="1350" spc="-21" dirty="0">
                <a:solidFill>
                  <a:srgbClr val="ECF0F1"/>
                </a:solidFill>
                <a:latin typeface="DejaVu Sans"/>
                <a:cs typeface="DejaVu Sans"/>
              </a:rPr>
              <a:t>readability.</a:t>
            </a:r>
            <a:r>
              <a:rPr sz="1350" spc="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Consider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51556" y="9793537"/>
            <a:ext cx="316275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8" dirty="0">
                <a:solidFill>
                  <a:srgbClr val="ECF0F1"/>
                </a:solidFill>
                <a:latin typeface="DejaVu Sans"/>
                <a:cs typeface="DejaVu Sans"/>
              </a:rPr>
              <a:t>like</a:t>
            </a:r>
            <a:r>
              <a:rPr sz="135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ﬁle existence or system status.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437113" y="9812587"/>
            <a:ext cx="2055900" cy="247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Liberation Mono"/>
                <a:cs typeface="Liberation Mono"/>
              </a:rPr>
              <a:t>Switch</a:t>
            </a:r>
            <a:r>
              <a:rPr sz="1350" spc="-46" dirty="0">
                <a:solidFill>
                  <a:srgbClr val="ECF0F1"/>
                </a:solidFill>
                <a:latin typeface="Liberation Mono"/>
                <a:cs typeface="Liberation Mono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or</a:t>
            </a:r>
            <a:r>
              <a:rPr sz="1350" spc="33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Liberation Mono"/>
                <a:cs typeface="Liberation Mono"/>
              </a:rPr>
              <a:t>Flowchart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437405" y="9812587"/>
            <a:ext cx="287819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for clarity in complex scenarios.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547716" y="10414171"/>
            <a:ext cx="671138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Source: Understanding Decision-Making Activities in UiPath</a:t>
            </a:r>
            <a:r>
              <a:rPr sz="100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- Medium; UiPath</a:t>
            </a:r>
            <a:r>
              <a:rPr sz="100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ECF0F1"/>
                </a:solidFill>
                <a:latin typeface="DejaVu Sans"/>
                <a:cs typeface="DejaVu Sans"/>
              </a:rPr>
              <a:t>Documentation; Edureka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51442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19870" y="381433"/>
            <a:ext cx="8704442" cy="1148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Switch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Activity: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Multiple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36" dirty="0">
                <a:solidFill>
                  <a:srgbClr val="ECF0F1"/>
                </a:solidFill>
                <a:latin typeface="DejaVu Sans"/>
                <a:cs typeface="DejaVu Sans"/>
              </a:rPr>
              <a:t>Path</a:t>
            </a:r>
          </a:p>
          <a:p>
            <a:pPr marL="2936825" marR="0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Selection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5682" y="1702763"/>
            <a:ext cx="6759316" cy="80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Purpose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&amp;</a:t>
            </a:r>
            <a:r>
              <a:rPr sz="2500" b="1" spc="2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1ABC9C"/>
                </a:solidFill>
                <a:latin typeface="DejaVu Sans"/>
                <a:cs typeface="DejaVu Sans"/>
              </a:rPr>
              <a:t>Advantages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1ABC9C"/>
                </a:solidFill>
                <a:latin typeface="DejaVu Sans"/>
                <a:cs typeface="DejaVu Sans"/>
              </a:rPr>
              <a:t>of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the</a:t>
            </a:r>
            <a:r>
              <a:rPr sz="25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Switch</a:t>
            </a:r>
          </a:p>
          <a:p>
            <a:pPr marL="0" marR="0">
              <a:lnSpc>
                <a:spcPts val="2932"/>
              </a:lnSpc>
              <a:spcBef>
                <a:spcPts val="192"/>
              </a:spcBef>
              <a:spcAft>
                <a:spcPts val="0"/>
              </a:spcAft>
            </a:pPr>
            <a:r>
              <a:rPr sz="2500" b="1" spc="10" dirty="0">
                <a:solidFill>
                  <a:srgbClr val="1ABC9C"/>
                </a:solidFill>
                <a:latin typeface="DejaVu Sans"/>
                <a:cs typeface="DejaVu Sans"/>
              </a:rPr>
              <a:t>Activity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6690" y="2666963"/>
            <a:ext cx="208631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Core</a:t>
            </a: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Purpose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6690" y="3059751"/>
            <a:ext cx="7434569" cy="1452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The `Switch` activity in UiPath</a:t>
            </a:r>
            <a:r>
              <a:rPr sz="1500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is 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control ﬂow mechanism designed to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select one of several execution</a:t>
            </a:r>
            <a:r>
              <a:rPr sz="1500" spc="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paths based on the value of 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single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speciﬁed expression. It evaluates an input value against 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list of predeﬁned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'case' values, executing</a:t>
            </a:r>
            <a:r>
              <a:rPr sz="1500" spc="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the activities associated with the ﬁrst matching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case.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6690" y="4714838"/>
            <a:ext cx="248340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39C12"/>
                </a:solidFill>
                <a:latin typeface="DejaVu Sans"/>
                <a:cs typeface="DejaVu Sans"/>
              </a:rPr>
              <a:t>Key</a:t>
            </a:r>
            <a:r>
              <a:rPr sz="2000" b="1" spc="2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39C12"/>
                </a:solidFill>
                <a:latin typeface="DejaVu Sans"/>
                <a:cs typeface="DejaVu Sans"/>
              </a:rPr>
              <a:t>Advantages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1518" y="5107626"/>
            <a:ext cx="110037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Clarity &amp;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03412" y="5107626"/>
            <a:ext cx="560271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Dramatically improves workﬂow readability compared to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1518" y="5402901"/>
            <a:ext cx="421590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Readability:</a:t>
            </a:r>
            <a:r>
              <a:rPr sz="1500" b="1" spc="167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lengthy `If-Else</a:t>
            </a:r>
            <a:r>
              <a:rPr sz="1500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If` chains.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1518" y="5793426"/>
            <a:ext cx="706691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Maintainability: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Easier to manage and update new conditions or paths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26642" y="6088701"/>
            <a:ext cx="352279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without restructuring the </a:t>
            </a:r>
            <a:r>
              <a:rPr sz="1500" spc="-11" dirty="0">
                <a:solidFill>
                  <a:srgbClr val="ECF0F1"/>
                </a:solidFill>
                <a:latin typeface="DejaVu Sans"/>
                <a:cs typeface="DejaVu Sans"/>
              </a:rPr>
              <a:t>workﬂow.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21518" y="6469701"/>
            <a:ext cx="7172850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Organization: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Provides</a:t>
            </a:r>
            <a:r>
              <a:rPr sz="150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clear, structured way to categorize and handle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93131" y="6774501"/>
            <a:ext cx="1921084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diverse outcomes.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48953" y="7486613"/>
            <a:ext cx="422517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Conﬁguring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Cases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Default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46254" y="7486613"/>
            <a:ext cx="388620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Practical </a:t>
            </a: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Examples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 in</a:t>
            </a: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000" b="1" spc="-54" dirty="0">
                <a:solidFill>
                  <a:srgbClr val="1ABC9C"/>
                </a:solidFill>
                <a:latin typeface="DejaVu Sans"/>
                <a:cs typeface="DejaVu Sans"/>
              </a:rPr>
              <a:t>RPA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3339" y="8002472"/>
            <a:ext cx="280251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39C12"/>
                </a:solidFill>
                <a:latin typeface="DejaVu Sans"/>
                <a:cs typeface="DejaVu Sans"/>
              </a:rPr>
              <a:t>`Expression`</a:t>
            </a:r>
            <a:r>
              <a:rPr sz="17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39C12"/>
                </a:solidFill>
                <a:latin typeface="DejaVu Sans"/>
                <a:cs typeface="DejaVu Sans"/>
              </a:rPr>
              <a:t>Property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60640" y="8002472"/>
            <a:ext cx="212999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39C12"/>
                </a:solidFill>
                <a:latin typeface="DejaVu Sans"/>
                <a:cs typeface="DejaVu Sans"/>
              </a:rPr>
              <a:t>Menu</a:t>
            </a:r>
            <a:r>
              <a:rPr sz="17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39C12"/>
                </a:solidFill>
                <a:latin typeface="DejaVu Sans"/>
                <a:cs typeface="DejaVu Sans"/>
              </a:rPr>
              <a:t>Selections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3339" y="8299256"/>
            <a:ext cx="4883852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Provide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the variable or value to be evaluated. Common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types include `String` and `Int32`.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60640" y="8299256"/>
            <a:ext cx="501767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Processing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user input </a:t>
            </a:r>
            <a:r>
              <a:rPr sz="1350" spc="-18" dirty="0">
                <a:solidFill>
                  <a:srgbClr val="ECF0F1"/>
                </a:solidFill>
                <a:latin typeface="DejaVu Sans"/>
                <a:cs typeface="DejaVu Sans"/>
              </a:rPr>
              <a:t>like</a:t>
            </a:r>
            <a:r>
              <a:rPr sz="135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'1' for New Order, '2' for Check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Status, '3' for Exit.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63339" y="8935922"/>
            <a:ext cx="324331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7" dirty="0">
                <a:solidFill>
                  <a:srgbClr val="F39C12"/>
                </a:solidFill>
                <a:latin typeface="DejaVu Sans"/>
                <a:cs typeface="DejaVu Sans"/>
              </a:rPr>
              <a:t>`TypeArgument`</a:t>
            </a:r>
            <a:r>
              <a:rPr sz="1700" b="1" spc="1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39C12"/>
                </a:solidFill>
                <a:latin typeface="DejaVu Sans"/>
                <a:cs typeface="DejaVu Sans"/>
              </a:rPr>
              <a:t>Property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60640" y="8935922"/>
            <a:ext cx="208450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39C12"/>
                </a:solidFill>
                <a:latin typeface="DejaVu Sans"/>
                <a:cs typeface="DejaVu Sans"/>
              </a:rPr>
              <a:t>Status</a:t>
            </a:r>
            <a:r>
              <a:rPr sz="17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39C12"/>
                </a:solidFill>
                <a:latin typeface="DejaVu Sans"/>
                <a:cs typeface="DejaVu Sans"/>
              </a:rPr>
              <a:t>Handling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63339" y="9242231"/>
            <a:ext cx="4844612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Speciﬁes the data type of the `Expression` and `Case`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values to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ensure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spc="-17" dirty="0">
                <a:solidFill>
                  <a:srgbClr val="ECF0F1"/>
                </a:solidFill>
                <a:latin typeface="DejaVu Sans"/>
                <a:cs typeface="DejaVu Sans"/>
              </a:rPr>
              <a:t>compatibility.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560640" y="9242231"/>
            <a:ext cx="4332001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Automating actions based on a status: 'Pending',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'Approved',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'Rejected',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'On Hold'.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63339" y="9878897"/>
            <a:ext cx="212531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39C12"/>
                </a:solidFill>
                <a:latin typeface="DejaVu Sans"/>
                <a:cs typeface="DejaVu Sans"/>
              </a:rPr>
              <a:t>`Case`</a:t>
            </a:r>
            <a:r>
              <a:rPr sz="17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39C12"/>
                </a:solidFill>
                <a:latin typeface="DejaVu Sans"/>
                <a:cs typeface="DejaVu Sans"/>
              </a:rPr>
              <a:t>Branches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560640" y="9878897"/>
            <a:ext cx="231974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39C12"/>
                </a:solidFill>
                <a:latin typeface="DejaVu Sans"/>
                <a:cs typeface="DejaVu Sans"/>
              </a:rPr>
              <a:t>Categorizing</a:t>
            </a:r>
            <a:r>
              <a:rPr sz="1700" b="1" spc="-1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39C12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63339" y="10175681"/>
            <a:ext cx="456422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Create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a branch for each speciﬁc value you want to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handle. Activities inside </a:t>
            </a:r>
            <a:r>
              <a:rPr sz="1350" spc="-15" dirty="0">
                <a:solidFill>
                  <a:srgbClr val="ECF0F1"/>
                </a:solidFill>
                <a:latin typeface="DejaVu Sans"/>
                <a:cs typeface="DejaVu Sans"/>
              </a:rPr>
              <a:t>execute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only on a match.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560640" y="10175681"/>
            <a:ext cx="511989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4" dirty="0">
                <a:solidFill>
                  <a:srgbClr val="ECF0F1"/>
                </a:solidFill>
                <a:latin typeface="DejaVu Sans"/>
                <a:cs typeface="DejaVu Sans"/>
              </a:rPr>
              <a:t>Routing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invoices by type: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'Purchase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Order', 'Credit Memo',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'Utility Bill'.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63339" y="10812347"/>
            <a:ext cx="213261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39C12"/>
                </a:solidFill>
                <a:latin typeface="DejaVu Sans"/>
                <a:cs typeface="DejaVu Sans"/>
              </a:rPr>
              <a:t>`Default`</a:t>
            </a:r>
            <a:r>
              <a:rPr sz="17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39C12"/>
                </a:solidFill>
                <a:latin typeface="DejaVu Sans"/>
                <a:cs typeface="DejaVu Sans"/>
              </a:rPr>
              <a:t>Option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560640" y="10812347"/>
            <a:ext cx="4609651" cy="800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39C12"/>
                </a:solidFill>
                <a:latin typeface="DejaVu Sans"/>
                <a:cs typeface="DejaVu Sans"/>
              </a:rPr>
              <a:t>Processing</a:t>
            </a:r>
            <a:r>
              <a:rPr sz="1700" b="1" spc="-10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700" b="1" dirty="0">
                <a:solidFill>
                  <a:srgbClr val="F39C12"/>
                </a:solidFill>
                <a:latin typeface="DejaVu Sans"/>
                <a:cs typeface="DejaVu Sans"/>
              </a:rPr>
              <a:t>File</a:t>
            </a:r>
            <a:r>
              <a:rPr sz="1700" b="1" spc="-1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39C12"/>
                </a:solidFill>
                <a:latin typeface="DejaVu Sans"/>
                <a:cs typeface="DejaVu Sans"/>
              </a:rPr>
              <a:t>Extensions</a:t>
            </a:r>
          </a:p>
          <a:p>
            <a:pPr marL="0" marR="0">
              <a:lnSpc>
                <a:spcPts val="1564"/>
              </a:lnSpc>
              <a:spcBef>
                <a:spcPts val="406"/>
              </a:spcBef>
              <a:spcAft>
                <a:spcPts val="0"/>
              </a:spcAft>
            </a:pPr>
            <a:r>
              <a:rPr sz="1350" spc="-15" dirty="0">
                <a:solidFill>
                  <a:srgbClr val="ECF0F1"/>
                </a:solidFill>
                <a:latin typeface="DejaVu Sans"/>
                <a:cs typeface="DejaVu Sans"/>
              </a:rPr>
              <a:t>Perform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actions on ﬁles based on extension: `.xlsx`,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`.pdf`, `.txt`.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63339" y="11118656"/>
            <a:ext cx="457386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An optional fallback path that </a:t>
            </a: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executes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 if no `Case`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branch matches the expression's value.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148953" y="12351712"/>
            <a:ext cx="7071794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5" dirty="0">
                <a:solidFill>
                  <a:srgbClr val="F39C12"/>
                </a:solidFill>
                <a:latin typeface="DejaVu Sans"/>
                <a:cs typeface="DejaVu Sans"/>
              </a:rPr>
              <a:t>When</a:t>
            </a:r>
            <a:r>
              <a:rPr sz="2500" b="1" dirty="0">
                <a:solidFill>
                  <a:srgbClr val="F39C12"/>
                </a:solidFill>
                <a:latin typeface="DejaVu Sans"/>
                <a:cs typeface="DejaVu Sans"/>
              </a:rPr>
              <a:t> to</a:t>
            </a:r>
            <a:r>
              <a:rPr sz="2500" b="1" spc="10" dirty="0">
                <a:solidFill>
                  <a:srgbClr val="F39C12"/>
                </a:solidFill>
                <a:latin typeface="DejaVu Sans"/>
                <a:cs typeface="DejaVu Sans"/>
              </a:rPr>
              <a:t> Prefer</a:t>
            </a:r>
            <a:r>
              <a:rPr sz="25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39C12"/>
                </a:solidFill>
                <a:latin typeface="DejaVu Sans"/>
                <a:cs typeface="DejaVu Sans"/>
              </a:rPr>
              <a:t>Switch</a:t>
            </a:r>
            <a:r>
              <a:rPr sz="25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F39C12"/>
                </a:solidFill>
                <a:latin typeface="DejaVu Sans"/>
                <a:cs typeface="DejaVu Sans"/>
              </a:rPr>
              <a:t>over</a:t>
            </a:r>
            <a:r>
              <a:rPr sz="25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F39C12"/>
                </a:solidFill>
                <a:latin typeface="DejaVu Sans"/>
                <a:cs typeface="DejaVu Sans"/>
              </a:rPr>
              <a:t>Nested</a:t>
            </a:r>
            <a:r>
              <a:rPr sz="2500" b="1" dirty="0">
                <a:solidFill>
                  <a:srgbClr val="F39C12"/>
                </a:solidFill>
                <a:latin typeface="DejaVu Sans"/>
                <a:cs typeface="DejaVu Sans"/>
              </a:rPr>
              <a:t> Ifs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934789" y="12918126"/>
            <a:ext cx="9105737" cy="1537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Use `Switch` for 3+ distinct, mutually exclusive</a:t>
            </a:r>
            <a:r>
              <a:rPr sz="150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conditions based on 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single variable.</a:t>
            </a:r>
          </a:p>
          <a:p>
            <a:pPr marL="0" marR="0">
              <a:lnSpc>
                <a:spcPts val="1760"/>
              </a:lnSpc>
              <a:spcBef>
                <a:spcPts val="1539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It is visually cleaner and far more</a:t>
            </a:r>
            <a:r>
              <a:rPr sz="1500" spc="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readable than long chains of `If-Else</a:t>
            </a:r>
            <a:r>
              <a:rPr sz="1500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If` statements.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Adding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or removing 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case is safer and simpler than modifying deeply nested `If` conditions.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Prevents</a:t>
            </a:r>
            <a:r>
              <a:rPr sz="150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the 'pyramid of doom' from</a:t>
            </a:r>
            <a:r>
              <a:rPr sz="1500" spc="2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excessive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nesting, leading to more</a:t>
            </a:r>
            <a:r>
              <a:rPr sz="1500" spc="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robust workﬂows.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74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62385" y="347141"/>
            <a:ext cx="9419628" cy="570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ECF0F1"/>
                </a:solidFill>
                <a:latin typeface="DejaVu Sans"/>
                <a:cs typeface="DejaVu Sans"/>
              </a:rPr>
              <a:t>Flowchart Decision and Flow Switch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54523" y="2687510"/>
            <a:ext cx="7092440" cy="370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sz="2250" b="1" dirty="0">
                <a:solidFill>
                  <a:srgbClr val="1ABC9C"/>
                </a:solidFill>
                <a:latin typeface="DejaVu Sans"/>
                <a:cs typeface="DejaVu Sans"/>
              </a:rPr>
              <a:t>Visualizing </a:t>
            </a:r>
            <a:r>
              <a:rPr sz="2250" b="1" spc="-10" dirty="0">
                <a:solidFill>
                  <a:srgbClr val="1ABC9C"/>
                </a:solidFill>
                <a:latin typeface="DejaVu Sans"/>
                <a:cs typeface="DejaVu Sans"/>
              </a:rPr>
              <a:t>Workﬂows:</a:t>
            </a:r>
            <a:r>
              <a:rPr sz="2250" b="1" spc="10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250" b="1" dirty="0">
                <a:solidFill>
                  <a:srgbClr val="1ABC9C"/>
                </a:solidFill>
                <a:latin typeface="DejaVu Sans"/>
                <a:cs typeface="DejaVu Sans"/>
              </a:rPr>
              <a:t>Flowchart Activities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25612" y="3155556"/>
            <a:ext cx="9693072" cy="1037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Flowcharts in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UiPath</a:t>
            </a:r>
            <a:r>
              <a:rPr sz="135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oﬀer a powerful, visual, and diagrammatic approach to designing automation, particularly</a:t>
            </a:r>
          </a:p>
          <a:p>
            <a:pPr marL="108793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suited for processes with complex decision points and non-linear logic. </a:t>
            </a:r>
            <a:r>
              <a:rPr sz="1350" spc="-10" dirty="0">
                <a:solidFill>
                  <a:srgbClr val="ECF0F1"/>
                </a:solidFill>
                <a:latin typeface="DejaVu Sans"/>
                <a:cs typeface="DejaVu Sans"/>
              </a:rPr>
              <a:t>Unlike</a:t>
            </a:r>
            <a:r>
              <a:rPr sz="135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Sequences, Flowcharts enable</a:t>
            </a:r>
          </a:p>
          <a:p>
            <a:pPr marL="387548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readable, interconnected activities and decision points represented graphically, enhancing clarity and</a:t>
            </a:r>
          </a:p>
          <a:p>
            <a:pPr marL="4114055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maintainability.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8699" y="4740808"/>
            <a:ext cx="4316536" cy="304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ABC9C"/>
                </a:solidFill>
                <a:latin typeface="DejaVu Sans"/>
                <a:cs typeface="DejaVu Sans"/>
              </a:rPr>
              <a:t>Flow Decision: Binary Branching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96099" y="4740808"/>
            <a:ext cx="4481847" cy="304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ABC9C"/>
                </a:solidFill>
                <a:latin typeface="DejaVu Sans"/>
                <a:cs typeface="DejaVu Sans"/>
              </a:rPr>
              <a:t>Flow Switch: Multi-Path Selection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71499" y="5212956"/>
            <a:ext cx="4993601" cy="771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</a:t>
            </a:r>
            <a:r>
              <a:rPr sz="1350" b="1" dirty="0">
                <a:solidFill>
                  <a:srgbClr val="1ABC9C"/>
                </a:solidFill>
                <a:latin typeface="DejaVu Sans"/>
                <a:cs typeface="DejaVu Sans"/>
              </a:rPr>
              <a:t>Flow Decision</a:t>
            </a:r>
            <a:r>
              <a:rPr sz="1350" b="1" spc="-40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activity is an essential component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within Flowcharts designed to handle binary </a:t>
            </a:r>
            <a:r>
              <a:rPr sz="1350" spc="-27" dirty="0">
                <a:solidFill>
                  <a:srgbClr val="ECF0F1"/>
                </a:solidFill>
                <a:latin typeface="DejaVu Sans"/>
                <a:cs typeface="DejaVu Sans"/>
              </a:rPr>
              <a:t>(True/False)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conditional logic.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8899" y="5212956"/>
            <a:ext cx="5316158" cy="771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</a:t>
            </a:r>
            <a:r>
              <a:rPr sz="1350" b="1" dirty="0">
                <a:solidFill>
                  <a:srgbClr val="1ABC9C"/>
                </a:solidFill>
                <a:latin typeface="DejaVu Sans"/>
                <a:cs typeface="DejaVu Sans"/>
              </a:rPr>
              <a:t>Flow Switch</a:t>
            </a:r>
            <a:r>
              <a:rPr sz="1350" b="1" spc="-40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is the Flowchart equivalent of the Switch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activity, enabling a workﬂow to branch into multiple distinct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execution paths.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71499" y="6089256"/>
            <a:ext cx="5113017" cy="771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It </a:t>
            </a:r>
            <a:r>
              <a:rPr sz="1350" spc="-11" dirty="0">
                <a:solidFill>
                  <a:srgbClr val="ECF0F1"/>
                </a:solidFill>
                <a:latin typeface="DejaVu Sans"/>
                <a:cs typeface="DejaVu Sans"/>
              </a:rPr>
              <a:t>takes</a:t>
            </a:r>
            <a:r>
              <a:rPr sz="135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 </a:t>
            </a: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Condition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(a Boolean expression) and provides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two distinct output branches: a </a:t>
            </a:r>
            <a:r>
              <a:rPr sz="1350" b="1" spc="-37" dirty="0">
                <a:solidFill>
                  <a:srgbClr val="4ADE80"/>
                </a:solidFill>
                <a:latin typeface="DejaVu Sans"/>
                <a:cs typeface="DejaVu Sans"/>
              </a:rPr>
              <a:t>True</a:t>
            </a:r>
            <a:r>
              <a:rPr sz="1350" b="1" spc="128" dirty="0">
                <a:solidFill>
                  <a:srgbClr val="4ADE8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branch and a </a:t>
            </a:r>
            <a:r>
              <a:rPr sz="1350" b="1" spc="-20" dirty="0">
                <a:solidFill>
                  <a:srgbClr val="F87171"/>
                </a:solidFill>
                <a:latin typeface="DejaVu Sans"/>
                <a:cs typeface="DejaVu Sans"/>
              </a:rPr>
              <a:t>False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branch.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38899" y="6089256"/>
            <a:ext cx="5250609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It evaluates an expression and directs the ﬂow to a speciﬁc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38899" y="6355956"/>
            <a:ext cx="4485893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Case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branch that matches the expression's value.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38899" y="6698856"/>
            <a:ext cx="5299378" cy="771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An optional </a:t>
            </a: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Default</a:t>
            </a:r>
            <a:r>
              <a:rPr sz="1350" b="1" spc="-4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branch is available to handle scenarios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where the value does not match any deﬁned cases,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ensuring robust </a:t>
            </a:r>
            <a:r>
              <a:rPr sz="1350" spc="-12" dirty="0">
                <a:solidFill>
                  <a:srgbClr val="ECF0F1"/>
                </a:solidFill>
                <a:latin typeface="DejaVu Sans"/>
                <a:cs typeface="DejaVu Sans"/>
              </a:rPr>
              <a:t>error</a:t>
            </a:r>
            <a:r>
              <a:rPr sz="1350" spc="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handling.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71499" y="6965556"/>
            <a:ext cx="5082926" cy="771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This activity visually represents a clear fork in the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automation path, directing the workﬂow down one of two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speciﬁc sequences based on the evaluation.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786335" y="8360308"/>
            <a:ext cx="5228926" cy="304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39C12"/>
                </a:solidFill>
                <a:latin typeface="DejaVu Sans"/>
                <a:cs typeface="DejaVu Sans"/>
              </a:rPr>
              <a:t>Why Flowcharts Excel in Complex Logic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38199" y="8832456"/>
            <a:ext cx="4341650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17" dirty="0">
                <a:solidFill>
                  <a:srgbClr val="ECF0F1"/>
                </a:solidFill>
                <a:latin typeface="DejaVu Sans"/>
                <a:cs typeface="DejaVu Sans"/>
              </a:rPr>
              <a:t>Enhanced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Provides a bird's-eye view of complex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553199" y="8832456"/>
            <a:ext cx="4900389" cy="1113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Improved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Maintainability:</a:t>
            </a:r>
            <a:r>
              <a:rPr sz="1350" b="1" spc="63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debugging and modiﬁcations.</a:t>
            </a:r>
          </a:p>
          <a:p>
            <a:pPr marL="0" marR="0">
              <a:lnSpc>
                <a:spcPts val="1571"/>
              </a:lnSpc>
              <a:spcBef>
                <a:spcPts val="1128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Flexible</a:t>
            </a:r>
            <a:r>
              <a:rPr sz="1350" b="1" spc="409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Natively supports complex patterns </a:t>
            </a:r>
            <a:r>
              <a:rPr sz="1350" spc="-15" dirty="0">
                <a:solidFill>
                  <a:srgbClr val="ECF0F1"/>
                </a:solidFill>
                <a:latin typeface="DejaVu Sans"/>
                <a:cs typeface="DejaVu Sans"/>
              </a:rPr>
              <a:t>like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Control Flow:</a:t>
            </a:r>
            <a:r>
              <a:rPr sz="1350" b="1" spc="-8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parallel execution and loops.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15460" y="8832456"/>
            <a:ext cx="2723480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The visual structure simpliﬁes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38199" y="9099156"/>
            <a:ext cx="5215644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Clarity:</a:t>
            </a:r>
            <a:r>
              <a:rPr sz="1350" b="1" spc="1506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processes, making intricate logic easy to </a:t>
            </a:r>
            <a:r>
              <a:rPr sz="1350" spc="-20" dirty="0">
                <a:solidFill>
                  <a:srgbClr val="ECF0F1"/>
                </a:solidFill>
                <a:latin typeface="DejaVu Sans"/>
                <a:cs typeface="DejaVu Sans"/>
              </a:rPr>
              <a:t>follow.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38199" y="9442056"/>
            <a:ext cx="737908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Direct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70224" y="9442056"/>
            <a:ext cx="3421502" cy="504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Aligns naturally with business process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dirty="0">
                <a:solidFill>
                  <a:srgbClr val="ECF0F1"/>
                </a:solidFill>
                <a:latin typeface="DejaVu Sans"/>
                <a:cs typeface="DejaVu Sans"/>
              </a:rPr>
              <a:t>diagrams, improving collaboration.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38199" y="9708756"/>
            <a:ext cx="1056279" cy="504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Business</a:t>
            </a:r>
          </a:p>
          <a:p>
            <a:pPr marL="0" marR="0">
              <a:lnSpc>
                <a:spcPts val="1571"/>
              </a:lnSpc>
              <a:spcBef>
                <a:spcPts val="528"/>
              </a:spcBef>
              <a:spcAft>
                <a:spcPts val="0"/>
              </a:spcAft>
            </a:pPr>
            <a:r>
              <a:rPr sz="1350" b="1" dirty="0">
                <a:solidFill>
                  <a:srgbClr val="ECF0F1"/>
                </a:solidFill>
                <a:latin typeface="DejaVu Sans"/>
                <a:cs typeface="DejaVu Sans"/>
              </a:rPr>
              <a:t>Mapping: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4620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443" y="334315"/>
            <a:ext cx="11339523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ECF0F1"/>
                </a:solidFill>
                <a:latin typeface="DejaVu Sans"/>
                <a:cs typeface="DejaVu Sans"/>
              </a:rPr>
              <a:t>Best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Practices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ECF0F1"/>
                </a:solidFill>
                <a:latin typeface="DejaVu Sans"/>
                <a:cs typeface="DejaVu Sans"/>
              </a:rPr>
              <a:t>Loops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4050" b="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ECF0F1"/>
                </a:solidFill>
                <a:latin typeface="DejaVu Sans"/>
                <a:cs typeface="DejaVu Sans"/>
              </a:rPr>
              <a:t>Decisions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2046" y="2449904"/>
            <a:ext cx="9600068" cy="886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1" dirty="0">
                <a:solidFill>
                  <a:srgbClr val="ECF0F1"/>
                </a:solidFill>
                <a:latin typeface="DejaVu Sans"/>
                <a:cs typeface="DejaVu Sans"/>
              </a:rPr>
              <a:t>Implementing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8" dirty="0">
                <a:solidFill>
                  <a:srgbClr val="ECF0F1"/>
                </a:solidFill>
                <a:latin typeface="DejaVu Sans"/>
                <a:cs typeface="DejaVu Sans"/>
              </a:rPr>
              <a:t>robust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eﬃcient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CF0F1"/>
                </a:solidFill>
                <a:latin typeface="DejaVu Sans"/>
                <a:cs typeface="DejaVu Sans"/>
              </a:rPr>
              <a:t>automation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workﬂows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20" dirty="0">
                <a:solidFill>
                  <a:srgbClr val="ECF0F1"/>
                </a:solidFill>
                <a:latin typeface="DejaVu Sans"/>
                <a:cs typeface="DejaVu Sans"/>
              </a:rPr>
              <a:t>requires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ECF0F1"/>
                </a:solidFill>
                <a:latin typeface="DejaVu Sans"/>
                <a:cs typeface="DejaVu Sans"/>
              </a:rPr>
              <a:t>adherence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to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41" dirty="0">
                <a:solidFill>
                  <a:srgbClr val="ECF0F1"/>
                </a:solidFill>
                <a:latin typeface="DejaVu Sans"/>
                <a:cs typeface="DejaVu Sans"/>
              </a:rPr>
              <a:t>key</a:t>
            </a:r>
            <a:r>
              <a:rPr sz="1700" spc="2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CF0F1"/>
                </a:solidFill>
                <a:latin typeface="DejaVu Sans"/>
                <a:cs typeface="DejaVu Sans"/>
              </a:rPr>
              <a:t>best</a:t>
            </a:r>
          </a:p>
          <a:p>
            <a:pPr marL="688032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practices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4" dirty="0">
                <a:solidFill>
                  <a:srgbClr val="ECF0F1"/>
                </a:solidFill>
                <a:latin typeface="DejaVu Sans"/>
                <a:cs typeface="DejaVu Sans"/>
              </a:rPr>
              <a:t>when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designing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loops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decision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logic.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CF0F1"/>
                </a:solidFill>
                <a:latin typeface="DejaVu Sans"/>
                <a:cs typeface="DejaVu Sans"/>
              </a:rPr>
              <a:t>These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guidelines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8" dirty="0">
                <a:solidFill>
                  <a:srgbClr val="ECF0F1"/>
                </a:solidFill>
                <a:latin typeface="DejaVu Sans"/>
                <a:cs typeface="DejaVu Sans"/>
              </a:rPr>
              <a:t>ensure</a:t>
            </a:r>
          </a:p>
          <a:p>
            <a:pPr marL="1909017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0" dirty="0">
                <a:solidFill>
                  <a:srgbClr val="ECF0F1"/>
                </a:solidFill>
                <a:latin typeface="DejaVu Sans"/>
                <a:cs typeface="DejaVu Sans"/>
              </a:rPr>
              <a:t>maintainability,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CF0F1"/>
                </a:solidFill>
                <a:latin typeface="DejaVu Sans"/>
                <a:cs typeface="DejaVu Sans"/>
              </a:rPr>
              <a:t>reliability,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ECF0F1"/>
                </a:solidFill>
                <a:latin typeface="DejaVu Sans"/>
                <a:cs typeface="DejaVu Sans"/>
              </a:rPr>
              <a:t>and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ECF0F1"/>
                </a:solidFill>
                <a:latin typeface="DejaVu Sans"/>
                <a:cs typeface="DejaVu Sans"/>
              </a:rPr>
              <a:t>optimal</a:t>
            </a:r>
            <a:r>
              <a:rPr sz="170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ECF0F1"/>
                </a:solidFill>
                <a:latin typeface="DejaVu Sans"/>
                <a:cs typeface="DejaVu Sans"/>
              </a:rPr>
              <a:t>performance.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60549" y="3810470"/>
            <a:ext cx="401806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Ensuring </a:t>
            </a: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Loop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000" b="1" spc="-15" dirty="0">
                <a:solidFill>
                  <a:srgbClr val="1ABC9C"/>
                </a:solidFill>
                <a:latin typeface="DejaVu Sans"/>
                <a:cs typeface="DejaVu Sans"/>
              </a:rPr>
              <a:t>Termination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03540" y="3810470"/>
            <a:ext cx="440279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Handling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Exceptions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 in</a:t>
            </a: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 Loops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835" y="4298508"/>
            <a:ext cx="5022121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Avoid</a:t>
            </a:r>
            <a:r>
              <a:rPr sz="1500" b="1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Inﬁnite Loops:</a:t>
            </a:r>
            <a:r>
              <a:rPr sz="150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Design all loops with clear,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veriﬁable exit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conditions to prevent halting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automation or consuming excessive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resources.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79827" y="4298508"/>
            <a:ext cx="5302251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Utilize </a:t>
            </a:r>
            <a:r>
              <a:rPr sz="1500" b="1" spc="-37" dirty="0">
                <a:solidFill>
                  <a:srgbClr val="ECF0F1"/>
                </a:solidFill>
                <a:latin typeface="DejaVu Sans"/>
                <a:cs typeface="DejaVu Sans"/>
              </a:rPr>
              <a:t>`Try</a:t>
            </a:r>
            <a:r>
              <a:rPr sz="1500" b="1" spc="4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Catch` Blocks:</a:t>
            </a:r>
            <a:r>
              <a:rPr sz="150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spc="-15" dirty="0">
                <a:solidFill>
                  <a:srgbClr val="ECF0F1"/>
                </a:solidFill>
                <a:latin typeface="DejaVu Sans"/>
                <a:cs typeface="DejaVu Sans"/>
              </a:rPr>
              <a:t>Wrap</a:t>
            </a:r>
            <a:r>
              <a:rPr sz="1500" spc="25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volatile activities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inside loops with </a:t>
            </a:r>
            <a:r>
              <a:rPr sz="1500" spc="-50" dirty="0">
                <a:solidFill>
                  <a:srgbClr val="ECF0F1"/>
                </a:solidFill>
                <a:latin typeface="DejaVu Sans"/>
                <a:cs typeface="DejaVu Sans"/>
              </a:rPr>
              <a:t>`Try</a:t>
            </a:r>
            <a:r>
              <a:rPr sz="1500" spc="6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Catch` to prevent 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single error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from</a:t>
            </a:r>
            <a:r>
              <a:rPr sz="1500" spc="2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crashing the entire</a:t>
            </a:r>
            <a:r>
              <a:rPr sz="150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process.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6835" y="5279583"/>
            <a:ext cx="5137721" cy="11569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Implement Counters &amp;</a:t>
            </a:r>
            <a:r>
              <a:rPr sz="1500" b="1" spc="1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Timeouts:</a:t>
            </a:r>
            <a:r>
              <a:rPr sz="150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Use 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counter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and max iteration limit for `While` loops. Apply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explicit timeouts for UI interactions to prevent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indeﬁnite waiting.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79827" y="5279583"/>
            <a:ext cx="5193981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Granular Error Logging:</a:t>
            </a:r>
            <a:r>
              <a:rPr sz="150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Implement detailed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logging in the `Catch` block to record</a:t>
            </a:r>
            <a:r>
              <a:rPr sz="1500" spc="1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speciﬁc errors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and data context for eﬀective debugging.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9827" y="6260658"/>
            <a:ext cx="5068733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Deﬁne Recovery Strategies:</a:t>
            </a:r>
            <a:r>
              <a:rPr sz="150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Determine the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process for errors:</a:t>
            </a:r>
            <a:r>
              <a:rPr sz="150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skip item, retry, notify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human,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or gracefully exit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the loop.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835" y="6555933"/>
            <a:ext cx="5288958" cy="86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State Change Conditions:</a:t>
            </a:r>
            <a:r>
              <a:rPr sz="150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Ensure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variables driving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the loop </a:t>
            </a:r>
            <a:r>
              <a:rPr sz="1500" spc="-10" dirty="0">
                <a:solidFill>
                  <a:srgbClr val="ECF0F1"/>
                </a:solidFill>
                <a:latin typeface="DejaVu Sans"/>
                <a:cs typeface="DejaVu Sans"/>
              </a:rPr>
              <a:t>are</a:t>
            </a:r>
            <a:r>
              <a:rPr sz="1500" spc="2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modiﬁed within its body to guarantee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the termination condition is eventually met.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60549" y="8077670"/>
            <a:ext cx="403281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Clear &amp;</a:t>
            </a:r>
            <a:r>
              <a:rPr sz="2000" b="1" spc="18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Maintainable Logic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03540" y="8077670"/>
            <a:ext cx="383582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1ABC9C"/>
                </a:solidFill>
                <a:latin typeface="DejaVu Sans"/>
                <a:cs typeface="DejaVu Sans"/>
              </a:rPr>
              <a:t>Annotations</a:t>
            </a:r>
            <a:r>
              <a:rPr sz="2000" b="1" dirty="0">
                <a:solidFill>
                  <a:srgbClr val="1ABC9C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rgbClr val="1ABC9C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1ABC9C"/>
                </a:solidFill>
                <a:latin typeface="DejaVu Sans"/>
                <a:cs typeface="DejaVu Sans"/>
              </a:rPr>
              <a:t>Comments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6835" y="8565708"/>
            <a:ext cx="5184044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Prefer `Switch` over Nested `If`s:</a:t>
            </a:r>
            <a:r>
              <a:rPr sz="1500" b="1" spc="-4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spc="-20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500" spc="2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multiple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outcomes from</a:t>
            </a:r>
            <a:r>
              <a:rPr sz="1500" spc="2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single variable, `Switch` is cleaner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than deeply nested `If-Else</a:t>
            </a:r>
            <a:r>
              <a:rPr sz="1500" spc="1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If` chains.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79827" y="8565708"/>
            <a:ext cx="5169898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Document Thoroughly:</a:t>
            </a:r>
            <a:r>
              <a:rPr sz="150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Use `Annotation` to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explain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the purpose of activities, complex logic, and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business rules.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6835" y="9546783"/>
            <a:ext cx="5179274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Leverage Flowcharts:</a:t>
            </a:r>
            <a:r>
              <a:rPr sz="150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spc="-20" dirty="0">
                <a:solidFill>
                  <a:srgbClr val="ECF0F1"/>
                </a:solidFill>
                <a:latin typeface="DejaVu Sans"/>
                <a:cs typeface="DejaVu Sans"/>
              </a:rPr>
              <a:t>For</a:t>
            </a:r>
            <a:r>
              <a:rPr sz="1500" spc="28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complex decision trees,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`Flowcharts` oﬀer superior visual clarity and easier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management of branching logic.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79827" y="9546783"/>
            <a:ext cx="4953934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Descriptive Naming:</a:t>
            </a:r>
            <a:r>
              <a:rPr sz="1500" b="1" spc="-4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Give meaningful names to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activities, variables, and workﬂows to improve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spc="-15" dirty="0">
                <a:solidFill>
                  <a:srgbClr val="ECF0F1"/>
                </a:solidFill>
                <a:latin typeface="DejaVu Sans"/>
                <a:cs typeface="DejaVu Sans"/>
              </a:rPr>
              <a:t>readability.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6835" y="10527858"/>
            <a:ext cx="4747952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Keep</a:t>
            </a:r>
            <a:r>
              <a:rPr sz="1500" b="1" spc="12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Conditions Concise:</a:t>
            </a:r>
            <a:r>
              <a:rPr sz="1500" b="1" spc="-4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spc="-10" dirty="0">
                <a:solidFill>
                  <a:srgbClr val="ECF0F1"/>
                </a:solidFill>
                <a:latin typeface="DejaVu Sans"/>
                <a:cs typeface="DejaVu Sans"/>
              </a:rPr>
              <a:t>Write</a:t>
            </a:r>
            <a:r>
              <a:rPr sz="1500" spc="2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clear,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unambiguous Boolean expressions. Break</a:t>
            </a:r>
            <a:r>
              <a:rPr sz="1500" spc="1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down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complex conditions into simpler decisions.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79827" y="10527858"/>
            <a:ext cx="5164262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Explain </a:t>
            </a:r>
            <a:r>
              <a:rPr sz="1500" b="1" spc="-21" dirty="0">
                <a:solidFill>
                  <a:srgbClr val="ECF0F1"/>
                </a:solidFill>
                <a:latin typeface="DejaVu Sans"/>
                <a:cs typeface="DejaVu Sans"/>
              </a:rPr>
              <a:t>Why,</a:t>
            </a:r>
            <a:r>
              <a:rPr sz="1500" b="1" spc="31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ECF0F1"/>
                </a:solidFill>
                <a:latin typeface="DejaVu Sans"/>
                <a:cs typeface="DejaVu Sans"/>
              </a:rPr>
              <a:t>Not Just What:</a:t>
            </a:r>
            <a:r>
              <a:rPr sz="1500" b="1" spc="-44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Comments should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focus on why a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structure was chosen, its context, or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non-obvious implications.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60549" y="11961694"/>
            <a:ext cx="6793502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solidFill>
                  <a:srgbClr val="F39C12"/>
                </a:solidFill>
                <a:latin typeface="DejaVu Sans"/>
                <a:cs typeface="DejaVu Sans"/>
              </a:rPr>
              <a:t>Critical: </a:t>
            </a:r>
            <a:r>
              <a:rPr sz="2500" b="1" spc="11" dirty="0">
                <a:solidFill>
                  <a:srgbClr val="F39C12"/>
                </a:solidFill>
                <a:latin typeface="DejaVu Sans"/>
                <a:cs typeface="DejaVu Sans"/>
              </a:rPr>
              <a:t>Performance</a:t>
            </a:r>
            <a:r>
              <a:rPr sz="2500" b="1" dirty="0">
                <a:solidFill>
                  <a:srgbClr val="F39C12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39C12"/>
                </a:solidFill>
                <a:latin typeface="DejaVu Sans"/>
                <a:cs typeface="DejaVu Sans"/>
              </a:rPr>
              <a:t>Considerations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1556" y="12528108"/>
            <a:ext cx="4623074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•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Minimize activities inside high-volume loops.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223991" y="12528108"/>
            <a:ext cx="5446057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•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Cache static or infrequently changing data outside of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223991" y="12823383"/>
            <a:ext cx="723690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loops.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51556" y="13166284"/>
            <a:ext cx="4818729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•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Optimize UI interactions; prioritize background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automation.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223991" y="13166284"/>
            <a:ext cx="5310590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•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Choose eﬃcient data structures (e.g., </a:t>
            </a:r>
            <a:r>
              <a:rPr sz="1500" spc="-21" dirty="0">
                <a:solidFill>
                  <a:srgbClr val="ECF0F1"/>
                </a:solidFill>
                <a:latin typeface="DejaVu Sans"/>
                <a:cs typeface="DejaVu Sans"/>
              </a:rPr>
              <a:t>DataTable</a:t>
            </a:r>
            <a:r>
              <a:rPr sz="1500" spc="33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vs.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List).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51556" y="13804459"/>
            <a:ext cx="485358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•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spc="-15" dirty="0">
                <a:solidFill>
                  <a:srgbClr val="ECF0F1"/>
                </a:solidFill>
                <a:latin typeface="DejaVu Sans"/>
                <a:cs typeface="DejaVu Sans"/>
              </a:rPr>
              <a:t>Avoid</a:t>
            </a:r>
            <a:r>
              <a:rPr sz="1500" spc="27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excessive</a:t>
            </a:r>
            <a:r>
              <a:rPr sz="1500" spc="10" dirty="0">
                <a:solidFill>
                  <a:srgbClr val="ECF0F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CF0F1"/>
                </a:solidFill>
                <a:latin typeface="DejaVu Sans"/>
                <a:cs typeface="DejaVu Sans"/>
              </a:rPr>
              <a:t>`Delay` activities within loops.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2732</Words>
  <Application>Microsoft Office PowerPoint</Application>
  <PresentationFormat>Widescreen</PresentationFormat>
  <Paragraphs>408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Calibri</vt:lpstr>
      <vt:lpstr>Liberation Mono</vt:lpstr>
      <vt:lpstr>DejaVu Sans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R Sarath Babu</cp:lastModifiedBy>
  <cp:revision>5</cp:revision>
  <dcterms:modified xsi:type="dcterms:W3CDTF">2025-08-27T09:26:27Z</dcterms:modified>
</cp:coreProperties>
</file>